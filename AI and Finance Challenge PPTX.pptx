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 (MS)" panose="020F0502020204030204" pitchFamily="34" charset="0"/>
      <p:regular r:id="rId15"/>
    </p:embeddedFont>
    <p:embeddedFont>
      <p:font typeface="Calibri (MS) Bold" panose="020F0702030404030204" pitchFamily="34" charset="0"/>
      <p:regular r:id="rId16"/>
      <p:bold r:id="rId17"/>
    </p:embeddedFont>
    <p:embeddedFont>
      <p:font typeface="Calibri (MS) Italics" panose="020F05020202040A0204" pitchFamily="34" charset="0"/>
      <p:regular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915" autoAdjust="0"/>
    <p:restoredTop sz="94582" autoAdjust="0"/>
  </p:normalViewPr>
  <p:slideViewPr>
    <p:cSldViewPr>
      <p:cViewPr varScale="1">
        <p:scale>
          <a:sx n="80" d="100"/>
          <a:sy n="80" d="100"/>
        </p:scale>
        <p:origin x="117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9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10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22" y="-22222"/>
            <a:ext cx="263938" cy="10331482"/>
            <a:chOff x="0" y="0"/>
            <a:chExt cx="351917" cy="13775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17" cy="13775310"/>
            </a:xfrm>
            <a:custGeom>
              <a:avLst/>
              <a:gdLst/>
              <a:ahLst/>
              <a:cxnLst/>
              <a:rect l="l" t="t" r="r" b="b"/>
              <a:pathLst>
                <a:path w="351917" h="13775310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1463040"/>
            <a:ext cx="16459200" cy="1554480"/>
            <a:chOff x="0" y="0"/>
            <a:chExt cx="21945600" cy="2072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072640"/>
            </a:xfrm>
            <a:custGeom>
              <a:avLst/>
              <a:gdLst/>
              <a:ahLst/>
              <a:cxnLst/>
              <a:rect l="l" t="t" r="r" b="b"/>
              <a:pathLst>
                <a:path w="21945600" h="207264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168" b="-156169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1341596"/>
            <a:ext cx="16459200" cy="1675924"/>
            <a:chOff x="0" y="0"/>
            <a:chExt cx="21945600" cy="22345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234565"/>
            </a:xfrm>
            <a:custGeom>
              <a:avLst/>
              <a:gdLst/>
              <a:ahLst/>
              <a:cxnLst/>
              <a:rect l="l" t="t" r="r" b="b"/>
              <a:pathLst>
                <a:path w="21945600" h="2234565">
                  <a:moveTo>
                    <a:pt x="0" y="0"/>
                  </a:moveTo>
                  <a:lnTo>
                    <a:pt x="21945600" y="0"/>
                  </a:lnTo>
                  <a:lnTo>
                    <a:pt x="21945600" y="2234565"/>
                  </a:lnTo>
                  <a:lnTo>
                    <a:pt x="0" y="22345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1362" b="-14136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61925"/>
              <a:ext cx="21945600" cy="2396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8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Corporate Bankruptcy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2926080"/>
            <a:ext cx="16459200" cy="1554480"/>
            <a:chOff x="0" y="0"/>
            <a:chExt cx="21945600" cy="2072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2072640"/>
            </a:xfrm>
            <a:custGeom>
              <a:avLst/>
              <a:gdLst/>
              <a:ahLst/>
              <a:cxnLst/>
              <a:rect l="l" t="t" r="r" b="b"/>
              <a:pathLst>
                <a:path w="21945600" h="207264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168" b="-156169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2804636"/>
            <a:ext cx="16459200" cy="1675924"/>
            <a:chOff x="0" y="0"/>
            <a:chExt cx="21945600" cy="22345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2234565"/>
            </a:xfrm>
            <a:custGeom>
              <a:avLst/>
              <a:gdLst/>
              <a:ahLst/>
              <a:cxnLst/>
              <a:rect l="l" t="t" r="r" b="b"/>
              <a:pathLst>
                <a:path w="21945600" h="2234565">
                  <a:moveTo>
                    <a:pt x="0" y="0"/>
                  </a:moveTo>
                  <a:lnTo>
                    <a:pt x="21945600" y="0"/>
                  </a:lnTo>
                  <a:lnTo>
                    <a:pt x="21945600" y="2234565"/>
                  </a:lnTo>
                  <a:lnTo>
                    <a:pt x="0" y="22345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1362" b="-14136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61925"/>
              <a:ext cx="21945600" cy="2396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840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 Challenge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2178" y="4824098"/>
            <a:ext cx="6445282" cy="117634"/>
            <a:chOff x="0" y="0"/>
            <a:chExt cx="8593709" cy="1568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593709" cy="156845"/>
            </a:xfrm>
            <a:custGeom>
              <a:avLst/>
              <a:gdLst/>
              <a:ahLst/>
              <a:cxnLst/>
              <a:rect l="l" t="t" r="r" b="b"/>
              <a:pathLst>
                <a:path w="8593709" h="156845">
                  <a:moveTo>
                    <a:pt x="0" y="0"/>
                  </a:moveTo>
                  <a:lnTo>
                    <a:pt x="8593709" y="0"/>
                  </a:lnTo>
                  <a:lnTo>
                    <a:pt x="8593709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5212080"/>
            <a:ext cx="16459200" cy="640080"/>
            <a:chOff x="0" y="0"/>
            <a:chExt cx="21945600" cy="8534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694" b="-45069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4991100"/>
            <a:ext cx="16459200" cy="668655"/>
            <a:chOff x="0" y="0"/>
            <a:chExt cx="21945600" cy="8915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45600" cy="891540"/>
            </a:xfrm>
            <a:custGeom>
              <a:avLst/>
              <a:gdLst/>
              <a:ahLst/>
              <a:cxnLst/>
              <a:rect l="l" t="t" r="r" b="b"/>
              <a:pathLst>
                <a:path w="21945600" h="891540">
                  <a:moveTo>
                    <a:pt x="0" y="0"/>
                  </a:moveTo>
                  <a:lnTo>
                    <a:pt x="21945600" y="0"/>
                  </a:lnTo>
                  <a:lnTo>
                    <a:pt x="219456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9631" b="-42963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94560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International AI &amp; Finance Project  |  University of Padova × Vilnius University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" y="5852160"/>
            <a:ext cx="16459200" cy="548640"/>
            <a:chOff x="0" y="0"/>
            <a:chExt cx="2194560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4" b="-53414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" y="5372100"/>
            <a:ext cx="16459200" cy="620078"/>
            <a:chOff x="0" y="-47625"/>
            <a:chExt cx="21945600" cy="826770"/>
          </a:xfrm>
        </p:grpSpPr>
        <p:sp>
          <p:nvSpPr>
            <p:cNvPr id="24" name="Freeform 24"/>
            <p:cNvSpPr/>
            <p:nvPr/>
          </p:nvSpPr>
          <p:spPr>
            <a:xfrm>
              <a:off x="0" y="-31115"/>
              <a:ext cx="21945600" cy="779145"/>
            </a:xfrm>
            <a:custGeom>
              <a:avLst/>
              <a:gdLst/>
              <a:ahLst/>
              <a:cxnLst/>
              <a:rect l="l" t="t" r="r" b="b"/>
              <a:pathLst>
                <a:path w="21945600" h="779145">
                  <a:moveTo>
                    <a:pt x="0" y="0"/>
                  </a:moveTo>
                  <a:lnTo>
                    <a:pt x="21945600" y="0"/>
                  </a:lnTo>
                  <a:lnTo>
                    <a:pt x="219456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8820" b="-49882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2194560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8BA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Academic Year 2025/2026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" y="8046720"/>
            <a:ext cx="3657600" cy="1005840"/>
            <a:chOff x="0" y="0"/>
            <a:chExt cx="4876800" cy="1341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76800" cy="1341120"/>
            </a:xfrm>
            <a:custGeom>
              <a:avLst/>
              <a:gdLst/>
              <a:ahLst/>
              <a:cxnLst/>
              <a:rect l="l" t="t" r="r" b="b"/>
              <a:pathLst>
                <a:path w="4876800" h="134112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05" b="-2080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7968139"/>
            <a:ext cx="3657600" cy="1084421"/>
            <a:chOff x="0" y="0"/>
            <a:chExt cx="4876800" cy="144589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76800" cy="1445895"/>
            </a:xfrm>
            <a:custGeom>
              <a:avLst/>
              <a:gdLst/>
              <a:ahLst/>
              <a:cxnLst/>
              <a:rect l="l" t="t" r="r" b="b"/>
              <a:pathLst>
                <a:path w="4876800" h="1445895">
                  <a:moveTo>
                    <a:pt x="0" y="0"/>
                  </a:moveTo>
                  <a:lnTo>
                    <a:pt x="4876800" y="0"/>
                  </a:lnTo>
                  <a:lnTo>
                    <a:pt x="4876800" y="1445895"/>
                  </a:lnTo>
                  <a:lnTo>
                    <a:pt x="0" y="14458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20" b="-1572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04775"/>
              <a:ext cx="4876800" cy="1550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1,780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" y="8961120"/>
            <a:ext cx="3657600" cy="548640"/>
            <a:chOff x="0" y="0"/>
            <a:chExt cx="4876800" cy="7315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810" b="-79809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14400" y="8932545"/>
            <a:ext cx="3657600" cy="577215"/>
            <a:chOff x="0" y="0"/>
            <a:chExt cx="4876800" cy="7696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76800" cy="769620"/>
            </a:xfrm>
            <a:custGeom>
              <a:avLst/>
              <a:gdLst/>
              <a:ahLst/>
              <a:cxnLst/>
              <a:rect l="l" t="t" r="r" b="b"/>
              <a:pathLst>
                <a:path w="4876800" h="769620">
                  <a:moveTo>
                    <a:pt x="0" y="0"/>
                  </a:moveTo>
                  <a:lnTo>
                    <a:pt x="4876800" y="0"/>
                  </a:lnTo>
                  <a:lnTo>
                    <a:pt x="48768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469" b="-7346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87680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8BA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firms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120640" y="8046720"/>
            <a:ext cx="3657600" cy="1005840"/>
            <a:chOff x="0" y="0"/>
            <a:chExt cx="4876800" cy="13411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876800" cy="1341120"/>
            </a:xfrm>
            <a:custGeom>
              <a:avLst/>
              <a:gdLst/>
              <a:ahLst/>
              <a:cxnLst/>
              <a:rect l="l" t="t" r="r" b="b"/>
              <a:pathLst>
                <a:path w="4876800" h="134112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05" b="-2080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120640" y="7968139"/>
            <a:ext cx="3657600" cy="1084421"/>
            <a:chOff x="0" y="0"/>
            <a:chExt cx="4876800" cy="144589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876800" cy="1445895"/>
            </a:xfrm>
            <a:custGeom>
              <a:avLst/>
              <a:gdLst/>
              <a:ahLst/>
              <a:cxnLst/>
              <a:rect l="l" t="t" r="r" b="b"/>
              <a:pathLst>
                <a:path w="4876800" h="1445895">
                  <a:moveTo>
                    <a:pt x="0" y="0"/>
                  </a:moveTo>
                  <a:lnTo>
                    <a:pt x="4876800" y="0"/>
                  </a:lnTo>
                  <a:lnTo>
                    <a:pt x="4876800" y="1445895"/>
                  </a:lnTo>
                  <a:lnTo>
                    <a:pt x="0" y="14458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20" b="-1572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04775"/>
              <a:ext cx="4876800" cy="1550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446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120640" y="8961120"/>
            <a:ext cx="3657600" cy="548640"/>
            <a:chOff x="0" y="0"/>
            <a:chExt cx="487680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810" b="-79809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20640" y="8932545"/>
            <a:ext cx="3657600" cy="577215"/>
            <a:chOff x="0" y="0"/>
            <a:chExt cx="4876800" cy="7696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876800" cy="769620"/>
            </a:xfrm>
            <a:custGeom>
              <a:avLst/>
              <a:gdLst/>
              <a:ahLst/>
              <a:cxnLst/>
              <a:rect l="l" t="t" r="r" b="b"/>
              <a:pathLst>
                <a:path w="4876800" h="769620">
                  <a:moveTo>
                    <a:pt x="0" y="0"/>
                  </a:moveTo>
                  <a:lnTo>
                    <a:pt x="4876800" y="0"/>
                  </a:lnTo>
                  <a:lnTo>
                    <a:pt x="48768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469" b="-7346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487680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BA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firms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326880" y="8046720"/>
            <a:ext cx="3657600" cy="1005840"/>
            <a:chOff x="0" y="0"/>
            <a:chExt cx="4876800" cy="13411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876800" cy="1341120"/>
            </a:xfrm>
            <a:custGeom>
              <a:avLst/>
              <a:gdLst/>
              <a:ahLst/>
              <a:cxnLst/>
              <a:rect l="l" t="t" r="r" b="b"/>
              <a:pathLst>
                <a:path w="4876800" h="134112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05" b="-2080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326880" y="7968139"/>
            <a:ext cx="3657600" cy="1084421"/>
            <a:chOff x="0" y="0"/>
            <a:chExt cx="4876800" cy="144589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876800" cy="1445895"/>
            </a:xfrm>
            <a:custGeom>
              <a:avLst/>
              <a:gdLst/>
              <a:ahLst/>
              <a:cxnLst/>
              <a:rect l="l" t="t" r="r" b="b"/>
              <a:pathLst>
                <a:path w="4876800" h="1445895">
                  <a:moveTo>
                    <a:pt x="0" y="0"/>
                  </a:moveTo>
                  <a:lnTo>
                    <a:pt x="4876800" y="0"/>
                  </a:lnTo>
                  <a:lnTo>
                    <a:pt x="4876800" y="1445895"/>
                  </a:lnTo>
                  <a:lnTo>
                    <a:pt x="0" y="14458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20" b="-1572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104775"/>
              <a:ext cx="4876800" cy="1550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7.9%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326880" y="8961120"/>
            <a:ext cx="3657600" cy="548640"/>
            <a:chOff x="0" y="0"/>
            <a:chExt cx="487680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810" b="-79809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326880" y="8932545"/>
            <a:ext cx="3657600" cy="577215"/>
            <a:chOff x="0" y="0"/>
            <a:chExt cx="4876800" cy="7696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876800" cy="769620"/>
            </a:xfrm>
            <a:custGeom>
              <a:avLst/>
              <a:gdLst/>
              <a:ahLst/>
              <a:cxnLst/>
              <a:rect l="l" t="t" r="r" b="b"/>
              <a:pathLst>
                <a:path w="4876800" h="769620">
                  <a:moveTo>
                    <a:pt x="0" y="0"/>
                  </a:moveTo>
                  <a:lnTo>
                    <a:pt x="4876800" y="0"/>
                  </a:lnTo>
                  <a:lnTo>
                    <a:pt x="48768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469" b="-7346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487680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BA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Bankruptcy rate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533120" y="8046720"/>
            <a:ext cx="3657600" cy="1005840"/>
            <a:chOff x="0" y="0"/>
            <a:chExt cx="4876800" cy="13411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76800" cy="1341120"/>
            </a:xfrm>
            <a:custGeom>
              <a:avLst/>
              <a:gdLst/>
              <a:ahLst/>
              <a:cxnLst/>
              <a:rect l="l" t="t" r="r" b="b"/>
              <a:pathLst>
                <a:path w="4876800" h="134112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05" b="-2080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533120" y="7968139"/>
            <a:ext cx="3657600" cy="1084421"/>
            <a:chOff x="0" y="0"/>
            <a:chExt cx="4876800" cy="144589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876800" cy="1445895"/>
            </a:xfrm>
            <a:custGeom>
              <a:avLst/>
              <a:gdLst/>
              <a:ahLst/>
              <a:cxnLst/>
              <a:rect l="l" t="t" r="r" b="b"/>
              <a:pathLst>
                <a:path w="4876800" h="1445895">
                  <a:moveTo>
                    <a:pt x="0" y="0"/>
                  </a:moveTo>
                  <a:lnTo>
                    <a:pt x="4876800" y="0"/>
                  </a:lnTo>
                  <a:lnTo>
                    <a:pt x="4876800" y="1445895"/>
                  </a:lnTo>
                  <a:lnTo>
                    <a:pt x="0" y="14458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20" b="-1572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04775"/>
              <a:ext cx="4876800" cy="1550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533120" y="8961120"/>
            <a:ext cx="3657600" cy="548640"/>
            <a:chOff x="0" y="0"/>
            <a:chExt cx="4876800" cy="7315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810" b="-79809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533120" y="8932545"/>
            <a:ext cx="3657600" cy="577215"/>
            <a:chOff x="0" y="0"/>
            <a:chExt cx="4876800" cy="7696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876800" cy="769620"/>
            </a:xfrm>
            <a:custGeom>
              <a:avLst/>
              <a:gdLst/>
              <a:ahLst/>
              <a:cxnLst/>
              <a:rect l="l" t="t" r="r" b="b"/>
              <a:pathLst>
                <a:path w="4876800" h="769620">
                  <a:moveTo>
                    <a:pt x="0" y="0"/>
                  </a:moveTo>
                  <a:lnTo>
                    <a:pt x="4876800" y="0"/>
                  </a:lnTo>
                  <a:lnTo>
                    <a:pt x="48768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469" b="-7346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487680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BA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Years of data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92EA847D-27BD-C95A-64E3-965A6F0A8213}"/>
              </a:ext>
            </a:extLst>
          </p:cNvPr>
          <p:cNvSpPr txBox="1"/>
          <p:nvPr/>
        </p:nvSpPr>
        <p:spPr>
          <a:xfrm>
            <a:off x="860802" y="5905500"/>
            <a:ext cx="4648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>
                <a:solidFill>
                  <a:schemeClr val="bg1"/>
                </a:solidFill>
              </a:rPr>
              <a:t>Guido Torrisi </a:t>
            </a:r>
          </a:p>
          <a:p>
            <a:r>
              <a:rPr lang="en-IT" dirty="0">
                <a:solidFill>
                  <a:schemeClr val="bg1"/>
                </a:solidFill>
              </a:rPr>
              <a:t>Mamadou Jallow</a:t>
            </a:r>
          </a:p>
          <a:p>
            <a:r>
              <a:rPr lang="en-IT" dirty="0">
                <a:solidFill>
                  <a:schemeClr val="bg1"/>
                </a:solidFill>
              </a:rPr>
              <a:t>Riccardo De Leonardis</a:t>
            </a:r>
          </a:p>
          <a:p>
            <a:r>
              <a:rPr lang="en-IT" dirty="0">
                <a:solidFill>
                  <a:schemeClr val="bg1"/>
                </a:solidFill>
              </a:rPr>
              <a:t>Mattia Zanin</a:t>
            </a:r>
          </a:p>
          <a:p>
            <a:r>
              <a:rPr lang="en-IT" dirty="0">
                <a:solidFill>
                  <a:schemeClr val="bg1"/>
                </a:solidFill>
              </a:rPr>
              <a:t>Awais Tariq</a:t>
            </a:r>
          </a:p>
          <a:p>
            <a:r>
              <a:rPr lang="en-IT" dirty="0">
                <a:solidFill>
                  <a:schemeClr val="bg1"/>
                </a:solidFill>
              </a:rPr>
              <a:t>Ignas Zmitrovičius</a:t>
            </a:r>
          </a:p>
          <a:p>
            <a:r>
              <a:rPr lang="en-IT" dirty="0">
                <a:solidFill>
                  <a:schemeClr val="bg1"/>
                </a:solidFill>
              </a:rPr>
              <a:t>Reham Hussein Hasan Mahmoud</a:t>
            </a:r>
          </a:p>
          <a:p>
            <a:endParaRPr lang="en-IT" dirty="0"/>
          </a:p>
          <a:p>
            <a:endParaRPr lang="en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178" y="380114"/>
            <a:ext cx="3336322" cy="629698"/>
            <a:chOff x="0" y="0"/>
            <a:chExt cx="4448429" cy="839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429" cy="839597"/>
            </a:xfrm>
            <a:custGeom>
              <a:avLst/>
              <a:gdLst/>
              <a:ahLst/>
              <a:cxnLst/>
              <a:rect l="l" t="t" r="r" b="b"/>
              <a:pathLst>
                <a:path w="4448429" h="839597">
                  <a:moveTo>
                    <a:pt x="0" y="0"/>
                  </a:moveTo>
                  <a:lnTo>
                    <a:pt x="4448429" y="0"/>
                  </a:lnTo>
                  <a:lnTo>
                    <a:pt x="4448429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402336"/>
            <a:ext cx="3291840" cy="585216"/>
            <a:chOff x="0" y="0"/>
            <a:chExt cx="438912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780288"/>
            </a:xfrm>
            <a:custGeom>
              <a:avLst/>
              <a:gdLst/>
              <a:ahLst/>
              <a:cxnLst/>
              <a:rect l="l" t="t" r="r" b="b"/>
              <a:pathLst>
                <a:path w="4389120" h="780288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26" b="-5952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80905"/>
            <a:ext cx="3291840" cy="606647"/>
            <a:chOff x="0" y="0"/>
            <a:chExt cx="4389120" cy="8088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808863"/>
            </a:xfrm>
            <a:custGeom>
              <a:avLst/>
              <a:gdLst/>
              <a:ahLst/>
              <a:cxnLst/>
              <a:rect l="l" t="t" r="r" b="b"/>
              <a:pathLst>
                <a:path w="4389120" h="808863">
                  <a:moveTo>
                    <a:pt x="0" y="0"/>
                  </a:moveTo>
                  <a:lnTo>
                    <a:pt x="4389120" y="0"/>
                  </a:lnTo>
                  <a:lnTo>
                    <a:pt x="4389120" y="808863"/>
                  </a:lnTo>
                  <a:lnTo>
                    <a:pt x="0" y="8088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731" b="-5573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3891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spc="4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OVERVIEW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133856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347" b="-200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048131"/>
            <a:ext cx="16459200" cy="1365885"/>
            <a:chOff x="0" y="0"/>
            <a:chExt cx="21945600" cy="18211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821180"/>
            </a:xfrm>
            <a:custGeom>
              <a:avLst/>
              <a:gdLst/>
              <a:ahLst/>
              <a:cxnLst/>
              <a:rect l="l" t="t" r="r" b="b"/>
              <a:pathLst>
                <a:path w="21945600" h="1821180">
                  <a:moveTo>
                    <a:pt x="0" y="0"/>
                  </a:moveTo>
                  <a:lnTo>
                    <a:pt x="21945600" y="0"/>
                  </a:lnTo>
                  <a:lnTo>
                    <a:pt x="21945600" y="1821180"/>
                  </a:lnTo>
                  <a:lnTo>
                    <a:pt x="0" y="1821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798" b="-18479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1945600" cy="1954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 Agenda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2178" y="3178178"/>
            <a:ext cx="7908322" cy="1178338"/>
            <a:chOff x="0" y="0"/>
            <a:chExt cx="10544429" cy="157111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44429" cy="1571117"/>
            </a:xfrm>
            <a:custGeom>
              <a:avLst/>
              <a:gdLst/>
              <a:ahLst/>
              <a:cxnLst/>
              <a:rect l="l" t="t" r="r" b="b"/>
              <a:pathLst>
                <a:path w="10544429" h="1571117">
                  <a:moveTo>
                    <a:pt x="0" y="0"/>
                  </a:moveTo>
                  <a:lnTo>
                    <a:pt x="10544429" y="0"/>
                  </a:lnTo>
                  <a:lnTo>
                    <a:pt x="10544429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0F4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2178" y="3178178"/>
            <a:ext cx="812578" cy="1178338"/>
            <a:chOff x="0" y="0"/>
            <a:chExt cx="1083437" cy="157111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3437" cy="1571117"/>
            </a:xfrm>
            <a:custGeom>
              <a:avLst/>
              <a:gdLst/>
              <a:ahLst/>
              <a:cxnLst/>
              <a:rect l="l" t="t" r="r" b="b"/>
              <a:pathLst>
                <a:path w="1083437" h="1571117">
                  <a:moveTo>
                    <a:pt x="0" y="0"/>
                  </a:moveTo>
                  <a:lnTo>
                    <a:pt x="1083437" y="0"/>
                  </a:lnTo>
                  <a:lnTo>
                    <a:pt x="1083437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3200400"/>
            <a:ext cx="768096" cy="1133856"/>
            <a:chOff x="0" y="0"/>
            <a:chExt cx="1024128" cy="151180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4128" cy="1511808"/>
            </a:xfrm>
            <a:custGeom>
              <a:avLst/>
              <a:gdLst/>
              <a:ahLst/>
              <a:cxnLst/>
              <a:rect l="l" t="t" r="r" b="b"/>
              <a:pathLst>
                <a:path w="1024128" h="1511808">
                  <a:moveTo>
                    <a:pt x="0" y="0"/>
                  </a:moveTo>
                  <a:lnTo>
                    <a:pt x="1024128" y="0"/>
                  </a:lnTo>
                  <a:lnTo>
                    <a:pt x="10241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532" r="-13953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3171825"/>
            <a:ext cx="768096" cy="1162431"/>
            <a:chOff x="0" y="0"/>
            <a:chExt cx="1024128" cy="15499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4128" cy="1549908"/>
            </a:xfrm>
            <a:custGeom>
              <a:avLst/>
              <a:gdLst/>
              <a:ahLst/>
              <a:cxnLst/>
              <a:rect l="l" t="t" r="r" b="b"/>
              <a:pathLst>
                <a:path w="1024128" h="1549908">
                  <a:moveTo>
                    <a:pt x="0" y="0"/>
                  </a:moveTo>
                  <a:lnTo>
                    <a:pt x="1024128" y="0"/>
                  </a:lnTo>
                  <a:lnTo>
                    <a:pt x="1024128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4173" r="-1441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24128" cy="1588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865376" y="3273552"/>
            <a:ext cx="6766560" cy="475488"/>
            <a:chOff x="0" y="0"/>
            <a:chExt cx="9022080" cy="6339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865376" y="3244977"/>
            <a:ext cx="6766560" cy="504063"/>
            <a:chOff x="0" y="0"/>
            <a:chExt cx="9022080" cy="6720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Setup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865376" y="3749040"/>
            <a:ext cx="6766560" cy="475488"/>
            <a:chOff x="0" y="0"/>
            <a:chExt cx="9022080" cy="63398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865376" y="3720465"/>
            <a:ext cx="6766560" cy="504063"/>
            <a:chOff x="0" y="0"/>
            <a:chExt cx="9022080" cy="67208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Prediction task, data overview, class imbalance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92178" y="4494914"/>
            <a:ext cx="7908322" cy="1178338"/>
            <a:chOff x="0" y="0"/>
            <a:chExt cx="10544429" cy="157111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44429" cy="1571117"/>
            </a:xfrm>
            <a:custGeom>
              <a:avLst/>
              <a:gdLst/>
              <a:ahLst/>
              <a:cxnLst/>
              <a:rect l="l" t="t" r="r" b="b"/>
              <a:pathLst>
                <a:path w="10544429" h="1571117">
                  <a:moveTo>
                    <a:pt x="0" y="0"/>
                  </a:moveTo>
                  <a:lnTo>
                    <a:pt x="10544429" y="0"/>
                  </a:lnTo>
                  <a:lnTo>
                    <a:pt x="10544429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0F4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92178" y="4494914"/>
            <a:ext cx="812578" cy="1178338"/>
            <a:chOff x="0" y="0"/>
            <a:chExt cx="1083437" cy="157111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83437" cy="1571117"/>
            </a:xfrm>
            <a:custGeom>
              <a:avLst/>
              <a:gdLst/>
              <a:ahLst/>
              <a:cxnLst/>
              <a:rect l="l" t="t" r="r" b="b"/>
              <a:pathLst>
                <a:path w="1083437" h="1571117">
                  <a:moveTo>
                    <a:pt x="0" y="0"/>
                  </a:moveTo>
                  <a:lnTo>
                    <a:pt x="1083437" y="0"/>
                  </a:lnTo>
                  <a:lnTo>
                    <a:pt x="1083437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" y="4517136"/>
            <a:ext cx="768096" cy="1133856"/>
            <a:chOff x="0" y="0"/>
            <a:chExt cx="1024128" cy="151180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24128" cy="1511808"/>
            </a:xfrm>
            <a:custGeom>
              <a:avLst/>
              <a:gdLst/>
              <a:ahLst/>
              <a:cxnLst/>
              <a:rect l="l" t="t" r="r" b="b"/>
              <a:pathLst>
                <a:path w="1024128" h="1511808">
                  <a:moveTo>
                    <a:pt x="0" y="0"/>
                  </a:moveTo>
                  <a:lnTo>
                    <a:pt x="1024128" y="0"/>
                  </a:lnTo>
                  <a:lnTo>
                    <a:pt x="10241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532" r="-13953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14400" y="4488561"/>
            <a:ext cx="768096" cy="1162431"/>
            <a:chOff x="0" y="0"/>
            <a:chExt cx="1024128" cy="154990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24128" cy="1549908"/>
            </a:xfrm>
            <a:custGeom>
              <a:avLst/>
              <a:gdLst/>
              <a:ahLst/>
              <a:cxnLst/>
              <a:rect l="l" t="t" r="r" b="b"/>
              <a:pathLst>
                <a:path w="1024128" h="1549908">
                  <a:moveTo>
                    <a:pt x="0" y="0"/>
                  </a:moveTo>
                  <a:lnTo>
                    <a:pt x="1024128" y="0"/>
                  </a:lnTo>
                  <a:lnTo>
                    <a:pt x="1024128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4173" r="-1441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024128" cy="1588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865376" y="4590288"/>
            <a:ext cx="6766560" cy="475488"/>
            <a:chOff x="0" y="0"/>
            <a:chExt cx="9022080" cy="6339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865376" y="4561713"/>
            <a:ext cx="6766560" cy="504063"/>
            <a:chOff x="0" y="0"/>
            <a:chExt cx="9022080" cy="67208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865376" y="5065776"/>
            <a:ext cx="6766560" cy="475488"/>
            <a:chOff x="0" y="0"/>
            <a:chExt cx="9022080" cy="63398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865376" y="5037201"/>
            <a:ext cx="6766560" cy="504063"/>
            <a:chOff x="0" y="0"/>
            <a:chExt cx="9022080" cy="6720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Altman-inspired features + Logistic Regression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92178" y="5811650"/>
            <a:ext cx="7908322" cy="1178338"/>
            <a:chOff x="0" y="0"/>
            <a:chExt cx="10544429" cy="157111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544429" cy="1571117"/>
            </a:xfrm>
            <a:custGeom>
              <a:avLst/>
              <a:gdLst/>
              <a:ahLst/>
              <a:cxnLst/>
              <a:rect l="l" t="t" r="r" b="b"/>
              <a:pathLst>
                <a:path w="10544429" h="1571117">
                  <a:moveTo>
                    <a:pt x="0" y="0"/>
                  </a:moveTo>
                  <a:lnTo>
                    <a:pt x="10544429" y="0"/>
                  </a:lnTo>
                  <a:lnTo>
                    <a:pt x="10544429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0F4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92178" y="5811650"/>
            <a:ext cx="812578" cy="1178338"/>
            <a:chOff x="0" y="0"/>
            <a:chExt cx="1083437" cy="157111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83437" cy="1571117"/>
            </a:xfrm>
            <a:custGeom>
              <a:avLst/>
              <a:gdLst/>
              <a:ahLst/>
              <a:cxnLst/>
              <a:rect l="l" t="t" r="r" b="b"/>
              <a:pathLst>
                <a:path w="1083437" h="1571117">
                  <a:moveTo>
                    <a:pt x="0" y="0"/>
                  </a:moveTo>
                  <a:lnTo>
                    <a:pt x="1083437" y="0"/>
                  </a:lnTo>
                  <a:lnTo>
                    <a:pt x="1083437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14400" y="5833872"/>
            <a:ext cx="768096" cy="1133856"/>
            <a:chOff x="0" y="0"/>
            <a:chExt cx="1024128" cy="151180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24128" cy="1511808"/>
            </a:xfrm>
            <a:custGeom>
              <a:avLst/>
              <a:gdLst/>
              <a:ahLst/>
              <a:cxnLst/>
              <a:rect l="l" t="t" r="r" b="b"/>
              <a:pathLst>
                <a:path w="1024128" h="1511808">
                  <a:moveTo>
                    <a:pt x="0" y="0"/>
                  </a:moveTo>
                  <a:lnTo>
                    <a:pt x="1024128" y="0"/>
                  </a:lnTo>
                  <a:lnTo>
                    <a:pt x="10241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532" r="-13953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14400" y="5805297"/>
            <a:ext cx="768096" cy="1162431"/>
            <a:chOff x="0" y="0"/>
            <a:chExt cx="1024128" cy="154990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24128" cy="1549908"/>
            </a:xfrm>
            <a:custGeom>
              <a:avLst/>
              <a:gdLst/>
              <a:ahLst/>
              <a:cxnLst/>
              <a:rect l="l" t="t" r="r" b="b"/>
              <a:pathLst>
                <a:path w="1024128" h="1549908">
                  <a:moveTo>
                    <a:pt x="0" y="0"/>
                  </a:moveTo>
                  <a:lnTo>
                    <a:pt x="1024128" y="0"/>
                  </a:lnTo>
                  <a:lnTo>
                    <a:pt x="1024128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4173" r="-1441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1024128" cy="1588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865376" y="5907024"/>
            <a:ext cx="6766560" cy="475488"/>
            <a:chOff x="0" y="0"/>
            <a:chExt cx="9022080" cy="63398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865376" y="5878449"/>
            <a:ext cx="6766560" cy="504063"/>
            <a:chOff x="0" y="0"/>
            <a:chExt cx="9022080" cy="67208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865376" y="6382512"/>
            <a:ext cx="6766560" cy="475488"/>
            <a:chOff x="0" y="0"/>
            <a:chExt cx="9022080" cy="63398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865376" y="6353937"/>
            <a:ext cx="6766560" cy="504063"/>
            <a:chOff x="0" y="0"/>
            <a:chExt cx="9022080" cy="67208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ratios × 3 years + trends + sector benchmarks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92178" y="7128386"/>
            <a:ext cx="7908322" cy="1178338"/>
            <a:chOff x="0" y="0"/>
            <a:chExt cx="10544429" cy="157111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0544429" cy="1571117"/>
            </a:xfrm>
            <a:custGeom>
              <a:avLst/>
              <a:gdLst/>
              <a:ahLst/>
              <a:cxnLst/>
              <a:rect l="l" t="t" r="r" b="b"/>
              <a:pathLst>
                <a:path w="10544429" h="1571117">
                  <a:moveTo>
                    <a:pt x="0" y="0"/>
                  </a:moveTo>
                  <a:lnTo>
                    <a:pt x="10544429" y="0"/>
                  </a:lnTo>
                  <a:lnTo>
                    <a:pt x="10544429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0F4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92178" y="7128386"/>
            <a:ext cx="812578" cy="1178338"/>
            <a:chOff x="0" y="0"/>
            <a:chExt cx="1083437" cy="157111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083437" cy="1571117"/>
            </a:xfrm>
            <a:custGeom>
              <a:avLst/>
              <a:gdLst/>
              <a:ahLst/>
              <a:cxnLst/>
              <a:rect l="l" t="t" r="r" b="b"/>
              <a:pathLst>
                <a:path w="1083437" h="1571117">
                  <a:moveTo>
                    <a:pt x="0" y="0"/>
                  </a:moveTo>
                  <a:lnTo>
                    <a:pt x="1083437" y="0"/>
                  </a:lnTo>
                  <a:lnTo>
                    <a:pt x="1083437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14400" y="7150608"/>
            <a:ext cx="768096" cy="1133856"/>
            <a:chOff x="0" y="0"/>
            <a:chExt cx="1024128" cy="151180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24128" cy="1511808"/>
            </a:xfrm>
            <a:custGeom>
              <a:avLst/>
              <a:gdLst/>
              <a:ahLst/>
              <a:cxnLst/>
              <a:rect l="l" t="t" r="r" b="b"/>
              <a:pathLst>
                <a:path w="1024128" h="1511808">
                  <a:moveTo>
                    <a:pt x="0" y="0"/>
                  </a:moveTo>
                  <a:lnTo>
                    <a:pt x="1024128" y="0"/>
                  </a:lnTo>
                  <a:lnTo>
                    <a:pt x="10241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532" r="-13953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14400" y="7122033"/>
            <a:ext cx="768096" cy="1162431"/>
            <a:chOff x="0" y="0"/>
            <a:chExt cx="1024128" cy="154990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024128" cy="1549908"/>
            </a:xfrm>
            <a:custGeom>
              <a:avLst/>
              <a:gdLst/>
              <a:ahLst/>
              <a:cxnLst/>
              <a:rect l="l" t="t" r="r" b="b"/>
              <a:pathLst>
                <a:path w="1024128" h="1549908">
                  <a:moveTo>
                    <a:pt x="0" y="0"/>
                  </a:moveTo>
                  <a:lnTo>
                    <a:pt x="1024128" y="0"/>
                  </a:lnTo>
                  <a:lnTo>
                    <a:pt x="1024128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4173" r="-1441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1024128" cy="1588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865376" y="7223760"/>
            <a:ext cx="6766560" cy="475488"/>
            <a:chOff x="0" y="0"/>
            <a:chExt cx="9022080" cy="63398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865376" y="7195185"/>
            <a:ext cx="6766560" cy="504063"/>
            <a:chOff x="0" y="0"/>
            <a:chExt cx="9022080" cy="67208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Selection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865376" y="7699248"/>
            <a:ext cx="6766560" cy="475488"/>
            <a:chOff x="0" y="0"/>
            <a:chExt cx="9022080" cy="633984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865376" y="7670673"/>
            <a:ext cx="6766560" cy="504063"/>
            <a:chOff x="0" y="0"/>
            <a:chExt cx="9022080" cy="672084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GridSearch, Lasso, class weighting, AUC scoring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92178" y="8445122"/>
            <a:ext cx="7908322" cy="1178338"/>
            <a:chOff x="0" y="0"/>
            <a:chExt cx="10544429" cy="1571117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0544429" cy="1571117"/>
            </a:xfrm>
            <a:custGeom>
              <a:avLst/>
              <a:gdLst/>
              <a:ahLst/>
              <a:cxnLst/>
              <a:rect l="l" t="t" r="r" b="b"/>
              <a:pathLst>
                <a:path w="10544429" h="1571117">
                  <a:moveTo>
                    <a:pt x="0" y="0"/>
                  </a:moveTo>
                  <a:lnTo>
                    <a:pt x="10544429" y="0"/>
                  </a:lnTo>
                  <a:lnTo>
                    <a:pt x="10544429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0F4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92178" y="8445122"/>
            <a:ext cx="812578" cy="1178338"/>
            <a:chOff x="0" y="0"/>
            <a:chExt cx="1083437" cy="1571117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083437" cy="1571117"/>
            </a:xfrm>
            <a:custGeom>
              <a:avLst/>
              <a:gdLst/>
              <a:ahLst/>
              <a:cxnLst/>
              <a:rect l="l" t="t" r="r" b="b"/>
              <a:pathLst>
                <a:path w="1083437" h="1571117">
                  <a:moveTo>
                    <a:pt x="0" y="0"/>
                  </a:moveTo>
                  <a:lnTo>
                    <a:pt x="1083437" y="0"/>
                  </a:lnTo>
                  <a:lnTo>
                    <a:pt x="1083437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14400" y="8467344"/>
            <a:ext cx="768096" cy="1133856"/>
            <a:chOff x="0" y="0"/>
            <a:chExt cx="1024128" cy="1511808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024128" cy="1511808"/>
            </a:xfrm>
            <a:custGeom>
              <a:avLst/>
              <a:gdLst/>
              <a:ahLst/>
              <a:cxnLst/>
              <a:rect l="l" t="t" r="r" b="b"/>
              <a:pathLst>
                <a:path w="1024128" h="1511808">
                  <a:moveTo>
                    <a:pt x="0" y="0"/>
                  </a:moveTo>
                  <a:lnTo>
                    <a:pt x="1024128" y="0"/>
                  </a:lnTo>
                  <a:lnTo>
                    <a:pt x="10241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532" r="-13953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14400" y="8438769"/>
            <a:ext cx="768096" cy="1162431"/>
            <a:chOff x="0" y="0"/>
            <a:chExt cx="1024128" cy="1549908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024128" cy="1549908"/>
            </a:xfrm>
            <a:custGeom>
              <a:avLst/>
              <a:gdLst/>
              <a:ahLst/>
              <a:cxnLst/>
              <a:rect l="l" t="t" r="r" b="b"/>
              <a:pathLst>
                <a:path w="1024128" h="1549908">
                  <a:moveTo>
                    <a:pt x="0" y="0"/>
                  </a:moveTo>
                  <a:lnTo>
                    <a:pt x="1024128" y="0"/>
                  </a:lnTo>
                  <a:lnTo>
                    <a:pt x="1024128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4173" r="-1441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1024128" cy="1588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865376" y="8540496"/>
            <a:ext cx="6766560" cy="475488"/>
            <a:chOff x="0" y="0"/>
            <a:chExt cx="9022080" cy="63398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865376" y="8511921"/>
            <a:ext cx="6766560" cy="504063"/>
            <a:chOff x="0" y="0"/>
            <a:chExt cx="9022080" cy="672084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Threshold Optimisation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865376" y="9015984"/>
            <a:ext cx="6766560" cy="475488"/>
            <a:chOff x="0" y="0"/>
            <a:chExt cx="9022080" cy="63398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865376" y="8987409"/>
            <a:ext cx="6766560" cy="504063"/>
            <a:chOff x="0" y="0"/>
            <a:chExt cx="9022080" cy="67208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F1-based CV threshold — no data leakage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487538" y="3178178"/>
            <a:ext cx="7908322" cy="1178338"/>
            <a:chOff x="0" y="0"/>
            <a:chExt cx="10544429" cy="1571117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10544429" cy="1571117"/>
            </a:xfrm>
            <a:custGeom>
              <a:avLst/>
              <a:gdLst/>
              <a:ahLst/>
              <a:cxnLst/>
              <a:rect l="l" t="t" r="r" b="b"/>
              <a:pathLst>
                <a:path w="10544429" h="1571117">
                  <a:moveTo>
                    <a:pt x="0" y="0"/>
                  </a:moveTo>
                  <a:lnTo>
                    <a:pt x="10544429" y="0"/>
                  </a:lnTo>
                  <a:lnTo>
                    <a:pt x="10544429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0F4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9487538" y="3178178"/>
            <a:ext cx="812578" cy="1178338"/>
            <a:chOff x="0" y="0"/>
            <a:chExt cx="1083437" cy="1571117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1083437" cy="1571117"/>
            </a:xfrm>
            <a:custGeom>
              <a:avLst/>
              <a:gdLst/>
              <a:ahLst/>
              <a:cxnLst/>
              <a:rect l="l" t="t" r="r" b="b"/>
              <a:pathLst>
                <a:path w="1083437" h="1571117">
                  <a:moveTo>
                    <a:pt x="0" y="0"/>
                  </a:moveTo>
                  <a:lnTo>
                    <a:pt x="1083437" y="0"/>
                  </a:lnTo>
                  <a:lnTo>
                    <a:pt x="1083437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509760" y="3200400"/>
            <a:ext cx="768096" cy="1133856"/>
            <a:chOff x="0" y="0"/>
            <a:chExt cx="1024128" cy="1511808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024128" cy="1511808"/>
            </a:xfrm>
            <a:custGeom>
              <a:avLst/>
              <a:gdLst/>
              <a:ahLst/>
              <a:cxnLst/>
              <a:rect l="l" t="t" r="r" b="b"/>
              <a:pathLst>
                <a:path w="1024128" h="1511808">
                  <a:moveTo>
                    <a:pt x="0" y="0"/>
                  </a:moveTo>
                  <a:lnTo>
                    <a:pt x="1024128" y="0"/>
                  </a:lnTo>
                  <a:lnTo>
                    <a:pt x="10241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532" r="-13953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509760" y="3171825"/>
            <a:ext cx="768096" cy="1162431"/>
            <a:chOff x="0" y="0"/>
            <a:chExt cx="1024128" cy="1549908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1024128" cy="1549908"/>
            </a:xfrm>
            <a:custGeom>
              <a:avLst/>
              <a:gdLst/>
              <a:ahLst/>
              <a:cxnLst/>
              <a:rect l="l" t="t" r="r" b="b"/>
              <a:pathLst>
                <a:path w="1024128" h="1549908">
                  <a:moveTo>
                    <a:pt x="0" y="0"/>
                  </a:moveTo>
                  <a:lnTo>
                    <a:pt x="1024128" y="0"/>
                  </a:lnTo>
                  <a:lnTo>
                    <a:pt x="1024128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4173" r="-1441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0" y="-38100"/>
              <a:ext cx="1024128" cy="1588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0460736" y="3273552"/>
            <a:ext cx="6766560" cy="475488"/>
            <a:chOff x="0" y="0"/>
            <a:chExt cx="9022080" cy="633984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0460736" y="3244977"/>
            <a:ext cx="6766560" cy="504063"/>
            <a:chOff x="0" y="0"/>
            <a:chExt cx="9022080" cy="672084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10460736" y="3749040"/>
            <a:ext cx="6766560" cy="475488"/>
            <a:chOff x="0" y="0"/>
            <a:chExt cx="9022080" cy="633984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0460736" y="3720465"/>
            <a:ext cx="6766560" cy="504063"/>
            <a:chOff x="0" y="0"/>
            <a:chExt cx="9022080" cy="672084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Accuracy, Precision, Recall, F1, AUC = 0.786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9487538" y="4494914"/>
            <a:ext cx="7908322" cy="1178338"/>
            <a:chOff x="0" y="0"/>
            <a:chExt cx="10544429" cy="1571117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10544429" cy="1571117"/>
            </a:xfrm>
            <a:custGeom>
              <a:avLst/>
              <a:gdLst/>
              <a:ahLst/>
              <a:cxnLst/>
              <a:rect l="l" t="t" r="r" b="b"/>
              <a:pathLst>
                <a:path w="10544429" h="1571117">
                  <a:moveTo>
                    <a:pt x="0" y="0"/>
                  </a:moveTo>
                  <a:lnTo>
                    <a:pt x="10544429" y="0"/>
                  </a:lnTo>
                  <a:lnTo>
                    <a:pt x="10544429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0F4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9487538" y="4494914"/>
            <a:ext cx="812578" cy="1178338"/>
            <a:chOff x="0" y="0"/>
            <a:chExt cx="1083437" cy="1571117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1083437" cy="1571117"/>
            </a:xfrm>
            <a:custGeom>
              <a:avLst/>
              <a:gdLst/>
              <a:ahLst/>
              <a:cxnLst/>
              <a:rect l="l" t="t" r="r" b="b"/>
              <a:pathLst>
                <a:path w="1083437" h="1571117">
                  <a:moveTo>
                    <a:pt x="0" y="0"/>
                  </a:moveTo>
                  <a:lnTo>
                    <a:pt x="1083437" y="0"/>
                  </a:lnTo>
                  <a:lnTo>
                    <a:pt x="1083437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9509760" y="4517136"/>
            <a:ext cx="768096" cy="1133856"/>
            <a:chOff x="0" y="0"/>
            <a:chExt cx="1024128" cy="1511808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1024128" cy="1511808"/>
            </a:xfrm>
            <a:custGeom>
              <a:avLst/>
              <a:gdLst/>
              <a:ahLst/>
              <a:cxnLst/>
              <a:rect l="l" t="t" r="r" b="b"/>
              <a:pathLst>
                <a:path w="1024128" h="1511808">
                  <a:moveTo>
                    <a:pt x="0" y="0"/>
                  </a:moveTo>
                  <a:lnTo>
                    <a:pt x="1024128" y="0"/>
                  </a:lnTo>
                  <a:lnTo>
                    <a:pt x="10241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532" r="-13953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9509760" y="4488561"/>
            <a:ext cx="768096" cy="1162431"/>
            <a:chOff x="0" y="0"/>
            <a:chExt cx="1024128" cy="1549908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1024128" cy="1549908"/>
            </a:xfrm>
            <a:custGeom>
              <a:avLst/>
              <a:gdLst/>
              <a:ahLst/>
              <a:cxnLst/>
              <a:rect l="l" t="t" r="r" b="b"/>
              <a:pathLst>
                <a:path w="1024128" h="1549908">
                  <a:moveTo>
                    <a:pt x="0" y="0"/>
                  </a:moveTo>
                  <a:lnTo>
                    <a:pt x="1024128" y="0"/>
                  </a:lnTo>
                  <a:lnTo>
                    <a:pt x="1024128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4173" r="-1441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0" y="-38100"/>
              <a:ext cx="1024128" cy="1588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460736" y="4590288"/>
            <a:ext cx="6766560" cy="475488"/>
            <a:chOff x="0" y="0"/>
            <a:chExt cx="9022080" cy="633984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0460736" y="4561713"/>
            <a:ext cx="6766560" cy="504063"/>
            <a:chOff x="0" y="0"/>
            <a:chExt cx="9022080" cy="672084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Confusion Matrix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10460736" y="5065776"/>
            <a:ext cx="6766560" cy="475488"/>
            <a:chOff x="0" y="0"/>
            <a:chExt cx="9022080" cy="633984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10460736" y="5037201"/>
            <a:ext cx="6766560" cy="504063"/>
            <a:chOff x="0" y="0"/>
            <a:chExt cx="9022080" cy="672084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caught defaults out of 28 in test set</a:t>
              </a: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9487538" y="5811650"/>
            <a:ext cx="7908322" cy="1178338"/>
            <a:chOff x="0" y="0"/>
            <a:chExt cx="10544429" cy="1571117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10544429" cy="1571117"/>
            </a:xfrm>
            <a:custGeom>
              <a:avLst/>
              <a:gdLst/>
              <a:ahLst/>
              <a:cxnLst/>
              <a:rect l="l" t="t" r="r" b="b"/>
              <a:pathLst>
                <a:path w="10544429" h="1571117">
                  <a:moveTo>
                    <a:pt x="0" y="0"/>
                  </a:moveTo>
                  <a:lnTo>
                    <a:pt x="10544429" y="0"/>
                  </a:lnTo>
                  <a:lnTo>
                    <a:pt x="10544429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0F4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9487538" y="5811650"/>
            <a:ext cx="812578" cy="1178338"/>
            <a:chOff x="0" y="0"/>
            <a:chExt cx="1083437" cy="1571117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1083437" cy="1571117"/>
            </a:xfrm>
            <a:custGeom>
              <a:avLst/>
              <a:gdLst/>
              <a:ahLst/>
              <a:cxnLst/>
              <a:rect l="l" t="t" r="r" b="b"/>
              <a:pathLst>
                <a:path w="1083437" h="1571117">
                  <a:moveTo>
                    <a:pt x="0" y="0"/>
                  </a:moveTo>
                  <a:lnTo>
                    <a:pt x="1083437" y="0"/>
                  </a:lnTo>
                  <a:lnTo>
                    <a:pt x="1083437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9509760" y="5833872"/>
            <a:ext cx="768096" cy="1133856"/>
            <a:chOff x="0" y="0"/>
            <a:chExt cx="1024128" cy="1511808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1024128" cy="1511808"/>
            </a:xfrm>
            <a:custGeom>
              <a:avLst/>
              <a:gdLst/>
              <a:ahLst/>
              <a:cxnLst/>
              <a:rect l="l" t="t" r="r" b="b"/>
              <a:pathLst>
                <a:path w="1024128" h="1511808">
                  <a:moveTo>
                    <a:pt x="0" y="0"/>
                  </a:moveTo>
                  <a:lnTo>
                    <a:pt x="1024128" y="0"/>
                  </a:lnTo>
                  <a:lnTo>
                    <a:pt x="10241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532" r="-13953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9509760" y="5805297"/>
            <a:ext cx="768096" cy="1162431"/>
            <a:chOff x="0" y="0"/>
            <a:chExt cx="1024128" cy="1549908"/>
          </a:xfrm>
        </p:grpSpPr>
        <p:sp>
          <p:nvSpPr>
            <p:cNvPr id="154" name="Freeform 154"/>
            <p:cNvSpPr/>
            <p:nvPr/>
          </p:nvSpPr>
          <p:spPr>
            <a:xfrm>
              <a:off x="0" y="0"/>
              <a:ext cx="1024128" cy="1549908"/>
            </a:xfrm>
            <a:custGeom>
              <a:avLst/>
              <a:gdLst/>
              <a:ahLst/>
              <a:cxnLst/>
              <a:rect l="l" t="t" r="r" b="b"/>
              <a:pathLst>
                <a:path w="1024128" h="1549908">
                  <a:moveTo>
                    <a:pt x="0" y="0"/>
                  </a:moveTo>
                  <a:lnTo>
                    <a:pt x="1024128" y="0"/>
                  </a:lnTo>
                  <a:lnTo>
                    <a:pt x="1024128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4173" r="-1441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0" y="-38100"/>
              <a:ext cx="1024128" cy="1588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id="156" name="Group 156"/>
          <p:cNvGrpSpPr/>
          <p:nvPr/>
        </p:nvGrpSpPr>
        <p:grpSpPr>
          <a:xfrm>
            <a:off x="10460736" y="5907024"/>
            <a:ext cx="6766560" cy="475488"/>
            <a:chOff x="0" y="0"/>
            <a:chExt cx="9022080" cy="633984"/>
          </a:xfrm>
        </p:grpSpPr>
        <p:sp>
          <p:nvSpPr>
            <p:cNvPr id="157" name="Freeform 157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10460736" y="5878449"/>
            <a:ext cx="6766560" cy="504063"/>
            <a:chOff x="0" y="0"/>
            <a:chExt cx="9022080" cy="672084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Drivers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10460736" y="6382512"/>
            <a:ext cx="6766560" cy="475488"/>
            <a:chOff x="0" y="0"/>
            <a:chExt cx="9022080" cy="633984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10460736" y="6353937"/>
            <a:ext cx="6766560" cy="504063"/>
            <a:chOff x="0" y="0"/>
            <a:chExt cx="9022080" cy="672084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12 predictors + robustness test</a:t>
              </a:r>
            </a:p>
          </p:txBody>
        </p:sp>
      </p:grpSp>
      <p:grpSp>
        <p:nvGrpSpPr>
          <p:cNvPr id="166" name="Group 166"/>
          <p:cNvGrpSpPr/>
          <p:nvPr/>
        </p:nvGrpSpPr>
        <p:grpSpPr>
          <a:xfrm>
            <a:off x="9487538" y="7128386"/>
            <a:ext cx="7908322" cy="1178338"/>
            <a:chOff x="0" y="0"/>
            <a:chExt cx="10544429" cy="1571117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10544429" cy="1571117"/>
            </a:xfrm>
            <a:custGeom>
              <a:avLst/>
              <a:gdLst/>
              <a:ahLst/>
              <a:cxnLst/>
              <a:rect l="l" t="t" r="r" b="b"/>
              <a:pathLst>
                <a:path w="10544429" h="1571117">
                  <a:moveTo>
                    <a:pt x="0" y="0"/>
                  </a:moveTo>
                  <a:lnTo>
                    <a:pt x="10544429" y="0"/>
                  </a:lnTo>
                  <a:lnTo>
                    <a:pt x="10544429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0F4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9487538" y="7128386"/>
            <a:ext cx="812578" cy="1178338"/>
            <a:chOff x="0" y="0"/>
            <a:chExt cx="1083437" cy="1571117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1083437" cy="1571117"/>
            </a:xfrm>
            <a:custGeom>
              <a:avLst/>
              <a:gdLst/>
              <a:ahLst/>
              <a:cxnLst/>
              <a:rect l="l" t="t" r="r" b="b"/>
              <a:pathLst>
                <a:path w="1083437" h="1571117">
                  <a:moveTo>
                    <a:pt x="0" y="0"/>
                  </a:moveTo>
                  <a:lnTo>
                    <a:pt x="1083437" y="0"/>
                  </a:lnTo>
                  <a:lnTo>
                    <a:pt x="1083437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9509760" y="7150608"/>
            <a:ext cx="768096" cy="1133856"/>
            <a:chOff x="0" y="0"/>
            <a:chExt cx="1024128" cy="1511808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1024128" cy="1511808"/>
            </a:xfrm>
            <a:custGeom>
              <a:avLst/>
              <a:gdLst/>
              <a:ahLst/>
              <a:cxnLst/>
              <a:rect l="l" t="t" r="r" b="b"/>
              <a:pathLst>
                <a:path w="1024128" h="1511808">
                  <a:moveTo>
                    <a:pt x="0" y="0"/>
                  </a:moveTo>
                  <a:lnTo>
                    <a:pt x="1024128" y="0"/>
                  </a:lnTo>
                  <a:lnTo>
                    <a:pt x="10241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532" r="-13953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72" name="Group 172"/>
          <p:cNvGrpSpPr/>
          <p:nvPr/>
        </p:nvGrpSpPr>
        <p:grpSpPr>
          <a:xfrm>
            <a:off x="9509760" y="7122033"/>
            <a:ext cx="768096" cy="1162431"/>
            <a:chOff x="0" y="0"/>
            <a:chExt cx="1024128" cy="1549908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1024128" cy="1549908"/>
            </a:xfrm>
            <a:custGeom>
              <a:avLst/>
              <a:gdLst/>
              <a:ahLst/>
              <a:cxnLst/>
              <a:rect l="l" t="t" r="r" b="b"/>
              <a:pathLst>
                <a:path w="1024128" h="1549908">
                  <a:moveTo>
                    <a:pt x="0" y="0"/>
                  </a:moveTo>
                  <a:lnTo>
                    <a:pt x="1024128" y="0"/>
                  </a:lnTo>
                  <a:lnTo>
                    <a:pt x="1024128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4173" r="-1441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0" y="-38100"/>
              <a:ext cx="1024128" cy="1588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10460736" y="7223760"/>
            <a:ext cx="6766560" cy="475488"/>
            <a:chOff x="0" y="0"/>
            <a:chExt cx="9022080" cy="633984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10460736" y="7195185"/>
            <a:ext cx="6766560" cy="504063"/>
            <a:chOff x="0" y="0"/>
            <a:chExt cx="9022080" cy="672084"/>
          </a:xfrm>
        </p:grpSpPr>
        <p:sp>
          <p:nvSpPr>
            <p:cNvPr id="178" name="Freeform 178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Conclusions</a:t>
              </a:r>
            </a:p>
          </p:txBody>
        </p:sp>
      </p:grpSp>
      <p:grpSp>
        <p:nvGrpSpPr>
          <p:cNvPr id="180" name="Group 180"/>
          <p:cNvGrpSpPr/>
          <p:nvPr/>
        </p:nvGrpSpPr>
        <p:grpSpPr>
          <a:xfrm>
            <a:off x="10460736" y="7699248"/>
            <a:ext cx="6766560" cy="475488"/>
            <a:chOff x="0" y="0"/>
            <a:chExt cx="9022080" cy="633984"/>
          </a:xfrm>
        </p:grpSpPr>
        <p:sp>
          <p:nvSpPr>
            <p:cNvPr id="181" name="Freeform 181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10460736" y="7670673"/>
            <a:ext cx="6766560" cy="504063"/>
            <a:chOff x="0" y="0"/>
            <a:chExt cx="9022080" cy="672084"/>
          </a:xfrm>
        </p:grpSpPr>
        <p:sp>
          <p:nvSpPr>
            <p:cNvPr id="183" name="Freeform 183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Findings, limitations, economic interpretation</a:t>
              </a: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9487538" y="8445122"/>
            <a:ext cx="7908322" cy="1178338"/>
            <a:chOff x="0" y="0"/>
            <a:chExt cx="10544429" cy="1571117"/>
          </a:xfrm>
        </p:grpSpPr>
        <p:sp>
          <p:nvSpPr>
            <p:cNvPr id="186" name="Freeform 186"/>
            <p:cNvSpPr/>
            <p:nvPr/>
          </p:nvSpPr>
          <p:spPr>
            <a:xfrm>
              <a:off x="0" y="0"/>
              <a:ext cx="10544429" cy="1571117"/>
            </a:xfrm>
            <a:custGeom>
              <a:avLst/>
              <a:gdLst/>
              <a:ahLst/>
              <a:cxnLst/>
              <a:rect l="l" t="t" r="r" b="b"/>
              <a:pathLst>
                <a:path w="10544429" h="1571117">
                  <a:moveTo>
                    <a:pt x="0" y="0"/>
                  </a:moveTo>
                  <a:lnTo>
                    <a:pt x="10544429" y="0"/>
                  </a:lnTo>
                  <a:lnTo>
                    <a:pt x="10544429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0F4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87" name="Group 187"/>
          <p:cNvGrpSpPr/>
          <p:nvPr/>
        </p:nvGrpSpPr>
        <p:grpSpPr>
          <a:xfrm>
            <a:off x="9487538" y="8445122"/>
            <a:ext cx="812578" cy="1178338"/>
            <a:chOff x="0" y="0"/>
            <a:chExt cx="1083437" cy="1571117"/>
          </a:xfrm>
        </p:grpSpPr>
        <p:sp>
          <p:nvSpPr>
            <p:cNvPr id="188" name="Freeform 188"/>
            <p:cNvSpPr/>
            <p:nvPr/>
          </p:nvSpPr>
          <p:spPr>
            <a:xfrm>
              <a:off x="0" y="0"/>
              <a:ext cx="1083437" cy="1571117"/>
            </a:xfrm>
            <a:custGeom>
              <a:avLst/>
              <a:gdLst/>
              <a:ahLst/>
              <a:cxnLst/>
              <a:rect l="l" t="t" r="r" b="b"/>
              <a:pathLst>
                <a:path w="1083437" h="1571117">
                  <a:moveTo>
                    <a:pt x="0" y="0"/>
                  </a:moveTo>
                  <a:lnTo>
                    <a:pt x="1083437" y="0"/>
                  </a:lnTo>
                  <a:lnTo>
                    <a:pt x="1083437" y="1571117"/>
                  </a:lnTo>
                  <a:lnTo>
                    <a:pt x="0" y="1571117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89" name="Group 189"/>
          <p:cNvGrpSpPr/>
          <p:nvPr/>
        </p:nvGrpSpPr>
        <p:grpSpPr>
          <a:xfrm>
            <a:off x="9509760" y="8467344"/>
            <a:ext cx="768096" cy="1133856"/>
            <a:chOff x="0" y="0"/>
            <a:chExt cx="1024128" cy="1511808"/>
          </a:xfrm>
        </p:grpSpPr>
        <p:sp>
          <p:nvSpPr>
            <p:cNvPr id="190" name="Freeform 190"/>
            <p:cNvSpPr/>
            <p:nvPr/>
          </p:nvSpPr>
          <p:spPr>
            <a:xfrm>
              <a:off x="0" y="0"/>
              <a:ext cx="1024128" cy="1511808"/>
            </a:xfrm>
            <a:custGeom>
              <a:avLst/>
              <a:gdLst/>
              <a:ahLst/>
              <a:cxnLst/>
              <a:rect l="l" t="t" r="r" b="b"/>
              <a:pathLst>
                <a:path w="1024128" h="1511808">
                  <a:moveTo>
                    <a:pt x="0" y="0"/>
                  </a:moveTo>
                  <a:lnTo>
                    <a:pt x="1024128" y="0"/>
                  </a:lnTo>
                  <a:lnTo>
                    <a:pt x="102412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532" r="-13953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91" name="Group 191"/>
          <p:cNvGrpSpPr/>
          <p:nvPr/>
        </p:nvGrpSpPr>
        <p:grpSpPr>
          <a:xfrm>
            <a:off x="9509760" y="8438769"/>
            <a:ext cx="768096" cy="1162431"/>
            <a:chOff x="0" y="0"/>
            <a:chExt cx="1024128" cy="1549908"/>
          </a:xfrm>
        </p:grpSpPr>
        <p:sp>
          <p:nvSpPr>
            <p:cNvPr id="192" name="Freeform 192"/>
            <p:cNvSpPr/>
            <p:nvPr/>
          </p:nvSpPr>
          <p:spPr>
            <a:xfrm>
              <a:off x="0" y="0"/>
              <a:ext cx="1024128" cy="1549908"/>
            </a:xfrm>
            <a:custGeom>
              <a:avLst/>
              <a:gdLst/>
              <a:ahLst/>
              <a:cxnLst/>
              <a:rect l="l" t="t" r="r" b="b"/>
              <a:pathLst>
                <a:path w="1024128" h="1549908">
                  <a:moveTo>
                    <a:pt x="0" y="0"/>
                  </a:moveTo>
                  <a:lnTo>
                    <a:pt x="1024128" y="0"/>
                  </a:lnTo>
                  <a:lnTo>
                    <a:pt x="1024128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4173" r="-1441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0" y="-38100"/>
              <a:ext cx="1024128" cy="1588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94" name="Group 194"/>
          <p:cNvGrpSpPr/>
          <p:nvPr/>
        </p:nvGrpSpPr>
        <p:grpSpPr>
          <a:xfrm>
            <a:off x="10460736" y="8540496"/>
            <a:ext cx="6766560" cy="475488"/>
            <a:chOff x="0" y="0"/>
            <a:chExt cx="9022080" cy="633984"/>
          </a:xfrm>
        </p:grpSpPr>
        <p:sp>
          <p:nvSpPr>
            <p:cNvPr id="195" name="Freeform 195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96" name="Group 196"/>
          <p:cNvGrpSpPr/>
          <p:nvPr/>
        </p:nvGrpSpPr>
        <p:grpSpPr>
          <a:xfrm>
            <a:off x="10460736" y="8511921"/>
            <a:ext cx="6766560" cy="504063"/>
            <a:chOff x="0" y="0"/>
            <a:chExt cx="9022080" cy="672084"/>
          </a:xfrm>
        </p:grpSpPr>
        <p:sp>
          <p:nvSpPr>
            <p:cNvPr id="197" name="Freeform 197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98" name="TextBox 198"/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grpSp>
        <p:nvGrpSpPr>
          <p:cNvPr id="199" name="Group 199"/>
          <p:cNvGrpSpPr/>
          <p:nvPr/>
        </p:nvGrpSpPr>
        <p:grpSpPr>
          <a:xfrm>
            <a:off x="10460736" y="9015984"/>
            <a:ext cx="6766560" cy="475488"/>
            <a:chOff x="0" y="0"/>
            <a:chExt cx="9022080" cy="633984"/>
          </a:xfrm>
        </p:grpSpPr>
        <p:sp>
          <p:nvSpPr>
            <p:cNvPr id="200" name="Freeform 200"/>
            <p:cNvSpPr/>
            <p:nvPr/>
          </p:nvSpPr>
          <p:spPr>
            <a:xfrm>
              <a:off x="0" y="0"/>
              <a:ext cx="9022080" cy="633984"/>
            </a:xfrm>
            <a:custGeom>
              <a:avLst/>
              <a:gdLst/>
              <a:ahLst/>
              <a:cxnLst/>
              <a:rect l="l" t="t" r="r" b="b"/>
              <a:pathLst>
                <a:path w="9022080" h="633984">
                  <a:moveTo>
                    <a:pt x="0" y="0"/>
                  </a:moveTo>
                  <a:lnTo>
                    <a:pt x="9022080" y="0"/>
                  </a:lnTo>
                  <a:lnTo>
                    <a:pt x="9022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093" b="-2270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01" name="Group 201"/>
          <p:cNvGrpSpPr/>
          <p:nvPr/>
        </p:nvGrpSpPr>
        <p:grpSpPr>
          <a:xfrm>
            <a:off x="10460736" y="8987409"/>
            <a:ext cx="6766560" cy="504063"/>
            <a:chOff x="0" y="0"/>
            <a:chExt cx="9022080" cy="672084"/>
          </a:xfrm>
        </p:grpSpPr>
        <p:sp>
          <p:nvSpPr>
            <p:cNvPr id="202" name="Freeform 202"/>
            <p:cNvSpPr/>
            <p:nvPr/>
          </p:nvSpPr>
          <p:spPr>
            <a:xfrm>
              <a:off x="0" y="0"/>
              <a:ext cx="9022080" cy="672084"/>
            </a:xfrm>
            <a:custGeom>
              <a:avLst/>
              <a:gdLst/>
              <a:ahLst/>
              <a:cxnLst/>
              <a:rect l="l" t="t" r="r" b="b"/>
              <a:pathLst>
                <a:path w="9022080" h="672084">
                  <a:moveTo>
                    <a:pt x="0" y="0"/>
                  </a:moveTo>
                  <a:lnTo>
                    <a:pt x="9022080" y="0"/>
                  </a:lnTo>
                  <a:lnTo>
                    <a:pt x="902208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567" b="-2115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03" name="TextBox 203">
              <a:hlinkClick r:id="rId5" action="ppaction://hlinksldjump"/>
            </p:cNvPr>
            <p:cNvSpPr txBox="1"/>
            <p:nvPr/>
          </p:nvSpPr>
          <p:spPr>
            <a:xfrm>
              <a:off x="0" y="-38100"/>
              <a:ext cx="902208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5" action="ppaction://hlinksldjump"/>
                </a:rPr>
                <a:t>Altman (1968) </a:t>
              </a:r>
              <a:r>
                <a:rPr lang="en-US" sz="1800" dirty="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and methodological sources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178" y="380114"/>
            <a:ext cx="3336322" cy="629698"/>
            <a:chOff x="0" y="0"/>
            <a:chExt cx="4448429" cy="839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429" cy="839597"/>
            </a:xfrm>
            <a:custGeom>
              <a:avLst/>
              <a:gdLst/>
              <a:ahLst/>
              <a:cxnLst/>
              <a:rect l="l" t="t" r="r" b="b"/>
              <a:pathLst>
                <a:path w="4448429" h="839597">
                  <a:moveTo>
                    <a:pt x="0" y="0"/>
                  </a:moveTo>
                  <a:lnTo>
                    <a:pt x="4448429" y="0"/>
                  </a:lnTo>
                  <a:lnTo>
                    <a:pt x="4448429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402336"/>
            <a:ext cx="3291840" cy="585216"/>
            <a:chOff x="0" y="0"/>
            <a:chExt cx="438912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780288"/>
            </a:xfrm>
            <a:custGeom>
              <a:avLst/>
              <a:gdLst/>
              <a:ahLst/>
              <a:cxnLst/>
              <a:rect l="l" t="t" r="r" b="b"/>
              <a:pathLst>
                <a:path w="4389120" h="780288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26" b="-5952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80905"/>
            <a:ext cx="3291840" cy="606647"/>
            <a:chOff x="0" y="0"/>
            <a:chExt cx="4389120" cy="8088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808863"/>
            </a:xfrm>
            <a:custGeom>
              <a:avLst/>
              <a:gdLst/>
              <a:ahLst/>
              <a:cxnLst/>
              <a:rect l="l" t="t" r="r" b="b"/>
              <a:pathLst>
                <a:path w="4389120" h="808863">
                  <a:moveTo>
                    <a:pt x="0" y="0"/>
                  </a:moveTo>
                  <a:lnTo>
                    <a:pt x="4389120" y="0"/>
                  </a:lnTo>
                  <a:lnTo>
                    <a:pt x="4389120" y="808863"/>
                  </a:lnTo>
                  <a:lnTo>
                    <a:pt x="0" y="8088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731" b="-5573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3891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spc="4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SETUP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133856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347" b="-200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048131"/>
            <a:ext cx="16459200" cy="1365885"/>
            <a:chOff x="0" y="0"/>
            <a:chExt cx="21945600" cy="18211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821180"/>
            </a:xfrm>
            <a:custGeom>
              <a:avLst/>
              <a:gdLst/>
              <a:ahLst/>
              <a:cxnLst/>
              <a:rect l="l" t="t" r="r" b="b"/>
              <a:pathLst>
                <a:path w="21945600" h="1821180">
                  <a:moveTo>
                    <a:pt x="0" y="0"/>
                  </a:moveTo>
                  <a:lnTo>
                    <a:pt x="21945600" y="0"/>
                  </a:lnTo>
                  <a:lnTo>
                    <a:pt x="21945600" y="1821180"/>
                  </a:lnTo>
                  <a:lnTo>
                    <a:pt x="0" y="1821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798" b="-18479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1945600" cy="1954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 Task &amp; Data Overview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2340864"/>
            <a:ext cx="16459200" cy="640080"/>
            <a:chOff x="0" y="0"/>
            <a:chExt cx="21945600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694" b="-45069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2298002"/>
            <a:ext cx="16459200" cy="682943"/>
            <a:chOff x="0" y="0"/>
            <a:chExt cx="21945600" cy="9105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45600" cy="910590"/>
            </a:xfrm>
            <a:custGeom>
              <a:avLst/>
              <a:gdLst/>
              <a:ahLst/>
              <a:cxnLst/>
              <a:rect l="l" t="t" r="r" b="b"/>
              <a:pathLst>
                <a:path w="21945600" h="910590">
                  <a:moveTo>
                    <a:pt x="0" y="0"/>
                  </a:moveTo>
                  <a:lnTo>
                    <a:pt x="21945600" y="0"/>
                  </a:lnTo>
                  <a:lnTo>
                    <a:pt x="2194560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9597" b="-41959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1945600" cy="9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Binary classification: will a firm go bankrupt within 12 months?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2178" y="3086738"/>
            <a:ext cx="7908322" cy="6353842"/>
            <a:chOff x="0" y="0"/>
            <a:chExt cx="10544429" cy="847178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44429" cy="8471789"/>
            </a:xfrm>
            <a:custGeom>
              <a:avLst/>
              <a:gdLst/>
              <a:ahLst/>
              <a:cxnLst/>
              <a:rect l="l" t="t" r="r" b="b"/>
              <a:pathLst>
                <a:path w="10544429" h="8471789">
                  <a:moveTo>
                    <a:pt x="0" y="0"/>
                  </a:moveTo>
                  <a:lnTo>
                    <a:pt x="10544429" y="0"/>
                  </a:lnTo>
                  <a:lnTo>
                    <a:pt x="10544429" y="8471789"/>
                  </a:lnTo>
                  <a:lnTo>
                    <a:pt x="0" y="8471789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" y="3328416"/>
            <a:ext cx="7863840" cy="731520"/>
            <a:chOff x="0" y="0"/>
            <a:chExt cx="10485120" cy="975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85120" cy="975360"/>
            </a:xfrm>
            <a:custGeom>
              <a:avLst/>
              <a:gdLst/>
              <a:ahLst/>
              <a:cxnLst/>
              <a:rect l="l" t="t" r="r" b="b"/>
              <a:pathLst>
                <a:path w="10485120" h="97536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19" b="-15931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" y="3278410"/>
            <a:ext cx="7863840" cy="781526"/>
            <a:chOff x="0" y="0"/>
            <a:chExt cx="10485120" cy="104203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485120" cy="1042035"/>
            </a:xfrm>
            <a:custGeom>
              <a:avLst/>
              <a:gdLst/>
              <a:ahLst/>
              <a:cxnLst/>
              <a:rect l="l" t="t" r="r" b="b"/>
              <a:pathLst>
                <a:path w="10485120" h="1042035">
                  <a:moveTo>
                    <a:pt x="0" y="0"/>
                  </a:moveTo>
                  <a:lnTo>
                    <a:pt x="10485120" y="0"/>
                  </a:lnTo>
                  <a:lnTo>
                    <a:pt x="10485120" y="1042035"/>
                  </a:lnTo>
                  <a:lnTo>
                    <a:pt x="0" y="1042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061" b="-14606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10485120" cy="1108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66498" y="4275458"/>
            <a:ext cx="1416082" cy="556546"/>
            <a:chOff x="0" y="0"/>
            <a:chExt cx="1888109" cy="74206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88109" cy="742061"/>
            </a:xfrm>
            <a:custGeom>
              <a:avLst/>
              <a:gdLst/>
              <a:ahLst/>
              <a:cxnLst/>
              <a:rect l="l" t="t" r="r" b="b"/>
              <a:pathLst>
                <a:path w="1888109" h="742061">
                  <a:moveTo>
                    <a:pt x="0" y="0"/>
                  </a:moveTo>
                  <a:lnTo>
                    <a:pt x="1888109" y="0"/>
                  </a:lnTo>
                  <a:lnTo>
                    <a:pt x="1888109" y="742061"/>
                  </a:lnTo>
                  <a:lnTo>
                    <a:pt x="0" y="742061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8720" y="4297680"/>
            <a:ext cx="1371600" cy="512064"/>
            <a:chOff x="0" y="0"/>
            <a:chExt cx="1828800" cy="6827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5" b="-215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88720" y="4269105"/>
            <a:ext cx="1371600" cy="540639"/>
            <a:chOff x="0" y="0"/>
            <a:chExt cx="1828800" cy="7208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828800" cy="720852"/>
            </a:xfrm>
            <a:custGeom>
              <a:avLst/>
              <a:gdLst/>
              <a:ahLst/>
              <a:cxnLst/>
              <a:rect l="l" t="t" r="r" b="b"/>
              <a:pathLst>
                <a:path w="1828800" h="720852">
                  <a:moveTo>
                    <a:pt x="0" y="0"/>
                  </a:moveTo>
                  <a:lnTo>
                    <a:pt x="1828800" y="0"/>
                  </a:lnTo>
                  <a:lnTo>
                    <a:pt x="18288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72" r="-57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82880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 = 1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743200" y="4231843"/>
            <a:ext cx="5669280" cy="689153"/>
            <a:chOff x="0" y="0"/>
            <a:chExt cx="7559040" cy="91887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559040" cy="918845"/>
            </a:xfrm>
            <a:custGeom>
              <a:avLst/>
              <a:gdLst/>
              <a:ahLst/>
              <a:cxnLst/>
              <a:rect l="l" t="t" r="r" b="b"/>
              <a:pathLst>
                <a:path w="7559040" h="918845">
                  <a:moveTo>
                    <a:pt x="0" y="0"/>
                  </a:moveTo>
                  <a:lnTo>
                    <a:pt x="7559040" y="0"/>
                  </a:lnTo>
                  <a:lnTo>
                    <a:pt x="7559040" y="918845"/>
                  </a:lnTo>
                  <a:lnTo>
                    <a:pt x="0" y="9188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183" b="-11018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743200" y="4203268"/>
            <a:ext cx="5669280" cy="717728"/>
            <a:chOff x="0" y="0"/>
            <a:chExt cx="7559040" cy="95697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559040" cy="956965"/>
            </a:xfrm>
            <a:custGeom>
              <a:avLst/>
              <a:gdLst/>
              <a:ahLst/>
              <a:cxnLst/>
              <a:rect l="l" t="t" r="r" b="b"/>
              <a:pathLst>
                <a:path w="7559040" h="956965">
                  <a:moveTo>
                    <a:pt x="0" y="0"/>
                  </a:moveTo>
                  <a:lnTo>
                    <a:pt x="7559040" y="0"/>
                  </a:lnTo>
                  <a:lnTo>
                    <a:pt x="7559040" y="956965"/>
                  </a:lnTo>
                  <a:lnTo>
                    <a:pt x="0" y="9569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3911" b="-10391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559040" cy="995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Bankruptcy within 12 months (bankruptcy, insolvency, liquidation, restructuring)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66498" y="5592194"/>
            <a:ext cx="1416082" cy="556546"/>
            <a:chOff x="0" y="0"/>
            <a:chExt cx="1888109" cy="74206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888109" cy="742061"/>
            </a:xfrm>
            <a:custGeom>
              <a:avLst/>
              <a:gdLst/>
              <a:ahLst/>
              <a:cxnLst/>
              <a:rect l="l" t="t" r="r" b="b"/>
              <a:pathLst>
                <a:path w="1888109" h="742061">
                  <a:moveTo>
                    <a:pt x="0" y="0"/>
                  </a:moveTo>
                  <a:lnTo>
                    <a:pt x="1888109" y="0"/>
                  </a:lnTo>
                  <a:lnTo>
                    <a:pt x="1888109" y="742061"/>
                  </a:lnTo>
                  <a:lnTo>
                    <a:pt x="0" y="742061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88720" y="5614416"/>
            <a:ext cx="1371600" cy="512064"/>
            <a:chOff x="0" y="0"/>
            <a:chExt cx="1828800" cy="68275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5" b="-215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88720" y="5585841"/>
            <a:ext cx="1371600" cy="540639"/>
            <a:chOff x="0" y="0"/>
            <a:chExt cx="1828800" cy="72085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828800" cy="720852"/>
            </a:xfrm>
            <a:custGeom>
              <a:avLst/>
              <a:gdLst/>
              <a:ahLst/>
              <a:cxnLst/>
              <a:rect l="l" t="t" r="r" b="b"/>
              <a:pathLst>
                <a:path w="1828800" h="720852">
                  <a:moveTo>
                    <a:pt x="0" y="0"/>
                  </a:moveTo>
                  <a:lnTo>
                    <a:pt x="1828800" y="0"/>
                  </a:lnTo>
                  <a:lnTo>
                    <a:pt x="18288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72" r="-57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82880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 = 0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743200" y="5468122"/>
            <a:ext cx="5669280" cy="804672"/>
            <a:chOff x="0" y="0"/>
            <a:chExt cx="7559040" cy="107289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559040" cy="1072896"/>
            </a:xfrm>
            <a:custGeom>
              <a:avLst/>
              <a:gdLst/>
              <a:ahLst/>
              <a:cxnLst/>
              <a:rect l="l" t="t" r="r" b="b"/>
              <a:pathLst>
                <a:path w="7559040" h="1072896">
                  <a:moveTo>
                    <a:pt x="0" y="0"/>
                  </a:moveTo>
                  <a:lnTo>
                    <a:pt x="7559040" y="0"/>
                  </a:lnTo>
                  <a:lnTo>
                    <a:pt x="7559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185" b="-8718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743200" y="5439547"/>
            <a:ext cx="5669280" cy="833247"/>
            <a:chOff x="0" y="0"/>
            <a:chExt cx="7559040" cy="111099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559040" cy="1110996"/>
            </a:xfrm>
            <a:custGeom>
              <a:avLst/>
              <a:gdLst/>
              <a:ahLst/>
              <a:cxnLst/>
              <a:rect l="l" t="t" r="r" b="b"/>
              <a:pathLst>
                <a:path w="7559040" h="1110996">
                  <a:moveTo>
                    <a:pt x="0" y="0"/>
                  </a:moveTo>
                  <a:lnTo>
                    <a:pt x="7559040" y="0"/>
                  </a:lnTo>
                  <a:lnTo>
                    <a:pt x="7559040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573" b="-825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7559040" cy="1149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observed default event — firm may still be risky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66498" y="6908930"/>
            <a:ext cx="1416082" cy="556546"/>
            <a:chOff x="0" y="0"/>
            <a:chExt cx="1888109" cy="74206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888109" cy="742061"/>
            </a:xfrm>
            <a:custGeom>
              <a:avLst/>
              <a:gdLst/>
              <a:ahLst/>
              <a:cxnLst/>
              <a:rect l="l" t="t" r="r" b="b"/>
              <a:pathLst>
                <a:path w="1888109" h="742061">
                  <a:moveTo>
                    <a:pt x="0" y="0"/>
                  </a:moveTo>
                  <a:lnTo>
                    <a:pt x="1888109" y="0"/>
                  </a:lnTo>
                  <a:lnTo>
                    <a:pt x="1888109" y="742061"/>
                  </a:lnTo>
                  <a:lnTo>
                    <a:pt x="0" y="742061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88720" y="6931152"/>
            <a:ext cx="1371600" cy="512064"/>
            <a:chOff x="0" y="0"/>
            <a:chExt cx="1828800" cy="68275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5" b="-215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88720" y="6902577"/>
            <a:ext cx="1371600" cy="540639"/>
            <a:chOff x="0" y="0"/>
            <a:chExt cx="1828800" cy="72085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828800" cy="720852"/>
            </a:xfrm>
            <a:custGeom>
              <a:avLst/>
              <a:gdLst/>
              <a:ahLst/>
              <a:cxnLst/>
              <a:rect l="l" t="t" r="r" b="b"/>
              <a:pathLst>
                <a:path w="1828800" h="720852">
                  <a:moveTo>
                    <a:pt x="0" y="0"/>
                  </a:moveTo>
                  <a:lnTo>
                    <a:pt x="1828800" y="0"/>
                  </a:lnTo>
                  <a:lnTo>
                    <a:pt x="18288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72" r="-57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182880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743200" y="6784858"/>
            <a:ext cx="5669280" cy="804672"/>
            <a:chOff x="0" y="0"/>
            <a:chExt cx="7559040" cy="107289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559040" cy="1072896"/>
            </a:xfrm>
            <a:custGeom>
              <a:avLst/>
              <a:gdLst/>
              <a:ahLst/>
              <a:cxnLst/>
              <a:rect l="l" t="t" r="r" b="b"/>
              <a:pathLst>
                <a:path w="7559040" h="1072896">
                  <a:moveTo>
                    <a:pt x="0" y="0"/>
                  </a:moveTo>
                  <a:lnTo>
                    <a:pt x="7559040" y="0"/>
                  </a:lnTo>
                  <a:lnTo>
                    <a:pt x="7559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185" b="-8718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743200" y="6756283"/>
            <a:ext cx="5669280" cy="833247"/>
            <a:chOff x="0" y="0"/>
            <a:chExt cx="7559040" cy="11109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559040" cy="1110996"/>
            </a:xfrm>
            <a:custGeom>
              <a:avLst/>
              <a:gdLst/>
              <a:ahLst/>
              <a:cxnLst/>
              <a:rect l="l" t="t" r="r" b="b"/>
              <a:pathLst>
                <a:path w="7559040" h="1110996">
                  <a:moveTo>
                    <a:pt x="0" y="0"/>
                  </a:moveTo>
                  <a:lnTo>
                    <a:pt x="7559040" y="0"/>
                  </a:lnTo>
                  <a:lnTo>
                    <a:pt x="7559040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573" b="-825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7559040" cy="1149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statement ratios at time t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66498" y="8225666"/>
            <a:ext cx="1416082" cy="556546"/>
            <a:chOff x="0" y="0"/>
            <a:chExt cx="1888109" cy="742061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888109" cy="742061"/>
            </a:xfrm>
            <a:custGeom>
              <a:avLst/>
              <a:gdLst/>
              <a:ahLst/>
              <a:cxnLst/>
              <a:rect l="l" t="t" r="r" b="b"/>
              <a:pathLst>
                <a:path w="1888109" h="742061">
                  <a:moveTo>
                    <a:pt x="0" y="0"/>
                  </a:moveTo>
                  <a:lnTo>
                    <a:pt x="1888109" y="0"/>
                  </a:lnTo>
                  <a:lnTo>
                    <a:pt x="1888109" y="742061"/>
                  </a:lnTo>
                  <a:lnTo>
                    <a:pt x="0" y="742061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88720" y="8247888"/>
            <a:ext cx="1371600" cy="512064"/>
            <a:chOff x="0" y="0"/>
            <a:chExt cx="1828800" cy="68275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828800" cy="682752"/>
            </a:xfrm>
            <a:custGeom>
              <a:avLst/>
              <a:gdLst/>
              <a:ahLst/>
              <a:cxnLst/>
              <a:rect l="l" t="t" r="r" b="b"/>
              <a:pathLst>
                <a:path w="1828800" h="682752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5" b="-215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188720" y="8219313"/>
            <a:ext cx="1371600" cy="540639"/>
            <a:chOff x="0" y="0"/>
            <a:chExt cx="1828800" cy="72085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828800" cy="720852"/>
            </a:xfrm>
            <a:custGeom>
              <a:avLst/>
              <a:gdLst/>
              <a:ahLst/>
              <a:cxnLst/>
              <a:rect l="l" t="t" r="r" b="b"/>
              <a:pathLst>
                <a:path w="1828800" h="720852">
                  <a:moveTo>
                    <a:pt x="0" y="0"/>
                  </a:moveTo>
                  <a:lnTo>
                    <a:pt x="1828800" y="0"/>
                  </a:lnTo>
                  <a:lnTo>
                    <a:pt x="18288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72" r="-57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182880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743200" y="8101584"/>
            <a:ext cx="5669280" cy="804672"/>
            <a:chOff x="0" y="0"/>
            <a:chExt cx="7559040" cy="107289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559040" cy="1072896"/>
            </a:xfrm>
            <a:custGeom>
              <a:avLst/>
              <a:gdLst/>
              <a:ahLst/>
              <a:cxnLst/>
              <a:rect l="l" t="t" r="r" b="b"/>
              <a:pathLst>
                <a:path w="7559040" h="1072896">
                  <a:moveTo>
                    <a:pt x="0" y="0"/>
                  </a:moveTo>
                  <a:lnTo>
                    <a:pt x="7559040" y="0"/>
                  </a:lnTo>
                  <a:lnTo>
                    <a:pt x="7559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185" b="-8718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2743200" y="8073009"/>
            <a:ext cx="5669280" cy="833247"/>
            <a:chOff x="0" y="0"/>
            <a:chExt cx="7559040" cy="111099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559040" cy="1110996"/>
            </a:xfrm>
            <a:custGeom>
              <a:avLst/>
              <a:gdLst/>
              <a:ahLst/>
              <a:cxnLst/>
              <a:rect l="l" t="t" r="r" b="b"/>
              <a:pathLst>
                <a:path w="7559040" h="1110996">
                  <a:moveTo>
                    <a:pt x="0" y="0"/>
                  </a:moveTo>
                  <a:lnTo>
                    <a:pt x="7559040" y="0"/>
                  </a:lnTo>
                  <a:lnTo>
                    <a:pt x="7559040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2573" b="-8257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7559040" cy="1149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Predicted probability → binary label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260205" y="3078861"/>
            <a:ext cx="3973830" cy="1870710"/>
            <a:chOff x="0" y="0"/>
            <a:chExt cx="5298440" cy="249428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298440" cy="2494280"/>
            </a:xfrm>
            <a:custGeom>
              <a:avLst/>
              <a:gdLst/>
              <a:ahLst/>
              <a:cxnLst/>
              <a:rect l="l" t="t" r="r" b="b"/>
              <a:pathLst>
                <a:path w="5298440" h="2494280">
                  <a:moveTo>
                    <a:pt x="0" y="0"/>
                  </a:moveTo>
                  <a:lnTo>
                    <a:pt x="5298440" y="0"/>
                  </a:lnTo>
                  <a:lnTo>
                    <a:pt x="5298440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326880" y="3291840"/>
            <a:ext cx="3840480" cy="955548"/>
            <a:chOff x="0" y="0"/>
            <a:chExt cx="5120640" cy="127406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5120640" cy="1274064"/>
            </a:xfrm>
            <a:custGeom>
              <a:avLst/>
              <a:gdLst/>
              <a:ahLst/>
              <a:cxnLst/>
              <a:rect l="l" t="t" r="r" b="b"/>
              <a:pathLst>
                <a:path w="5120640" h="1274064">
                  <a:moveTo>
                    <a:pt x="0" y="0"/>
                  </a:moveTo>
                  <a:lnTo>
                    <a:pt x="5120640" y="0"/>
                  </a:lnTo>
                  <a:lnTo>
                    <a:pt x="5120640" y="1274064"/>
                  </a:lnTo>
                  <a:lnTo>
                    <a:pt x="0" y="1274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258" b="-2825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326880" y="3198971"/>
            <a:ext cx="3840480" cy="1048417"/>
            <a:chOff x="0" y="0"/>
            <a:chExt cx="5120640" cy="1397889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5120640" cy="1397889"/>
            </a:xfrm>
            <a:custGeom>
              <a:avLst/>
              <a:gdLst/>
              <a:ahLst/>
              <a:cxnLst/>
              <a:rect l="l" t="t" r="r" b="b"/>
              <a:pathLst>
                <a:path w="5120640" h="1397889">
                  <a:moveTo>
                    <a:pt x="0" y="0"/>
                  </a:moveTo>
                  <a:lnTo>
                    <a:pt x="5120640" y="0"/>
                  </a:lnTo>
                  <a:lnTo>
                    <a:pt x="5120640" y="1397889"/>
                  </a:lnTo>
                  <a:lnTo>
                    <a:pt x="0" y="13978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376" b="-2137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123825"/>
              <a:ext cx="5120640" cy="152171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2A3F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1,780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9326880" y="4057955"/>
            <a:ext cx="3840480" cy="75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Training firms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13557885" y="3078861"/>
            <a:ext cx="3973830" cy="1870710"/>
            <a:chOff x="0" y="0"/>
            <a:chExt cx="5298440" cy="249428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298440" cy="2494280"/>
            </a:xfrm>
            <a:custGeom>
              <a:avLst/>
              <a:gdLst/>
              <a:ahLst/>
              <a:cxnLst/>
              <a:rect l="l" t="t" r="r" b="b"/>
              <a:pathLst>
                <a:path w="5298440" h="2494280">
                  <a:moveTo>
                    <a:pt x="0" y="0"/>
                  </a:moveTo>
                  <a:lnTo>
                    <a:pt x="5298440" y="0"/>
                  </a:lnTo>
                  <a:lnTo>
                    <a:pt x="5298440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3624560" y="3291840"/>
            <a:ext cx="3840480" cy="955548"/>
            <a:chOff x="0" y="0"/>
            <a:chExt cx="5120640" cy="127406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5120640" cy="1274064"/>
            </a:xfrm>
            <a:custGeom>
              <a:avLst/>
              <a:gdLst/>
              <a:ahLst/>
              <a:cxnLst/>
              <a:rect l="l" t="t" r="r" b="b"/>
              <a:pathLst>
                <a:path w="5120640" h="1274064">
                  <a:moveTo>
                    <a:pt x="0" y="0"/>
                  </a:moveTo>
                  <a:lnTo>
                    <a:pt x="5120640" y="0"/>
                  </a:lnTo>
                  <a:lnTo>
                    <a:pt x="5120640" y="1274064"/>
                  </a:lnTo>
                  <a:lnTo>
                    <a:pt x="0" y="1274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258" b="-2825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3624560" y="3198971"/>
            <a:ext cx="3840480" cy="1048417"/>
            <a:chOff x="0" y="0"/>
            <a:chExt cx="5120640" cy="1397889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120640" cy="1397889"/>
            </a:xfrm>
            <a:custGeom>
              <a:avLst/>
              <a:gdLst/>
              <a:ahLst/>
              <a:cxnLst/>
              <a:rect l="l" t="t" r="r" b="b"/>
              <a:pathLst>
                <a:path w="5120640" h="1397889">
                  <a:moveTo>
                    <a:pt x="0" y="0"/>
                  </a:moveTo>
                  <a:lnTo>
                    <a:pt x="5120640" y="0"/>
                  </a:lnTo>
                  <a:lnTo>
                    <a:pt x="5120640" y="1397889"/>
                  </a:lnTo>
                  <a:lnTo>
                    <a:pt x="0" y="13978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376" b="-2137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23825"/>
              <a:ext cx="5120640" cy="152171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2A3F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446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3624560" y="4057955"/>
            <a:ext cx="3840480" cy="75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Test firms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9260205" y="5090541"/>
            <a:ext cx="3973830" cy="1870710"/>
            <a:chOff x="0" y="0"/>
            <a:chExt cx="5298440" cy="249428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298440" cy="2494280"/>
            </a:xfrm>
            <a:custGeom>
              <a:avLst/>
              <a:gdLst/>
              <a:ahLst/>
              <a:cxnLst/>
              <a:rect l="l" t="t" r="r" b="b"/>
              <a:pathLst>
                <a:path w="5298440" h="2494280">
                  <a:moveTo>
                    <a:pt x="0" y="0"/>
                  </a:moveTo>
                  <a:lnTo>
                    <a:pt x="5298440" y="0"/>
                  </a:lnTo>
                  <a:lnTo>
                    <a:pt x="5298440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7AE6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326880" y="5303520"/>
            <a:ext cx="3840480" cy="955548"/>
            <a:chOff x="0" y="0"/>
            <a:chExt cx="5120640" cy="127406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5120640" cy="1274064"/>
            </a:xfrm>
            <a:custGeom>
              <a:avLst/>
              <a:gdLst/>
              <a:ahLst/>
              <a:cxnLst/>
              <a:rect l="l" t="t" r="r" b="b"/>
              <a:pathLst>
                <a:path w="5120640" h="1274064">
                  <a:moveTo>
                    <a:pt x="0" y="0"/>
                  </a:moveTo>
                  <a:lnTo>
                    <a:pt x="5120640" y="0"/>
                  </a:lnTo>
                  <a:lnTo>
                    <a:pt x="5120640" y="1274064"/>
                  </a:lnTo>
                  <a:lnTo>
                    <a:pt x="0" y="1274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258" b="-2825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326880" y="5210651"/>
            <a:ext cx="3840480" cy="1048417"/>
            <a:chOff x="0" y="0"/>
            <a:chExt cx="5120640" cy="1397889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5120640" cy="1397889"/>
            </a:xfrm>
            <a:custGeom>
              <a:avLst/>
              <a:gdLst/>
              <a:ahLst/>
              <a:cxnLst/>
              <a:rect l="l" t="t" r="r" b="b"/>
              <a:pathLst>
                <a:path w="5120640" h="1397889">
                  <a:moveTo>
                    <a:pt x="0" y="0"/>
                  </a:moveTo>
                  <a:lnTo>
                    <a:pt x="5120640" y="0"/>
                  </a:lnTo>
                  <a:lnTo>
                    <a:pt x="5120640" y="1397889"/>
                  </a:lnTo>
                  <a:lnTo>
                    <a:pt x="0" y="13978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376" b="-2137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123825"/>
              <a:ext cx="5120640" cy="152171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112</a:t>
              </a:r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9326880" y="6069635"/>
            <a:ext cx="3840480" cy="75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Bankrupt (train)</a:t>
            </a:r>
          </a:p>
        </p:txBody>
      </p:sp>
      <p:grpSp>
        <p:nvGrpSpPr>
          <p:cNvPr id="98" name="Group 98"/>
          <p:cNvGrpSpPr/>
          <p:nvPr/>
        </p:nvGrpSpPr>
        <p:grpSpPr>
          <a:xfrm>
            <a:off x="13557885" y="5090541"/>
            <a:ext cx="3973830" cy="1870710"/>
            <a:chOff x="0" y="0"/>
            <a:chExt cx="5298440" cy="249428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5298440" cy="2494280"/>
            </a:xfrm>
            <a:custGeom>
              <a:avLst/>
              <a:gdLst/>
              <a:ahLst/>
              <a:cxnLst/>
              <a:rect l="l" t="t" r="r" b="b"/>
              <a:pathLst>
                <a:path w="5298440" h="2494280">
                  <a:moveTo>
                    <a:pt x="0" y="0"/>
                  </a:moveTo>
                  <a:lnTo>
                    <a:pt x="5298440" y="0"/>
                  </a:lnTo>
                  <a:lnTo>
                    <a:pt x="5298440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E74C3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3624560" y="5303520"/>
            <a:ext cx="3840480" cy="955548"/>
            <a:chOff x="0" y="0"/>
            <a:chExt cx="5120640" cy="1274064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5120640" cy="1274064"/>
            </a:xfrm>
            <a:custGeom>
              <a:avLst/>
              <a:gdLst/>
              <a:ahLst/>
              <a:cxnLst/>
              <a:rect l="l" t="t" r="r" b="b"/>
              <a:pathLst>
                <a:path w="5120640" h="1274064">
                  <a:moveTo>
                    <a:pt x="0" y="0"/>
                  </a:moveTo>
                  <a:lnTo>
                    <a:pt x="5120640" y="0"/>
                  </a:lnTo>
                  <a:lnTo>
                    <a:pt x="5120640" y="1274064"/>
                  </a:lnTo>
                  <a:lnTo>
                    <a:pt x="0" y="1274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258" b="-2825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3624560" y="5210651"/>
            <a:ext cx="3840480" cy="1048417"/>
            <a:chOff x="0" y="0"/>
            <a:chExt cx="5120640" cy="1397889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5120640" cy="1397889"/>
            </a:xfrm>
            <a:custGeom>
              <a:avLst/>
              <a:gdLst/>
              <a:ahLst/>
              <a:cxnLst/>
              <a:rect l="l" t="t" r="r" b="b"/>
              <a:pathLst>
                <a:path w="5120640" h="1397889">
                  <a:moveTo>
                    <a:pt x="0" y="0"/>
                  </a:moveTo>
                  <a:lnTo>
                    <a:pt x="5120640" y="0"/>
                  </a:lnTo>
                  <a:lnTo>
                    <a:pt x="5120640" y="1397889"/>
                  </a:lnTo>
                  <a:lnTo>
                    <a:pt x="0" y="13978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376" b="-2137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123825"/>
              <a:ext cx="5120640" cy="152171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7.9%</a:t>
              </a:r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13624560" y="6069635"/>
            <a:ext cx="3840480" cy="75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Default rate</a:t>
            </a:r>
          </a:p>
        </p:txBody>
      </p:sp>
      <p:grpSp>
        <p:nvGrpSpPr>
          <p:cNvPr id="106" name="Group 106"/>
          <p:cNvGrpSpPr/>
          <p:nvPr/>
        </p:nvGrpSpPr>
        <p:grpSpPr>
          <a:xfrm>
            <a:off x="9260205" y="7102221"/>
            <a:ext cx="3973830" cy="1870710"/>
            <a:chOff x="0" y="0"/>
            <a:chExt cx="5298440" cy="249428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5298440" cy="2494280"/>
            </a:xfrm>
            <a:custGeom>
              <a:avLst/>
              <a:gdLst/>
              <a:ahLst/>
              <a:cxnLst/>
              <a:rect l="l" t="t" r="r" b="b"/>
              <a:pathLst>
                <a:path w="5298440" h="2494280">
                  <a:moveTo>
                    <a:pt x="0" y="0"/>
                  </a:moveTo>
                  <a:lnTo>
                    <a:pt x="5298440" y="0"/>
                  </a:lnTo>
                  <a:lnTo>
                    <a:pt x="5298440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F39C12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326880" y="7315200"/>
            <a:ext cx="3840480" cy="955548"/>
            <a:chOff x="0" y="0"/>
            <a:chExt cx="5120640" cy="1274064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5120640" cy="1274064"/>
            </a:xfrm>
            <a:custGeom>
              <a:avLst/>
              <a:gdLst/>
              <a:ahLst/>
              <a:cxnLst/>
              <a:rect l="l" t="t" r="r" b="b"/>
              <a:pathLst>
                <a:path w="5120640" h="1274064">
                  <a:moveTo>
                    <a:pt x="0" y="0"/>
                  </a:moveTo>
                  <a:lnTo>
                    <a:pt x="5120640" y="0"/>
                  </a:lnTo>
                  <a:lnTo>
                    <a:pt x="5120640" y="1274064"/>
                  </a:lnTo>
                  <a:lnTo>
                    <a:pt x="0" y="1274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258" b="-2825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326880" y="7222331"/>
            <a:ext cx="3840480" cy="1048417"/>
            <a:chOff x="0" y="0"/>
            <a:chExt cx="5120640" cy="1397889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5120640" cy="1397889"/>
            </a:xfrm>
            <a:custGeom>
              <a:avLst/>
              <a:gdLst/>
              <a:ahLst/>
              <a:cxnLst/>
              <a:rect l="l" t="t" r="r" b="b"/>
              <a:pathLst>
                <a:path w="5120640" h="1397889">
                  <a:moveTo>
                    <a:pt x="0" y="0"/>
                  </a:moveTo>
                  <a:lnTo>
                    <a:pt x="5120640" y="0"/>
                  </a:lnTo>
                  <a:lnTo>
                    <a:pt x="5120640" y="1397889"/>
                  </a:lnTo>
                  <a:lnTo>
                    <a:pt x="0" y="13978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376" b="-2137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123825"/>
              <a:ext cx="5120640" cy="152171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id="113" name="TextBox 113"/>
          <p:cNvSpPr txBox="1"/>
          <p:nvPr/>
        </p:nvSpPr>
        <p:spPr>
          <a:xfrm>
            <a:off x="9326880" y="8081315"/>
            <a:ext cx="3840480" cy="75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Years: 2016–2018</a:t>
            </a:r>
          </a:p>
        </p:txBody>
      </p:sp>
      <p:grpSp>
        <p:nvGrpSpPr>
          <p:cNvPr id="114" name="Group 114"/>
          <p:cNvGrpSpPr/>
          <p:nvPr/>
        </p:nvGrpSpPr>
        <p:grpSpPr>
          <a:xfrm>
            <a:off x="13557885" y="7102221"/>
            <a:ext cx="3973830" cy="1870710"/>
            <a:chOff x="0" y="0"/>
            <a:chExt cx="5298440" cy="2494280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5298440" cy="2494280"/>
            </a:xfrm>
            <a:custGeom>
              <a:avLst/>
              <a:gdLst/>
              <a:ahLst/>
              <a:cxnLst/>
              <a:rect l="l" t="t" r="r" b="b"/>
              <a:pathLst>
                <a:path w="5298440" h="2494280">
                  <a:moveTo>
                    <a:pt x="0" y="0"/>
                  </a:moveTo>
                  <a:lnTo>
                    <a:pt x="5298440" y="0"/>
                  </a:lnTo>
                  <a:lnTo>
                    <a:pt x="5298440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3624560" y="7315200"/>
            <a:ext cx="3840480" cy="955548"/>
            <a:chOff x="0" y="0"/>
            <a:chExt cx="5120640" cy="1274064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5120640" cy="1274064"/>
            </a:xfrm>
            <a:custGeom>
              <a:avLst/>
              <a:gdLst/>
              <a:ahLst/>
              <a:cxnLst/>
              <a:rect l="l" t="t" r="r" b="b"/>
              <a:pathLst>
                <a:path w="5120640" h="1274064">
                  <a:moveTo>
                    <a:pt x="0" y="0"/>
                  </a:moveTo>
                  <a:lnTo>
                    <a:pt x="5120640" y="0"/>
                  </a:lnTo>
                  <a:lnTo>
                    <a:pt x="5120640" y="1274064"/>
                  </a:lnTo>
                  <a:lnTo>
                    <a:pt x="0" y="1274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258" b="-2825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3624560" y="7222331"/>
            <a:ext cx="3840480" cy="1048417"/>
            <a:chOff x="0" y="0"/>
            <a:chExt cx="5120640" cy="1397889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5120640" cy="1397889"/>
            </a:xfrm>
            <a:custGeom>
              <a:avLst/>
              <a:gdLst/>
              <a:ahLst/>
              <a:cxnLst/>
              <a:rect l="l" t="t" r="r" b="b"/>
              <a:pathLst>
                <a:path w="5120640" h="1397889">
                  <a:moveTo>
                    <a:pt x="0" y="0"/>
                  </a:moveTo>
                  <a:lnTo>
                    <a:pt x="5120640" y="0"/>
                  </a:lnTo>
                  <a:lnTo>
                    <a:pt x="5120640" y="1397889"/>
                  </a:lnTo>
                  <a:lnTo>
                    <a:pt x="0" y="13978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376" b="-2137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0" y="-123825"/>
              <a:ext cx="5120640" cy="152171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2A3F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</a:t>
              </a:r>
            </a:p>
          </p:txBody>
        </p:sp>
      </p:grpSp>
      <p:sp>
        <p:nvSpPr>
          <p:cNvPr id="121" name="TextBox 121"/>
          <p:cNvSpPr txBox="1"/>
          <p:nvPr/>
        </p:nvSpPr>
        <p:spPr>
          <a:xfrm>
            <a:off x="13624560" y="8081315"/>
            <a:ext cx="3840480" cy="75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Features engineered</a:t>
            </a:r>
          </a:p>
        </p:txBody>
      </p:sp>
      <p:grpSp>
        <p:nvGrpSpPr>
          <p:cNvPr id="122" name="Group 122"/>
          <p:cNvGrpSpPr/>
          <p:nvPr/>
        </p:nvGrpSpPr>
        <p:grpSpPr>
          <a:xfrm>
            <a:off x="9190958" y="9116282"/>
            <a:ext cx="8639842" cy="446818"/>
            <a:chOff x="0" y="0"/>
            <a:chExt cx="11519789" cy="595757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1519789" cy="595757"/>
            </a:xfrm>
            <a:custGeom>
              <a:avLst/>
              <a:gdLst/>
              <a:ahLst/>
              <a:cxnLst/>
              <a:rect l="l" t="t" r="r" b="b"/>
              <a:pathLst>
                <a:path w="11519789" h="595757">
                  <a:moveTo>
                    <a:pt x="0" y="0"/>
                  </a:moveTo>
                  <a:lnTo>
                    <a:pt x="11519789" y="0"/>
                  </a:lnTo>
                  <a:lnTo>
                    <a:pt x="11519789" y="595757"/>
                  </a:lnTo>
                  <a:lnTo>
                    <a:pt x="0" y="595757"/>
                  </a:lnTo>
                  <a:close/>
                </a:path>
              </a:pathLst>
            </a:custGeom>
            <a:solidFill>
              <a:srgbClr val="FFF3CD"/>
            </a:solidFill>
            <a:ln w="25400" cap="sq">
              <a:solidFill>
                <a:srgbClr val="F39C12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9326880" y="9052560"/>
            <a:ext cx="8595360" cy="402336"/>
            <a:chOff x="0" y="0"/>
            <a:chExt cx="11460480" cy="536448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11460480" cy="536448"/>
            </a:xfrm>
            <a:custGeom>
              <a:avLst/>
              <a:gdLst/>
              <a:ahLst/>
              <a:cxnLst/>
              <a:rect l="l" t="t" r="r" b="b"/>
              <a:pathLst>
                <a:path w="11460480" h="536448">
                  <a:moveTo>
                    <a:pt x="0" y="0"/>
                  </a:moveTo>
                  <a:lnTo>
                    <a:pt x="11460480" y="0"/>
                  </a:lnTo>
                  <a:lnTo>
                    <a:pt x="11460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982" b="-36598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8913943" y="9126997"/>
            <a:ext cx="8595360" cy="423767"/>
            <a:chOff x="0" y="0"/>
            <a:chExt cx="11460480" cy="565023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11460480" cy="565023"/>
            </a:xfrm>
            <a:custGeom>
              <a:avLst/>
              <a:gdLst/>
              <a:ahLst/>
              <a:cxnLst/>
              <a:rect l="l" t="t" r="r" b="b"/>
              <a:pathLst>
                <a:path w="11460480" h="565023">
                  <a:moveTo>
                    <a:pt x="0" y="0"/>
                  </a:moveTo>
                  <a:lnTo>
                    <a:pt x="11460480" y="0"/>
                  </a:lnTo>
                  <a:lnTo>
                    <a:pt x="11460480" y="565023"/>
                  </a:lnTo>
                  <a:lnTo>
                    <a:pt x="0" y="5650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45219" b="-34521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0" y="-28575"/>
              <a:ext cx="11460480" cy="5935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dirty="0">
                  <a:solidFill>
                    <a:srgbClr val="7D5A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  Accuracy alone is misleading — 92% accuracy by predicting zero bankruptcies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178" y="380114"/>
            <a:ext cx="3336322" cy="629698"/>
            <a:chOff x="0" y="0"/>
            <a:chExt cx="4448429" cy="839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429" cy="839597"/>
            </a:xfrm>
            <a:custGeom>
              <a:avLst/>
              <a:gdLst/>
              <a:ahLst/>
              <a:cxnLst/>
              <a:rect l="l" t="t" r="r" b="b"/>
              <a:pathLst>
                <a:path w="4448429" h="839597">
                  <a:moveTo>
                    <a:pt x="0" y="0"/>
                  </a:moveTo>
                  <a:lnTo>
                    <a:pt x="4448429" y="0"/>
                  </a:lnTo>
                  <a:lnTo>
                    <a:pt x="4448429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402336"/>
            <a:ext cx="3291840" cy="585216"/>
            <a:chOff x="0" y="0"/>
            <a:chExt cx="438912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780288"/>
            </a:xfrm>
            <a:custGeom>
              <a:avLst/>
              <a:gdLst/>
              <a:ahLst/>
              <a:cxnLst/>
              <a:rect l="l" t="t" r="r" b="b"/>
              <a:pathLst>
                <a:path w="4389120" h="780288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26" b="-5952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80905"/>
            <a:ext cx="3291840" cy="606647"/>
            <a:chOff x="0" y="0"/>
            <a:chExt cx="4389120" cy="8088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808863"/>
            </a:xfrm>
            <a:custGeom>
              <a:avLst/>
              <a:gdLst/>
              <a:ahLst/>
              <a:cxnLst/>
              <a:rect l="l" t="t" r="r" b="b"/>
              <a:pathLst>
                <a:path w="4389120" h="808863">
                  <a:moveTo>
                    <a:pt x="0" y="0"/>
                  </a:moveTo>
                  <a:lnTo>
                    <a:pt x="4389120" y="0"/>
                  </a:lnTo>
                  <a:lnTo>
                    <a:pt x="4389120" y="808863"/>
                  </a:lnTo>
                  <a:lnTo>
                    <a:pt x="0" y="8088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731" b="-5573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3891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spc="4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133856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347" b="-200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048131"/>
            <a:ext cx="16459200" cy="1365885"/>
            <a:chOff x="0" y="0"/>
            <a:chExt cx="21945600" cy="18211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821180"/>
            </a:xfrm>
            <a:custGeom>
              <a:avLst/>
              <a:gdLst/>
              <a:ahLst/>
              <a:cxnLst/>
              <a:rect l="l" t="t" r="r" b="b"/>
              <a:pathLst>
                <a:path w="21945600" h="1821180">
                  <a:moveTo>
                    <a:pt x="0" y="0"/>
                  </a:moveTo>
                  <a:lnTo>
                    <a:pt x="21945600" y="0"/>
                  </a:lnTo>
                  <a:lnTo>
                    <a:pt x="21945600" y="1821180"/>
                  </a:lnTo>
                  <a:lnTo>
                    <a:pt x="0" y="1821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798" b="-18479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1945600" cy="1954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Architecture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2340864"/>
            <a:ext cx="16459200" cy="640080"/>
            <a:chOff x="0" y="0"/>
            <a:chExt cx="21945600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694" b="-45069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2298002"/>
            <a:ext cx="16459200" cy="682943"/>
            <a:chOff x="0" y="0"/>
            <a:chExt cx="21945600" cy="9105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45600" cy="910590"/>
            </a:xfrm>
            <a:custGeom>
              <a:avLst/>
              <a:gdLst/>
              <a:ahLst/>
              <a:cxnLst/>
              <a:rect l="l" t="t" r="r" b="b"/>
              <a:pathLst>
                <a:path w="21945600" h="910590">
                  <a:moveTo>
                    <a:pt x="0" y="0"/>
                  </a:moveTo>
                  <a:lnTo>
                    <a:pt x="21945600" y="0"/>
                  </a:lnTo>
                  <a:lnTo>
                    <a:pt x="2194560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9597" b="-41959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1945600" cy="9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Altman-inspired economic ratios fed into regularised Logistic Regression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2178" y="3123314"/>
            <a:ext cx="3976402" cy="6445282"/>
            <a:chOff x="0" y="0"/>
            <a:chExt cx="5301869" cy="859370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01869" cy="8593709"/>
            </a:xfrm>
            <a:custGeom>
              <a:avLst/>
              <a:gdLst/>
              <a:ahLst/>
              <a:cxnLst/>
              <a:rect l="l" t="t" r="r" b="b"/>
              <a:pathLst>
                <a:path w="5301869" h="8593709">
                  <a:moveTo>
                    <a:pt x="0" y="0"/>
                  </a:moveTo>
                  <a:lnTo>
                    <a:pt x="5301869" y="0"/>
                  </a:lnTo>
                  <a:lnTo>
                    <a:pt x="5301869" y="8593709"/>
                  </a:lnTo>
                  <a:lnTo>
                    <a:pt x="0" y="8593709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26034" y="3452498"/>
            <a:ext cx="1690402" cy="1690402"/>
            <a:chOff x="0" y="0"/>
            <a:chExt cx="2253869" cy="22538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53869" cy="2253869"/>
            </a:xfrm>
            <a:custGeom>
              <a:avLst/>
              <a:gdLst/>
              <a:ahLst/>
              <a:cxnLst/>
              <a:rect l="l" t="t" r="r" b="b"/>
              <a:pathLst>
                <a:path w="2253869" h="2253869">
                  <a:moveTo>
                    <a:pt x="0" y="0"/>
                  </a:moveTo>
                  <a:lnTo>
                    <a:pt x="2253869" y="0"/>
                  </a:lnTo>
                  <a:lnTo>
                    <a:pt x="2253869" y="2253869"/>
                  </a:lnTo>
                  <a:lnTo>
                    <a:pt x="0" y="22538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048256" y="3474720"/>
            <a:ext cx="1645920" cy="1645920"/>
            <a:chOff x="0" y="0"/>
            <a:chExt cx="2194560" cy="21945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048256" y="3381851"/>
            <a:ext cx="1645920" cy="1738789"/>
            <a:chOff x="0" y="0"/>
            <a:chExt cx="2194560" cy="231838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4560" cy="2318385"/>
            </a:xfrm>
            <a:custGeom>
              <a:avLst/>
              <a:gdLst/>
              <a:ahLst/>
              <a:cxnLst/>
              <a:rect l="l" t="t" r="r" b="b"/>
              <a:pathLst>
                <a:path w="2194560" h="2318385">
                  <a:moveTo>
                    <a:pt x="0" y="0"/>
                  </a:moveTo>
                  <a:lnTo>
                    <a:pt x="2194560" y="0"/>
                  </a:lnTo>
                  <a:lnTo>
                    <a:pt x="2194560" y="2318385"/>
                  </a:lnTo>
                  <a:lnTo>
                    <a:pt x="0" y="23183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542" r="-8554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23825"/>
              <a:ext cx="2194560" cy="2442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5394960"/>
            <a:ext cx="3931920" cy="822960"/>
            <a:chOff x="0" y="0"/>
            <a:chExt cx="5242560" cy="10972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30" b="-4303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366385"/>
            <a:ext cx="3931920" cy="851535"/>
            <a:chOff x="0" y="0"/>
            <a:chExt cx="5242560" cy="11353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242560" cy="1135380"/>
            </a:xfrm>
            <a:custGeom>
              <a:avLst/>
              <a:gdLst/>
              <a:ahLst/>
              <a:cxnLst/>
              <a:rect l="l" t="t" r="r" b="b"/>
              <a:pathLst>
                <a:path w="5242560" h="1135380">
                  <a:moveTo>
                    <a:pt x="0" y="0"/>
                  </a:moveTo>
                  <a:lnTo>
                    <a:pt x="5242560" y="0"/>
                  </a:lnTo>
                  <a:lnTo>
                    <a:pt x="52425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9971" b="-3997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24256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97280" y="6309360"/>
            <a:ext cx="3566160" cy="2926080"/>
            <a:chOff x="0" y="0"/>
            <a:chExt cx="4754880" cy="39014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754880" cy="3901440"/>
            </a:xfrm>
            <a:custGeom>
              <a:avLst/>
              <a:gdLst/>
              <a:ahLst/>
              <a:cxnLst/>
              <a:rect l="l" t="t" r="r" b="b"/>
              <a:pathLst>
                <a:path w="4754880" h="3901440">
                  <a:moveTo>
                    <a:pt x="0" y="0"/>
                  </a:moveTo>
                  <a:lnTo>
                    <a:pt x="4754880" y="0"/>
                  </a:lnTo>
                  <a:lnTo>
                    <a:pt x="475488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348" r="-55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97280" y="6280785"/>
            <a:ext cx="3566160" cy="2954655"/>
            <a:chOff x="0" y="0"/>
            <a:chExt cx="4754880" cy="39395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754880" cy="3939540"/>
            </a:xfrm>
            <a:custGeom>
              <a:avLst/>
              <a:gdLst/>
              <a:ahLst/>
              <a:cxnLst/>
              <a:rect l="l" t="t" r="r" b="b"/>
              <a:pathLst>
                <a:path w="4754880" h="3939540">
                  <a:moveTo>
                    <a:pt x="0" y="0"/>
                  </a:moveTo>
                  <a:lnTo>
                    <a:pt x="4754880" y="0"/>
                  </a:lnTo>
                  <a:lnTo>
                    <a:pt x="4754880" y="3939540"/>
                  </a:lnTo>
                  <a:lnTo>
                    <a:pt x="0" y="39395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302" r="-5630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754880" cy="3977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Altman ratios × 3 years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+ 12 momentum trends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+ 6 sector benchmarks (train-only)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+ 4 crash indicators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 40 candidate features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44722" y="3123314"/>
            <a:ext cx="3976402" cy="6445282"/>
            <a:chOff x="0" y="0"/>
            <a:chExt cx="5301869" cy="859370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301869" cy="8593709"/>
            </a:xfrm>
            <a:custGeom>
              <a:avLst/>
              <a:gdLst/>
              <a:ahLst/>
              <a:cxnLst/>
              <a:rect l="l" t="t" r="r" b="b"/>
              <a:pathLst>
                <a:path w="5301869" h="8593709">
                  <a:moveTo>
                    <a:pt x="0" y="0"/>
                  </a:moveTo>
                  <a:lnTo>
                    <a:pt x="5301869" y="0"/>
                  </a:lnTo>
                  <a:lnTo>
                    <a:pt x="5301869" y="8593709"/>
                  </a:lnTo>
                  <a:lnTo>
                    <a:pt x="0" y="8593709"/>
                  </a:lnTo>
                  <a:close/>
                </a:path>
              </a:pathLst>
            </a:custGeom>
            <a:solidFill>
              <a:srgbClr val="2A3F8F"/>
            </a:solidFill>
            <a:ln w="254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378578" y="3452498"/>
            <a:ext cx="1690402" cy="1690402"/>
            <a:chOff x="0" y="0"/>
            <a:chExt cx="2253869" cy="225386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253869" cy="2253869"/>
            </a:xfrm>
            <a:custGeom>
              <a:avLst/>
              <a:gdLst/>
              <a:ahLst/>
              <a:cxnLst/>
              <a:rect l="l" t="t" r="r" b="b"/>
              <a:pathLst>
                <a:path w="2253869" h="2253869">
                  <a:moveTo>
                    <a:pt x="0" y="0"/>
                  </a:moveTo>
                  <a:lnTo>
                    <a:pt x="2253869" y="0"/>
                  </a:lnTo>
                  <a:lnTo>
                    <a:pt x="2253869" y="2253869"/>
                  </a:lnTo>
                  <a:lnTo>
                    <a:pt x="0" y="22538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400800" y="3474720"/>
            <a:ext cx="1645920" cy="1645920"/>
            <a:chOff x="0" y="0"/>
            <a:chExt cx="2194560" cy="21945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00800" y="3381851"/>
            <a:ext cx="1645920" cy="1738789"/>
            <a:chOff x="0" y="0"/>
            <a:chExt cx="2194560" cy="231838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94560" cy="2318385"/>
            </a:xfrm>
            <a:custGeom>
              <a:avLst/>
              <a:gdLst/>
              <a:ahLst/>
              <a:cxnLst/>
              <a:rect l="l" t="t" r="r" b="b"/>
              <a:pathLst>
                <a:path w="2194560" h="2318385">
                  <a:moveTo>
                    <a:pt x="0" y="0"/>
                  </a:moveTo>
                  <a:lnTo>
                    <a:pt x="2194560" y="0"/>
                  </a:lnTo>
                  <a:lnTo>
                    <a:pt x="2194560" y="2318385"/>
                  </a:lnTo>
                  <a:lnTo>
                    <a:pt x="0" y="23183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542" r="-8554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23825"/>
              <a:ext cx="2194560" cy="2442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2A3F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66944" y="5394960"/>
            <a:ext cx="3931920" cy="822960"/>
            <a:chOff x="0" y="0"/>
            <a:chExt cx="5242560" cy="10972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30" b="-4303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66944" y="5366385"/>
            <a:ext cx="3931920" cy="851535"/>
            <a:chOff x="0" y="0"/>
            <a:chExt cx="5242560" cy="11353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242560" cy="1135380"/>
            </a:xfrm>
            <a:custGeom>
              <a:avLst/>
              <a:gdLst/>
              <a:ahLst/>
              <a:cxnLst/>
              <a:rect l="l" t="t" r="r" b="b"/>
              <a:pathLst>
                <a:path w="5242560" h="1135380">
                  <a:moveTo>
                    <a:pt x="0" y="0"/>
                  </a:moveTo>
                  <a:lnTo>
                    <a:pt x="5242560" y="0"/>
                  </a:lnTo>
                  <a:lnTo>
                    <a:pt x="52425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9971" b="-3997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524256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Lasso Selection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449824" y="6309360"/>
            <a:ext cx="3566160" cy="2926080"/>
            <a:chOff x="0" y="0"/>
            <a:chExt cx="4754880" cy="39014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754880" cy="3901440"/>
            </a:xfrm>
            <a:custGeom>
              <a:avLst/>
              <a:gdLst/>
              <a:ahLst/>
              <a:cxnLst/>
              <a:rect l="l" t="t" r="r" b="b"/>
              <a:pathLst>
                <a:path w="4754880" h="3901440">
                  <a:moveTo>
                    <a:pt x="0" y="0"/>
                  </a:moveTo>
                  <a:lnTo>
                    <a:pt x="4754880" y="0"/>
                  </a:lnTo>
                  <a:lnTo>
                    <a:pt x="475488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348" r="-55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449824" y="6280785"/>
            <a:ext cx="3566160" cy="2954655"/>
            <a:chOff x="0" y="0"/>
            <a:chExt cx="4754880" cy="39395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754880" cy="3939540"/>
            </a:xfrm>
            <a:custGeom>
              <a:avLst/>
              <a:gdLst/>
              <a:ahLst/>
              <a:cxnLst/>
              <a:rect l="l" t="t" r="r" b="b"/>
              <a:pathLst>
                <a:path w="4754880" h="3939540">
                  <a:moveTo>
                    <a:pt x="0" y="0"/>
                  </a:moveTo>
                  <a:lnTo>
                    <a:pt x="4754880" y="0"/>
                  </a:lnTo>
                  <a:lnTo>
                    <a:pt x="4754880" y="3939540"/>
                  </a:lnTo>
                  <a:lnTo>
                    <a:pt x="0" y="39395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302" r="-5630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4754880" cy="3977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L1 penalty automatically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sets weak features to zero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Retained 13 of 40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economically justified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597266" y="3123314"/>
            <a:ext cx="3976402" cy="6445282"/>
            <a:chOff x="0" y="0"/>
            <a:chExt cx="5301869" cy="859370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301869" cy="8593709"/>
            </a:xfrm>
            <a:custGeom>
              <a:avLst/>
              <a:gdLst/>
              <a:ahLst/>
              <a:cxnLst/>
              <a:rect l="l" t="t" r="r" b="b"/>
              <a:pathLst>
                <a:path w="5301869" h="8593709">
                  <a:moveTo>
                    <a:pt x="0" y="0"/>
                  </a:moveTo>
                  <a:lnTo>
                    <a:pt x="5301869" y="0"/>
                  </a:lnTo>
                  <a:lnTo>
                    <a:pt x="5301869" y="8593709"/>
                  </a:lnTo>
                  <a:lnTo>
                    <a:pt x="0" y="8593709"/>
                  </a:lnTo>
                  <a:close/>
                </a:path>
              </a:pathLst>
            </a:custGeom>
            <a:solidFill>
              <a:srgbClr val="0D7E6A"/>
            </a:solidFill>
            <a:ln w="25400" cap="sq">
              <a:solidFill>
                <a:srgbClr val="0D7E6A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731122" y="3452498"/>
            <a:ext cx="1690402" cy="1690402"/>
            <a:chOff x="0" y="0"/>
            <a:chExt cx="2253869" cy="225386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253869" cy="2253869"/>
            </a:xfrm>
            <a:custGeom>
              <a:avLst/>
              <a:gdLst/>
              <a:ahLst/>
              <a:cxnLst/>
              <a:rect l="l" t="t" r="r" b="b"/>
              <a:pathLst>
                <a:path w="2253869" h="2253869">
                  <a:moveTo>
                    <a:pt x="0" y="0"/>
                  </a:moveTo>
                  <a:lnTo>
                    <a:pt x="2253869" y="0"/>
                  </a:lnTo>
                  <a:lnTo>
                    <a:pt x="2253869" y="2253869"/>
                  </a:lnTo>
                  <a:lnTo>
                    <a:pt x="0" y="22538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753344" y="3474720"/>
            <a:ext cx="1645920" cy="1645920"/>
            <a:chOff x="0" y="0"/>
            <a:chExt cx="2194560" cy="219456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753344" y="3381851"/>
            <a:ext cx="1645920" cy="1738789"/>
            <a:chOff x="0" y="0"/>
            <a:chExt cx="2194560" cy="231838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194560" cy="2318385"/>
            </a:xfrm>
            <a:custGeom>
              <a:avLst/>
              <a:gdLst/>
              <a:ahLst/>
              <a:cxnLst/>
              <a:rect l="l" t="t" r="r" b="b"/>
              <a:pathLst>
                <a:path w="2194560" h="2318385">
                  <a:moveTo>
                    <a:pt x="0" y="0"/>
                  </a:moveTo>
                  <a:lnTo>
                    <a:pt x="2194560" y="0"/>
                  </a:lnTo>
                  <a:lnTo>
                    <a:pt x="2194560" y="2318385"/>
                  </a:lnTo>
                  <a:lnTo>
                    <a:pt x="0" y="23183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542" r="-8554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123825"/>
              <a:ext cx="2194560" cy="2442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0D7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619488" y="5394960"/>
            <a:ext cx="3931920" cy="822960"/>
            <a:chOff x="0" y="0"/>
            <a:chExt cx="5242560" cy="10972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30" b="-4303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619488" y="5366385"/>
            <a:ext cx="3931920" cy="851535"/>
            <a:chOff x="0" y="0"/>
            <a:chExt cx="5242560" cy="11353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242560" cy="1135380"/>
            </a:xfrm>
            <a:custGeom>
              <a:avLst/>
              <a:gdLst/>
              <a:ahLst/>
              <a:cxnLst/>
              <a:rect l="l" t="t" r="r" b="b"/>
              <a:pathLst>
                <a:path w="5242560" h="1135380">
                  <a:moveTo>
                    <a:pt x="0" y="0"/>
                  </a:moveTo>
                  <a:lnTo>
                    <a:pt x="5242560" y="0"/>
                  </a:lnTo>
                  <a:lnTo>
                    <a:pt x="52425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9971" b="-3997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524256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Weighting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802368" y="6309360"/>
            <a:ext cx="3566160" cy="2926080"/>
            <a:chOff x="0" y="0"/>
            <a:chExt cx="4754880" cy="39014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754880" cy="3901440"/>
            </a:xfrm>
            <a:custGeom>
              <a:avLst/>
              <a:gdLst/>
              <a:ahLst/>
              <a:cxnLst/>
              <a:rect l="l" t="t" r="r" b="b"/>
              <a:pathLst>
                <a:path w="4754880" h="3901440">
                  <a:moveTo>
                    <a:pt x="0" y="0"/>
                  </a:moveTo>
                  <a:lnTo>
                    <a:pt x="4754880" y="0"/>
                  </a:lnTo>
                  <a:lnTo>
                    <a:pt x="475488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348" r="-55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802368" y="6280785"/>
            <a:ext cx="3566160" cy="2954655"/>
            <a:chOff x="0" y="0"/>
            <a:chExt cx="4754880" cy="39395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754880" cy="3939540"/>
            </a:xfrm>
            <a:custGeom>
              <a:avLst/>
              <a:gdLst/>
              <a:ahLst/>
              <a:cxnLst/>
              <a:rect l="l" t="t" r="r" b="b"/>
              <a:pathLst>
                <a:path w="4754880" h="3939540">
                  <a:moveTo>
                    <a:pt x="0" y="0"/>
                  </a:moveTo>
                  <a:lnTo>
                    <a:pt x="4754880" y="0"/>
                  </a:lnTo>
                  <a:lnTo>
                    <a:pt x="4754880" y="3939540"/>
                  </a:lnTo>
                  <a:lnTo>
                    <a:pt x="0" y="39395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302" r="-5630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4754880" cy="3977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Tested {1:1}, {1:1.5},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{1:2}, {1:3}, balanced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Best: {0:1, 1:2} — defaults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weighted 2× more costly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3949810" y="3123314"/>
            <a:ext cx="3976402" cy="6445282"/>
            <a:chOff x="0" y="0"/>
            <a:chExt cx="5301869" cy="859370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5301869" cy="8593709"/>
            </a:xfrm>
            <a:custGeom>
              <a:avLst/>
              <a:gdLst/>
              <a:ahLst/>
              <a:cxnLst/>
              <a:rect l="l" t="t" r="r" b="b"/>
              <a:pathLst>
                <a:path w="5301869" h="8593709">
                  <a:moveTo>
                    <a:pt x="0" y="0"/>
                  </a:moveTo>
                  <a:lnTo>
                    <a:pt x="5301869" y="0"/>
                  </a:lnTo>
                  <a:lnTo>
                    <a:pt x="5301869" y="8593709"/>
                  </a:lnTo>
                  <a:lnTo>
                    <a:pt x="0" y="8593709"/>
                  </a:lnTo>
                  <a:close/>
                </a:path>
              </a:pathLst>
            </a:custGeom>
            <a:solidFill>
              <a:srgbClr val="8B4513"/>
            </a:solidFill>
            <a:ln w="25400" cap="sq">
              <a:solidFill>
                <a:srgbClr val="8B4513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5083666" y="3452498"/>
            <a:ext cx="1690402" cy="1690402"/>
            <a:chOff x="0" y="0"/>
            <a:chExt cx="2253869" cy="2253869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253869" cy="2253869"/>
            </a:xfrm>
            <a:custGeom>
              <a:avLst/>
              <a:gdLst/>
              <a:ahLst/>
              <a:cxnLst/>
              <a:rect l="l" t="t" r="r" b="b"/>
              <a:pathLst>
                <a:path w="2253869" h="2253869">
                  <a:moveTo>
                    <a:pt x="0" y="0"/>
                  </a:moveTo>
                  <a:lnTo>
                    <a:pt x="2253869" y="0"/>
                  </a:lnTo>
                  <a:lnTo>
                    <a:pt x="2253869" y="2253869"/>
                  </a:lnTo>
                  <a:lnTo>
                    <a:pt x="0" y="22538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5105888" y="3474720"/>
            <a:ext cx="1645920" cy="1645920"/>
            <a:chOff x="0" y="0"/>
            <a:chExt cx="2194560" cy="219456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5105888" y="3381851"/>
            <a:ext cx="1645920" cy="1738789"/>
            <a:chOff x="0" y="0"/>
            <a:chExt cx="2194560" cy="2318385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194560" cy="2318385"/>
            </a:xfrm>
            <a:custGeom>
              <a:avLst/>
              <a:gdLst/>
              <a:ahLst/>
              <a:cxnLst/>
              <a:rect l="l" t="t" r="r" b="b"/>
              <a:pathLst>
                <a:path w="2194560" h="2318385">
                  <a:moveTo>
                    <a:pt x="0" y="0"/>
                  </a:moveTo>
                  <a:lnTo>
                    <a:pt x="2194560" y="0"/>
                  </a:lnTo>
                  <a:lnTo>
                    <a:pt x="2194560" y="2318385"/>
                  </a:lnTo>
                  <a:lnTo>
                    <a:pt x="0" y="23183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542" r="-8554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123825"/>
              <a:ext cx="2194560" cy="2442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8B451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972032" y="5394960"/>
            <a:ext cx="3931920" cy="822960"/>
            <a:chOff x="0" y="0"/>
            <a:chExt cx="5242560" cy="109728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30" b="-4303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3972032" y="5366385"/>
            <a:ext cx="3931920" cy="851535"/>
            <a:chOff x="0" y="0"/>
            <a:chExt cx="5242560" cy="113538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5242560" cy="1135380"/>
            </a:xfrm>
            <a:custGeom>
              <a:avLst/>
              <a:gdLst/>
              <a:ahLst/>
              <a:cxnLst/>
              <a:rect l="l" t="t" r="r" b="b"/>
              <a:pathLst>
                <a:path w="5242560" h="1135380">
                  <a:moveTo>
                    <a:pt x="0" y="0"/>
                  </a:moveTo>
                  <a:lnTo>
                    <a:pt x="5242560" y="0"/>
                  </a:lnTo>
                  <a:lnTo>
                    <a:pt x="52425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9971" b="-3997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524256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Threshold Tuning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4154912" y="6309360"/>
            <a:ext cx="3566160" cy="2926080"/>
            <a:chOff x="0" y="0"/>
            <a:chExt cx="4754880" cy="390144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754880" cy="3901440"/>
            </a:xfrm>
            <a:custGeom>
              <a:avLst/>
              <a:gdLst/>
              <a:ahLst/>
              <a:cxnLst/>
              <a:rect l="l" t="t" r="r" b="b"/>
              <a:pathLst>
                <a:path w="4754880" h="3901440">
                  <a:moveTo>
                    <a:pt x="0" y="0"/>
                  </a:moveTo>
                  <a:lnTo>
                    <a:pt x="4754880" y="0"/>
                  </a:lnTo>
                  <a:lnTo>
                    <a:pt x="475488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348" r="-55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4154912" y="6280785"/>
            <a:ext cx="3566160" cy="2954655"/>
            <a:chOff x="0" y="0"/>
            <a:chExt cx="4754880" cy="393954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754880" cy="3939540"/>
            </a:xfrm>
            <a:custGeom>
              <a:avLst/>
              <a:gdLst/>
              <a:ahLst/>
              <a:cxnLst/>
              <a:rect l="l" t="t" r="r" b="b"/>
              <a:pathLst>
                <a:path w="4754880" h="3939540">
                  <a:moveTo>
                    <a:pt x="0" y="0"/>
                  </a:moveTo>
                  <a:lnTo>
                    <a:pt x="4754880" y="0"/>
                  </a:lnTo>
                  <a:lnTo>
                    <a:pt x="4754880" y="3939540"/>
                  </a:lnTo>
                  <a:lnTo>
                    <a:pt x="0" y="39395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302" r="-5630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4754880" cy="3977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 optimised via 5-fold CV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 out-of-fold probabilities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Selected: 0.461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(no data leakage)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14400" y="9656064"/>
            <a:ext cx="16459200" cy="402336"/>
            <a:chOff x="0" y="0"/>
            <a:chExt cx="21945600" cy="53644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1945600" cy="536448"/>
            </a:xfrm>
            <a:custGeom>
              <a:avLst/>
              <a:gdLst/>
              <a:ahLst/>
              <a:cxnLst/>
              <a:rect l="l" t="t" r="r" b="b"/>
              <a:pathLst>
                <a:path w="21945600" h="536448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6560" b="-74656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14400" y="9627489"/>
            <a:ext cx="16459200" cy="430911"/>
            <a:chOff x="0" y="0"/>
            <a:chExt cx="21945600" cy="574548"/>
          </a:xfrm>
        </p:grpSpPr>
        <p:sp>
          <p:nvSpPr>
            <p:cNvPr id="98" name="Freeform 98">
              <a:hlinkClick r:id="rId5" action="ppaction://hlinksldjump"/>
            </p:cNvPr>
            <p:cNvSpPr/>
            <p:nvPr/>
          </p:nvSpPr>
          <p:spPr>
            <a:xfrm>
              <a:off x="0" y="0"/>
              <a:ext cx="21945600" cy="574548"/>
            </a:xfrm>
            <a:custGeom>
              <a:avLst/>
              <a:gdLst/>
              <a:ahLst/>
              <a:cxnLst/>
              <a:rect l="l" t="t" r="r" b="b"/>
              <a:pathLst>
                <a:path w="21945600" h="574548">
                  <a:moveTo>
                    <a:pt x="0" y="0"/>
                  </a:moveTo>
                  <a:lnTo>
                    <a:pt x="21945600" y="0"/>
                  </a:lnTo>
                  <a:lnTo>
                    <a:pt x="2194560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94256" b="-69425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38100"/>
              <a:ext cx="2194560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dirty="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Reference: </a:t>
              </a:r>
              <a:r>
                <a:rPr lang="en-US" sz="1700" dirty="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5" action="ppaction://hlinksldjump"/>
                </a:rPr>
                <a:t>Altman(1968)</a:t>
              </a:r>
              <a:r>
                <a:rPr lang="en-US" sz="1700" dirty="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Journal of Finance — adapted for private European SMEs (Z'' logic)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178" y="380114"/>
            <a:ext cx="3336322" cy="629698"/>
            <a:chOff x="0" y="0"/>
            <a:chExt cx="4448429" cy="839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429" cy="839597"/>
            </a:xfrm>
            <a:custGeom>
              <a:avLst/>
              <a:gdLst/>
              <a:ahLst/>
              <a:cxnLst/>
              <a:rect l="l" t="t" r="r" b="b"/>
              <a:pathLst>
                <a:path w="4448429" h="839597">
                  <a:moveTo>
                    <a:pt x="0" y="0"/>
                  </a:moveTo>
                  <a:lnTo>
                    <a:pt x="4448429" y="0"/>
                  </a:lnTo>
                  <a:lnTo>
                    <a:pt x="4448429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402336"/>
            <a:ext cx="3291840" cy="585216"/>
            <a:chOff x="0" y="0"/>
            <a:chExt cx="438912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780288"/>
            </a:xfrm>
            <a:custGeom>
              <a:avLst/>
              <a:gdLst/>
              <a:ahLst/>
              <a:cxnLst/>
              <a:rect l="l" t="t" r="r" b="b"/>
              <a:pathLst>
                <a:path w="4389120" h="780288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26" b="-5952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80905"/>
            <a:ext cx="3291840" cy="606647"/>
            <a:chOff x="0" y="0"/>
            <a:chExt cx="4389120" cy="8088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808863"/>
            </a:xfrm>
            <a:custGeom>
              <a:avLst/>
              <a:gdLst/>
              <a:ahLst/>
              <a:cxnLst/>
              <a:rect l="l" t="t" r="r" b="b"/>
              <a:pathLst>
                <a:path w="4389120" h="808863">
                  <a:moveTo>
                    <a:pt x="0" y="0"/>
                  </a:moveTo>
                  <a:lnTo>
                    <a:pt x="4389120" y="0"/>
                  </a:lnTo>
                  <a:lnTo>
                    <a:pt x="4389120" y="808863"/>
                  </a:lnTo>
                  <a:lnTo>
                    <a:pt x="0" y="8088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731" b="-5573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3891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spc="4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133856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347" b="-200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048131"/>
            <a:ext cx="16459200" cy="1365885"/>
            <a:chOff x="0" y="0"/>
            <a:chExt cx="21945600" cy="18211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821180"/>
            </a:xfrm>
            <a:custGeom>
              <a:avLst/>
              <a:gdLst/>
              <a:ahLst/>
              <a:cxnLst/>
              <a:rect l="l" t="t" r="r" b="b"/>
              <a:pathLst>
                <a:path w="21945600" h="1821180">
                  <a:moveTo>
                    <a:pt x="0" y="0"/>
                  </a:moveTo>
                  <a:lnTo>
                    <a:pt x="21945600" y="0"/>
                  </a:lnTo>
                  <a:lnTo>
                    <a:pt x="21945600" y="1821180"/>
                  </a:lnTo>
                  <a:lnTo>
                    <a:pt x="0" y="1821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798" b="-18479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1945600" cy="1954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 dirty="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90 Raw Variables to 40 Engineered Features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31520" y="3017520"/>
            <a:ext cx="10286390" cy="5811679"/>
            <a:chOff x="0" y="0"/>
            <a:chExt cx="13715187" cy="7748905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3715237" cy="7748905"/>
            </a:xfrm>
            <a:custGeom>
              <a:avLst/>
              <a:gdLst/>
              <a:ahLst/>
              <a:cxnLst/>
              <a:rect l="l" t="t" r="r" b="b"/>
              <a:pathLst>
                <a:path w="13715237" h="7748905">
                  <a:moveTo>
                    <a:pt x="0" y="0"/>
                  </a:moveTo>
                  <a:lnTo>
                    <a:pt x="13715237" y="0"/>
                  </a:lnTo>
                  <a:lnTo>
                    <a:pt x="13715237" y="7748905"/>
                  </a:lnTo>
                  <a:lnTo>
                    <a:pt x="0" y="7748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81" r="-188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31353" y="3008709"/>
            <a:ext cx="6133976" cy="684295"/>
            <a:chOff x="0" y="0"/>
            <a:chExt cx="8178635" cy="9123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78673" cy="912368"/>
            </a:xfrm>
            <a:custGeom>
              <a:avLst/>
              <a:gdLst/>
              <a:ahLst/>
              <a:cxnLst/>
              <a:rect l="l" t="t" r="r" b="b"/>
              <a:pathLst>
                <a:path w="8178673" h="912368">
                  <a:moveTo>
                    <a:pt x="0" y="0"/>
                  </a:moveTo>
                  <a:lnTo>
                    <a:pt x="8178673" y="0"/>
                  </a:lnTo>
                  <a:lnTo>
                    <a:pt x="8178673" y="912368"/>
                  </a:lnTo>
                  <a:lnTo>
                    <a:pt x="0" y="912368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451917" y="3029274"/>
            <a:ext cx="6092809" cy="643128"/>
            <a:chOff x="0" y="0"/>
            <a:chExt cx="8123746" cy="8575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3682" cy="857504"/>
            </a:xfrm>
            <a:custGeom>
              <a:avLst/>
              <a:gdLst/>
              <a:ahLst/>
              <a:cxnLst/>
              <a:rect l="l" t="t" r="r" b="b"/>
              <a:pathLst>
                <a:path w="8123682" h="857504">
                  <a:moveTo>
                    <a:pt x="0" y="0"/>
                  </a:moveTo>
                  <a:lnTo>
                    <a:pt x="8123682" y="0"/>
                  </a:lnTo>
                  <a:lnTo>
                    <a:pt x="8123682" y="857504"/>
                  </a:lnTo>
                  <a:lnTo>
                    <a:pt x="0" y="857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466" b="-13446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51917" y="3002823"/>
            <a:ext cx="6092809" cy="669579"/>
            <a:chOff x="0" y="0"/>
            <a:chExt cx="8123746" cy="8927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3744" cy="892766"/>
            </a:xfrm>
            <a:custGeom>
              <a:avLst/>
              <a:gdLst/>
              <a:ahLst/>
              <a:cxnLst/>
              <a:rect l="l" t="t" r="r" b="b"/>
              <a:pathLst>
                <a:path w="8123744" h="892766">
                  <a:moveTo>
                    <a:pt x="0" y="0"/>
                  </a:moveTo>
                  <a:lnTo>
                    <a:pt x="8123744" y="0"/>
                  </a:lnTo>
                  <a:lnTo>
                    <a:pt x="8123744" y="892766"/>
                  </a:lnTo>
                  <a:lnTo>
                    <a:pt x="0" y="8927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7304" b="-12730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123746" cy="9308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Family  |  Proxy  |  Signal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31353" y="3651837"/>
            <a:ext cx="6133976" cy="684295"/>
            <a:chOff x="0" y="0"/>
            <a:chExt cx="8178635" cy="91239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78673" cy="912368"/>
            </a:xfrm>
            <a:custGeom>
              <a:avLst/>
              <a:gdLst/>
              <a:ahLst/>
              <a:cxnLst/>
              <a:rect l="l" t="t" r="r" b="b"/>
              <a:pathLst>
                <a:path w="8178673" h="912368">
                  <a:moveTo>
                    <a:pt x="0" y="0"/>
                  </a:moveTo>
                  <a:lnTo>
                    <a:pt x="8178673" y="0"/>
                  </a:lnTo>
                  <a:lnTo>
                    <a:pt x="8178673" y="912368"/>
                  </a:lnTo>
                  <a:lnTo>
                    <a:pt x="0" y="912368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485759" y="3706254"/>
            <a:ext cx="1692450" cy="575434"/>
            <a:chOff x="0" y="0"/>
            <a:chExt cx="2256600" cy="76724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56536" cy="767207"/>
            </a:xfrm>
            <a:custGeom>
              <a:avLst/>
              <a:gdLst/>
              <a:ahLst/>
              <a:cxnLst/>
              <a:rect l="l" t="t" r="r" b="b"/>
              <a:pathLst>
                <a:path w="2256536" h="767207">
                  <a:moveTo>
                    <a:pt x="0" y="0"/>
                  </a:moveTo>
                  <a:lnTo>
                    <a:pt x="2256536" y="0"/>
                  </a:lnTo>
                  <a:lnTo>
                    <a:pt x="2256536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68" r="-2" b="-727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485759" y="3679803"/>
            <a:ext cx="1692450" cy="601875"/>
            <a:chOff x="0" y="0"/>
            <a:chExt cx="2256600" cy="8025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56596" cy="802502"/>
            </a:xfrm>
            <a:custGeom>
              <a:avLst/>
              <a:gdLst/>
              <a:ahLst/>
              <a:cxnLst/>
              <a:rect l="l" t="t" r="r" b="b"/>
              <a:pathLst>
                <a:path w="2256596" h="802502">
                  <a:moveTo>
                    <a:pt x="0" y="0"/>
                  </a:moveTo>
                  <a:lnTo>
                    <a:pt x="2256596" y="0"/>
                  </a:lnTo>
                  <a:lnTo>
                    <a:pt x="2256596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91" b="-47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256600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Liquidity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228987" y="3706254"/>
            <a:ext cx="2911011" cy="575434"/>
            <a:chOff x="0" y="0"/>
            <a:chExt cx="3881349" cy="76724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881374" cy="767207"/>
            </a:xfrm>
            <a:custGeom>
              <a:avLst/>
              <a:gdLst/>
              <a:ahLst/>
              <a:cxnLst/>
              <a:rect l="l" t="t" r="r" b="b"/>
              <a:pathLst>
                <a:path w="3881374" h="767207">
                  <a:moveTo>
                    <a:pt x="0" y="0"/>
                  </a:moveTo>
                  <a:lnTo>
                    <a:pt x="3881374" y="0"/>
                  </a:lnTo>
                  <a:lnTo>
                    <a:pt x="3881374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05" b="-4851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228987" y="3686413"/>
            <a:ext cx="2911011" cy="595265"/>
            <a:chOff x="0" y="0"/>
            <a:chExt cx="3881349" cy="79368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881344" cy="793687"/>
            </a:xfrm>
            <a:custGeom>
              <a:avLst/>
              <a:gdLst/>
              <a:ahLst/>
              <a:cxnLst/>
              <a:rect l="l" t="t" r="r" b="b"/>
              <a:pathLst>
                <a:path w="3881344" h="793687">
                  <a:moveTo>
                    <a:pt x="0" y="0"/>
                  </a:moveTo>
                  <a:lnTo>
                    <a:pt x="3881344" y="0"/>
                  </a:lnTo>
                  <a:lnTo>
                    <a:pt x="3881344" y="793687"/>
                  </a:lnTo>
                  <a:lnTo>
                    <a:pt x="0" y="793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287" b="-4528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3881349" cy="822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WC / Total Assets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6190766" y="3706254"/>
            <a:ext cx="1286256" cy="575434"/>
            <a:chOff x="0" y="0"/>
            <a:chExt cx="1715008" cy="76724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15008" cy="767207"/>
            </a:xfrm>
            <a:custGeom>
              <a:avLst/>
              <a:gdLst/>
              <a:ahLst/>
              <a:cxnLst/>
              <a:rect l="l" t="t" r="r" b="b"/>
              <a:pathLst>
                <a:path w="1715008" h="767207">
                  <a:moveTo>
                    <a:pt x="0" y="0"/>
                  </a:moveTo>
                  <a:lnTo>
                    <a:pt x="1715008" y="0"/>
                  </a:lnTo>
                  <a:lnTo>
                    <a:pt x="1715008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9" r="-7438" b="-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190766" y="3679803"/>
            <a:ext cx="1286256" cy="601875"/>
            <a:chOff x="0" y="0"/>
            <a:chExt cx="1715008" cy="8025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15012" cy="802502"/>
            </a:xfrm>
            <a:custGeom>
              <a:avLst/>
              <a:gdLst/>
              <a:ahLst/>
              <a:cxnLst/>
              <a:rect l="l" t="t" r="r" b="b"/>
              <a:pathLst>
                <a:path w="1715012" h="802502">
                  <a:moveTo>
                    <a:pt x="0" y="0"/>
                  </a:moveTo>
                  <a:lnTo>
                    <a:pt x="1715012" y="0"/>
                  </a:lnTo>
                  <a:lnTo>
                    <a:pt x="1715012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036" r="-1003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715008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 risk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431353" y="4294965"/>
            <a:ext cx="6133976" cy="684295"/>
            <a:chOff x="0" y="0"/>
            <a:chExt cx="8178635" cy="91239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78673" cy="912368"/>
            </a:xfrm>
            <a:custGeom>
              <a:avLst/>
              <a:gdLst/>
              <a:ahLst/>
              <a:cxnLst/>
              <a:rect l="l" t="t" r="r" b="b"/>
              <a:pathLst>
                <a:path w="8178673" h="912368">
                  <a:moveTo>
                    <a:pt x="0" y="0"/>
                  </a:moveTo>
                  <a:lnTo>
                    <a:pt x="8178673" y="0"/>
                  </a:lnTo>
                  <a:lnTo>
                    <a:pt x="8178673" y="912368"/>
                  </a:lnTo>
                  <a:lnTo>
                    <a:pt x="0" y="912368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485759" y="4349382"/>
            <a:ext cx="1692450" cy="575434"/>
            <a:chOff x="0" y="0"/>
            <a:chExt cx="2256600" cy="76724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56536" cy="767207"/>
            </a:xfrm>
            <a:custGeom>
              <a:avLst/>
              <a:gdLst/>
              <a:ahLst/>
              <a:cxnLst/>
              <a:rect l="l" t="t" r="r" b="b"/>
              <a:pathLst>
                <a:path w="2256536" h="767207">
                  <a:moveTo>
                    <a:pt x="0" y="0"/>
                  </a:moveTo>
                  <a:lnTo>
                    <a:pt x="2256536" y="0"/>
                  </a:lnTo>
                  <a:lnTo>
                    <a:pt x="2256536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68" r="-2" b="-727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485759" y="4322931"/>
            <a:ext cx="1692450" cy="601875"/>
            <a:chOff x="0" y="0"/>
            <a:chExt cx="2256600" cy="8025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256596" cy="802502"/>
            </a:xfrm>
            <a:custGeom>
              <a:avLst/>
              <a:gdLst/>
              <a:ahLst/>
              <a:cxnLst/>
              <a:rect l="l" t="t" r="r" b="b"/>
              <a:pathLst>
                <a:path w="2256596" h="802502">
                  <a:moveTo>
                    <a:pt x="0" y="0"/>
                  </a:moveTo>
                  <a:lnTo>
                    <a:pt x="2256596" y="0"/>
                  </a:lnTo>
                  <a:lnTo>
                    <a:pt x="2256596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91" b="-47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2256600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Profitability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228987" y="4349382"/>
            <a:ext cx="2911011" cy="575434"/>
            <a:chOff x="0" y="0"/>
            <a:chExt cx="3881349" cy="76724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881374" cy="767207"/>
            </a:xfrm>
            <a:custGeom>
              <a:avLst/>
              <a:gdLst/>
              <a:ahLst/>
              <a:cxnLst/>
              <a:rect l="l" t="t" r="r" b="b"/>
              <a:pathLst>
                <a:path w="3881374" h="767207">
                  <a:moveTo>
                    <a:pt x="0" y="0"/>
                  </a:moveTo>
                  <a:lnTo>
                    <a:pt x="3881374" y="0"/>
                  </a:lnTo>
                  <a:lnTo>
                    <a:pt x="3881374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05" b="-4851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228987" y="4329541"/>
            <a:ext cx="2911011" cy="595265"/>
            <a:chOff x="0" y="0"/>
            <a:chExt cx="3881349" cy="79368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881344" cy="793687"/>
            </a:xfrm>
            <a:custGeom>
              <a:avLst/>
              <a:gdLst/>
              <a:ahLst/>
              <a:cxnLst/>
              <a:rect l="l" t="t" r="r" b="b"/>
              <a:pathLst>
                <a:path w="3881344" h="793687">
                  <a:moveTo>
                    <a:pt x="0" y="0"/>
                  </a:moveTo>
                  <a:lnTo>
                    <a:pt x="3881344" y="0"/>
                  </a:lnTo>
                  <a:lnTo>
                    <a:pt x="3881344" y="793687"/>
                  </a:lnTo>
                  <a:lnTo>
                    <a:pt x="0" y="793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287" b="-4528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3881349" cy="822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EBIT / Total Assets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6190766" y="4349382"/>
            <a:ext cx="1286256" cy="575434"/>
            <a:chOff x="0" y="0"/>
            <a:chExt cx="1715008" cy="76724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715008" cy="767207"/>
            </a:xfrm>
            <a:custGeom>
              <a:avLst/>
              <a:gdLst/>
              <a:ahLst/>
              <a:cxnLst/>
              <a:rect l="l" t="t" r="r" b="b"/>
              <a:pathLst>
                <a:path w="1715008" h="767207">
                  <a:moveTo>
                    <a:pt x="0" y="0"/>
                  </a:moveTo>
                  <a:lnTo>
                    <a:pt x="1715008" y="0"/>
                  </a:lnTo>
                  <a:lnTo>
                    <a:pt x="1715008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9" r="-7438" b="-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6190766" y="4322931"/>
            <a:ext cx="1286256" cy="601875"/>
            <a:chOff x="0" y="0"/>
            <a:chExt cx="1715008" cy="8025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715012" cy="802502"/>
            </a:xfrm>
            <a:custGeom>
              <a:avLst/>
              <a:gdLst/>
              <a:ahLst/>
              <a:cxnLst/>
              <a:rect l="l" t="t" r="r" b="b"/>
              <a:pathLst>
                <a:path w="1715012" h="802502">
                  <a:moveTo>
                    <a:pt x="0" y="0"/>
                  </a:moveTo>
                  <a:lnTo>
                    <a:pt x="1715012" y="0"/>
                  </a:lnTo>
                  <a:lnTo>
                    <a:pt x="1715012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036" r="-1003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1715008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 risk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431353" y="4938093"/>
            <a:ext cx="6133976" cy="684295"/>
            <a:chOff x="0" y="0"/>
            <a:chExt cx="8178635" cy="91239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78673" cy="912368"/>
            </a:xfrm>
            <a:custGeom>
              <a:avLst/>
              <a:gdLst/>
              <a:ahLst/>
              <a:cxnLst/>
              <a:rect l="l" t="t" r="r" b="b"/>
              <a:pathLst>
                <a:path w="8178673" h="912368">
                  <a:moveTo>
                    <a:pt x="0" y="0"/>
                  </a:moveTo>
                  <a:lnTo>
                    <a:pt x="8178673" y="0"/>
                  </a:lnTo>
                  <a:lnTo>
                    <a:pt x="8178673" y="912368"/>
                  </a:lnTo>
                  <a:lnTo>
                    <a:pt x="0" y="912368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485759" y="4992510"/>
            <a:ext cx="1692450" cy="575434"/>
            <a:chOff x="0" y="0"/>
            <a:chExt cx="2256600" cy="76724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256536" cy="767207"/>
            </a:xfrm>
            <a:custGeom>
              <a:avLst/>
              <a:gdLst/>
              <a:ahLst/>
              <a:cxnLst/>
              <a:rect l="l" t="t" r="r" b="b"/>
              <a:pathLst>
                <a:path w="2256536" h="767207">
                  <a:moveTo>
                    <a:pt x="0" y="0"/>
                  </a:moveTo>
                  <a:lnTo>
                    <a:pt x="2256536" y="0"/>
                  </a:lnTo>
                  <a:lnTo>
                    <a:pt x="2256536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68" r="-2" b="-727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485759" y="4966059"/>
            <a:ext cx="1692450" cy="601875"/>
            <a:chOff x="0" y="0"/>
            <a:chExt cx="2256600" cy="8025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256596" cy="802502"/>
            </a:xfrm>
            <a:custGeom>
              <a:avLst/>
              <a:gdLst/>
              <a:ahLst/>
              <a:cxnLst/>
              <a:rect l="l" t="t" r="r" b="b"/>
              <a:pathLst>
                <a:path w="2256596" h="802502">
                  <a:moveTo>
                    <a:pt x="0" y="0"/>
                  </a:moveTo>
                  <a:lnTo>
                    <a:pt x="2256596" y="0"/>
                  </a:lnTo>
                  <a:lnTo>
                    <a:pt x="2256596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91" b="-47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2256600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Solvency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3228987" y="4992510"/>
            <a:ext cx="2911011" cy="575434"/>
            <a:chOff x="0" y="0"/>
            <a:chExt cx="3881349" cy="76724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881374" cy="767207"/>
            </a:xfrm>
            <a:custGeom>
              <a:avLst/>
              <a:gdLst/>
              <a:ahLst/>
              <a:cxnLst/>
              <a:rect l="l" t="t" r="r" b="b"/>
              <a:pathLst>
                <a:path w="3881374" h="767207">
                  <a:moveTo>
                    <a:pt x="0" y="0"/>
                  </a:moveTo>
                  <a:lnTo>
                    <a:pt x="3881374" y="0"/>
                  </a:lnTo>
                  <a:lnTo>
                    <a:pt x="3881374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05" b="-4851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3228987" y="4972679"/>
            <a:ext cx="2911011" cy="595265"/>
            <a:chOff x="0" y="0"/>
            <a:chExt cx="3881349" cy="79368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881344" cy="793687"/>
            </a:xfrm>
            <a:custGeom>
              <a:avLst/>
              <a:gdLst/>
              <a:ahLst/>
              <a:cxnLst/>
              <a:rect l="l" t="t" r="r" b="b"/>
              <a:pathLst>
                <a:path w="3881344" h="793687">
                  <a:moveTo>
                    <a:pt x="0" y="0"/>
                  </a:moveTo>
                  <a:lnTo>
                    <a:pt x="3881344" y="0"/>
                  </a:lnTo>
                  <a:lnTo>
                    <a:pt x="3881344" y="793687"/>
                  </a:lnTo>
                  <a:lnTo>
                    <a:pt x="0" y="793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287" b="-4528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28575"/>
              <a:ext cx="3881349" cy="822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Equity / Total Assets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6190766" y="4992510"/>
            <a:ext cx="1286256" cy="575434"/>
            <a:chOff x="0" y="0"/>
            <a:chExt cx="1715008" cy="76724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715008" cy="767207"/>
            </a:xfrm>
            <a:custGeom>
              <a:avLst/>
              <a:gdLst/>
              <a:ahLst/>
              <a:cxnLst/>
              <a:rect l="l" t="t" r="r" b="b"/>
              <a:pathLst>
                <a:path w="1715008" h="767207">
                  <a:moveTo>
                    <a:pt x="0" y="0"/>
                  </a:moveTo>
                  <a:lnTo>
                    <a:pt x="1715008" y="0"/>
                  </a:lnTo>
                  <a:lnTo>
                    <a:pt x="1715008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9" r="-7438" b="-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6190766" y="4966059"/>
            <a:ext cx="1286256" cy="601875"/>
            <a:chOff x="0" y="0"/>
            <a:chExt cx="1715008" cy="8025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715012" cy="802502"/>
            </a:xfrm>
            <a:custGeom>
              <a:avLst/>
              <a:gdLst/>
              <a:ahLst/>
              <a:cxnLst/>
              <a:rect l="l" t="t" r="r" b="b"/>
              <a:pathLst>
                <a:path w="1715012" h="802502">
                  <a:moveTo>
                    <a:pt x="0" y="0"/>
                  </a:moveTo>
                  <a:lnTo>
                    <a:pt x="1715012" y="0"/>
                  </a:lnTo>
                  <a:lnTo>
                    <a:pt x="1715012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036" r="-1003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1715008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 risk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1431353" y="5581221"/>
            <a:ext cx="6133976" cy="684295"/>
            <a:chOff x="0" y="0"/>
            <a:chExt cx="8178635" cy="912393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178673" cy="912368"/>
            </a:xfrm>
            <a:custGeom>
              <a:avLst/>
              <a:gdLst/>
              <a:ahLst/>
              <a:cxnLst/>
              <a:rect l="l" t="t" r="r" b="b"/>
              <a:pathLst>
                <a:path w="8178673" h="912368">
                  <a:moveTo>
                    <a:pt x="0" y="0"/>
                  </a:moveTo>
                  <a:lnTo>
                    <a:pt x="8178673" y="0"/>
                  </a:lnTo>
                  <a:lnTo>
                    <a:pt x="8178673" y="912368"/>
                  </a:lnTo>
                  <a:lnTo>
                    <a:pt x="0" y="912368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485759" y="5635638"/>
            <a:ext cx="1692450" cy="575434"/>
            <a:chOff x="0" y="0"/>
            <a:chExt cx="2256600" cy="767245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256536" cy="767207"/>
            </a:xfrm>
            <a:custGeom>
              <a:avLst/>
              <a:gdLst/>
              <a:ahLst/>
              <a:cxnLst/>
              <a:rect l="l" t="t" r="r" b="b"/>
              <a:pathLst>
                <a:path w="2256536" h="767207">
                  <a:moveTo>
                    <a:pt x="0" y="0"/>
                  </a:moveTo>
                  <a:lnTo>
                    <a:pt x="2256536" y="0"/>
                  </a:lnTo>
                  <a:lnTo>
                    <a:pt x="2256536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68" r="-2" b="-727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1485759" y="5609196"/>
            <a:ext cx="1692450" cy="601875"/>
            <a:chOff x="0" y="0"/>
            <a:chExt cx="2256600" cy="8025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256596" cy="802502"/>
            </a:xfrm>
            <a:custGeom>
              <a:avLst/>
              <a:gdLst/>
              <a:ahLst/>
              <a:cxnLst/>
              <a:rect l="l" t="t" r="r" b="b"/>
              <a:pathLst>
                <a:path w="2256596" h="802502">
                  <a:moveTo>
                    <a:pt x="0" y="0"/>
                  </a:moveTo>
                  <a:lnTo>
                    <a:pt x="2256596" y="0"/>
                  </a:lnTo>
                  <a:lnTo>
                    <a:pt x="2256596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91" b="-47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2256600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Leverage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3228987" y="5635638"/>
            <a:ext cx="2911011" cy="575434"/>
            <a:chOff x="0" y="0"/>
            <a:chExt cx="3881349" cy="767245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881374" cy="767207"/>
            </a:xfrm>
            <a:custGeom>
              <a:avLst/>
              <a:gdLst/>
              <a:ahLst/>
              <a:cxnLst/>
              <a:rect l="l" t="t" r="r" b="b"/>
              <a:pathLst>
                <a:path w="3881374" h="767207">
                  <a:moveTo>
                    <a:pt x="0" y="0"/>
                  </a:moveTo>
                  <a:lnTo>
                    <a:pt x="3881374" y="0"/>
                  </a:lnTo>
                  <a:lnTo>
                    <a:pt x="3881374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05" b="-4851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228987" y="5615807"/>
            <a:ext cx="2911011" cy="595265"/>
            <a:chOff x="0" y="0"/>
            <a:chExt cx="3881349" cy="79368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881344" cy="793687"/>
            </a:xfrm>
            <a:custGeom>
              <a:avLst/>
              <a:gdLst/>
              <a:ahLst/>
              <a:cxnLst/>
              <a:rect l="l" t="t" r="r" b="b"/>
              <a:pathLst>
                <a:path w="3881344" h="793687">
                  <a:moveTo>
                    <a:pt x="0" y="0"/>
                  </a:moveTo>
                  <a:lnTo>
                    <a:pt x="3881344" y="0"/>
                  </a:lnTo>
                  <a:lnTo>
                    <a:pt x="3881344" y="793687"/>
                  </a:lnTo>
                  <a:lnTo>
                    <a:pt x="0" y="793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287" b="-4528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28575"/>
              <a:ext cx="3881349" cy="822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Debt / Total Assets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6190766" y="5635638"/>
            <a:ext cx="1286256" cy="575434"/>
            <a:chOff x="0" y="0"/>
            <a:chExt cx="1715008" cy="767245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715008" cy="767207"/>
            </a:xfrm>
            <a:custGeom>
              <a:avLst/>
              <a:gdLst/>
              <a:ahLst/>
              <a:cxnLst/>
              <a:rect l="l" t="t" r="r" b="b"/>
              <a:pathLst>
                <a:path w="1715008" h="767207">
                  <a:moveTo>
                    <a:pt x="0" y="0"/>
                  </a:moveTo>
                  <a:lnTo>
                    <a:pt x="1715008" y="0"/>
                  </a:lnTo>
                  <a:lnTo>
                    <a:pt x="1715008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9" r="-7438" b="-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6190766" y="5609196"/>
            <a:ext cx="1286256" cy="601875"/>
            <a:chOff x="0" y="0"/>
            <a:chExt cx="1715008" cy="8025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715012" cy="802502"/>
            </a:xfrm>
            <a:custGeom>
              <a:avLst/>
              <a:gdLst/>
              <a:ahLst/>
              <a:cxnLst/>
              <a:rect l="l" t="t" r="r" b="b"/>
              <a:pathLst>
                <a:path w="1715012" h="802502">
                  <a:moveTo>
                    <a:pt x="0" y="0"/>
                  </a:moveTo>
                  <a:lnTo>
                    <a:pt x="1715012" y="0"/>
                  </a:lnTo>
                  <a:lnTo>
                    <a:pt x="1715012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036" r="-1003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1715008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↑ risk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1431353" y="6224359"/>
            <a:ext cx="6133976" cy="684295"/>
            <a:chOff x="0" y="0"/>
            <a:chExt cx="8178635" cy="912393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78673" cy="912368"/>
            </a:xfrm>
            <a:custGeom>
              <a:avLst/>
              <a:gdLst/>
              <a:ahLst/>
              <a:cxnLst/>
              <a:rect l="l" t="t" r="r" b="b"/>
              <a:pathLst>
                <a:path w="8178673" h="912368">
                  <a:moveTo>
                    <a:pt x="0" y="0"/>
                  </a:moveTo>
                  <a:lnTo>
                    <a:pt x="8178673" y="0"/>
                  </a:lnTo>
                  <a:lnTo>
                    <a:pt x="8178673" y="912368"/>
                  </a:lnTo>
                  <a:lnTo>
                    <a:pt x="0" y="912368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1485759" y="6278766"/>
            <a:ext cx="1692450" cy="575434"/>
            <a:chOff x="0" y="0"/>
            <a:chExt cx="2256600" cy="767245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2256536" cy="767207"/>
            </a:xfrm>
            <a:custGeom>
              <a:avLst/>
              <a:gdLst/>
              <a:ahLst/>
              <a:cxnLst/>
              <a:rect l="l" t="t" r="r" b="b"/>
              <a:pathLst>
                <a:path w="2256536" h="767207">
                  <a:moveTo>
                    <a:pt x="0" y="0"/>
                  </a:moveTo>
                  <a:lnTo>
                    <a:pt x="2256536" y="0"/>
                  </a:lnTo>
                  <a:lnTo>
                    <a:pt x="2256536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68" r="-2" b="-727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1485759" y="6252324"/>
            <a:ext cx="1692450" cy="601875"/>
            <a:chOff x="0" y="0"/>
            <a:chExt cx="2256600" cy="8025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256596" cy="802502"/>
            </a:xfrm>
            <a:custGeom>
              <a:avLst/>
              <a:gdLst/>
              <a:ahLst/>
              <a:cxnLst/>
              <a:rect l="l" t="t" r="r" b="b"/>
              <a:pathLst>
                <a:path w="2256596" h="802502">
                  <a:moveTo>
                    <a:pt x="0" y="0"/>
                  </a:moveTo>
                  <a:lnTo>
                    <a:pt x="2256596" y="0"/>
                  </a:lnTo>
                  <a:lnTo>
                    <a:pt x="2256596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91" b="-47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2256600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Fin. Burden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3228987" y="6278766"/>
            <a:ext cx="2911011" cy="575434"/>
            <a:chOff x="0" y="0"/>
            <a:chExt cx="3881349" cy="767245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881374" cy="767207"/>
            </a:xfrm>
            <a:custGeom>
              <a:avLst/>
              <a:gdLst/>
              <a:ahLst/>
              <a:cxnLst/>
              <a:rect l="l" t="t" r="r" b="b"/>
              <a:pathLst>
                <a:path w="3881374" h="767207">
                  <a:moveTo>
                    <a:pt x="0" y="0"/>
                  </a:moveTo>
                  <a:lnTo>
                    <a:pt x="3881374" y="0"/>
                  </a:lnTo>
                  <a:lnTo>
                    <a:pt x="3881374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05" b="-4851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3228987" y="6258935"/>
            <a:ext cx="2911011" cy="595265"/>
            <a:chOff x="0" y="0"/>
            <a:chExt cx="3881349" cy="793686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3881344" cy="793687"/>
            </a:xfrm>
            <a:custGeom>
              <a:avLst/>
              <a:gdLst/>
              <a:ahLst/>
              <a:cxnLst/>
              <a:rect l="l" t="t" r="r" b="b"/>
              <a:pathLst>
                <a:path w="3881344" h="793687">
                  <a:moveTo>
                    <a:pt x="0" y="0"/>
                  </a:moveTo>
                  <a:lnTo>
                    <a:pt x="3881344" y="0"/>
                  </a:lnTo>
                  <a:lnTo>
                    <a:pt x="3881344" y="793687"/>
                  </a:lnTo>
                  <a:lnTo>
                    <a:pt x="0" y="793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287" b="-4528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0" y="-28575"/>
              <a:ext cx="3881349" cy="822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Exp. / Revenue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6190766" y="6278766"/>
            <a:ext cx="1286256" cy="575434"/>
            <a:chOff x="0" y="0"/>
            <a:chExt cx="1715008" cy="767245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1715008" cy="767207"/>
            </a:xfrm>
            <a:custGeom>
              <a:avLst/>
              <a:gdLst/>
              <a:ahLst/>
              <a:cxnLst/>
              <a:rect l="l" t="t" r="r" b="b"/>
              <a:pathLst>
                <a:path w="1715008" h="767207">
                  <a:moveTo>
                    <a:pt x="0" y="0"/>
                  </a:moveTo>
                  <a:lnTo>
                    <a:pt x="1715008" y="0"/>
                  </a:lnTo>
                  <a:lnTo>
                    <a:pt x="1715008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9" r="-7438" b="-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6190766" y="6252324"/>
            <a:ext cx="1286256" cy="601875"/>
            <a:chOff x="0" y="0"/>
            <a:chExt cx="1715008" cy="80250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715012" cy="802502"/>
            </a:xfrm>
            <a:custGeom>
              <a:avLst/>
              <a:gdLst/>
              <a:ahLst/>
              <a:cxnLst/>
              <a:rect l="l" t="t" r="r" b="b"/>
              <a:pathLst>
                <a:path w="1715012" h="802502">
                  <a:moveTo>
                    <a:pt x="0" y="0"/>
                  </a:moveTo>
                  <a:lnTo>
                    <a:pt x="1715012" y="0"/>
                  </a:lnTo>
                  <a:lnTo>
                    <a:pt x="1715012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036" r="-1003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-38100"/>
              <a:ext cx="1715008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↑ risk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1431353" y="6867487"/>
            <a:ext cx="6133976" cy="684295"/>
            <a:chOff x="0" y="0"/>
            <a:chExt cx="8178635" cy="912393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8178673" cy="912368"/>
            </a:xfrm>
            <a:custGeom>
              <a:avLst/>
              <a:gdLst/>
              <a:ahLst/>
              <a:cxnLst/>
              <a:rect l="l" t="t" r="r" b="b"/>
              <a:pathLst>
                <a:path w="8178673" h="912368">
                  <a:moveTo>
                    <a:pt x="0" y="0"/>
                  </a:moveTo>
                  <a:lnTo>
                    <a:pt x="8178673" y="0"/>
                  </a:lnTo>
                  <a:lnTo>
                    <a:pt x="8178673" y="912368"/>
                  </a:lnTo>
                  <a:lnTo>
                    <a:pt x="0" y="912368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1485759" y="6921894"/>
            <a:ext cx="1692450" cy="575434"/>
            <a:chOff x="0" y="0"/>
            <a:chExt cx="2256600" cy="767245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2256536" cy="767207"/>
            </a:xfrm>
            <a:custGeom>
              <a:avLst/>
              <a:gdLst/>
              <a:ahLst/>
              <a:cxnLst/>
              <a:rect l="l" t="t" r="r" b="b"/>
              <a:pathLst>
                <a:path w="2256536" h="767207">
                  <a:moveTo>
                    <a:pt x="0" y="0"/>
                  </a:moveTo>
                  <a:lnTo>
                    <a:pt x="2256536" y="0"/>
                  </a:lnTo>
                  <a:lnTo>
                    <a:pt x="2256536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68" r="-2" b="-727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1485759" y="6895452"/>
            <a:ext cx="1692450" cy="601875"/>
            <a:chOff x="0" y="0"/>
            <a:chExt cx="2256600" cy="80250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2256596" cy="802502"/>
            </a:xfrm>
            <a:custGeom>
              <a:avLst/>
              <a:gdLst/>
              <a:ahLst/>
              <a:cxnLst/>
              <a:rect l="l" t="t" r="r" b="b"/>
              <a:pathLst>
                <a:path w="2256596" h="802502">
                  <a:moveTo>
                    <a:pt x="0" y="0"/>
                  </a:moveTo>
                  <a:lnTo>
                    <a:pt x="2256596" y="0"/>
                  </a:lnTo>
                  <a:lnTo>
                    <a:pt x="2256596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91" b="-47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0" y="-38100"/>
              <a:ext cx="2256600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Momentum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3228987" y="6921894"/>
            <a:ext cx="2911011" cy="575434"/>
            <a:chOff x="0" y="0"/>
            <a:chExt cx="3881349" cy="767245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3881374" cy="767207"/>
            </a:xfrm>
            <a:custGeom>
              <a:avLst/>
              <a:gdLst/>
              <a:ahLst/>
              <a:cxnLst/>
              <a:rect l="l" t="t" r="r" b="b"/>
              <a:pathLst>
                <a:path w="3881374" h="767207">
                  <a:moveTo>
                    <a:pt x="0" y="0"/>
                  </a:moveTo>
                  <a:lnTo>
                    <a:pt x="3881374" y="0"/>
                  </a:lnTo>
                  <a:lnTo>
                    <a:pt x="3881374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05" b="-4851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3228987" y="6902063"/>
            <a:ext cx="2911011" cy="595265"/>
            <a:chOff x="0" y="0"/>
            <a:chExt cx="3881349" cy="793686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3881344" cy="793687"/>
            </a:xfrm>
            <a:custGeom>
              <a:avLst/>
              <a:gdLst/>
              <a:ahLst/>
              <a:cxnLst/>
              <a:rect l="l" t="t" r="r" b="b"/>
              <a:pathLst>
                <a:path w="3881344" h="793687">
                  <a:moveTo>
                    <a:pt x="0" y="0"/>
                  </a:moveTo>
                  <a:lnTo>
                    <a:pt x="3881344" y="0"/>
                  </a:lnTo>
                  <a:lnTo>
                    <a:pt x="3881344" y="793687"/>
                  </a:lnTo>
                  <a:lnTo>
                    <a:pt x="0" y="793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287" b="-4528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-28575"/>
              <a:ext cx="3881349" cy="822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2-year trend per ratio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6190766" y="6921894"/>
            <a:ext cx="1286256" cy="575434"/>
            <a:chOff x="0" y="0"/>
            <a:chExt cx="1715008" cy="767245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1715008" cy="767207"/>
            </a:xfrm>
            <a:custGeom>
              <a:avLst/>
              <a:gdLst/>
              <a:ahLst/>
              <a:cxnLst/>
              <a:rect l="l" t="t" r="r" b="b"/>
              <a:pathLst>
                <a:path w="1715008" h="767207">
                  <a:moveTo>
                    <a:pt x="0" y="0"/>
                  </a:moveTo>
                  <a:lnTo>
                    <a:pt x="1715008" y="0"/>
                  </a:lnTo>
                  <a:lnTo>
                    <a:pt x="1715008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9" r="-7438" b="-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6190766" y="6895452"/>
            <a:ext cx="1286256" cy="601875"/>
            <a:chOff x="0" y="0"/>
            <a:chExt cx="1715008" cy="80250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715012" cy="802502"/>
            </a:xfrm>
            <a:custGeom>
              <a:avLst/>
              <a:gdLst/>
              <a:ahLst/>
              <a:cxnLst/>
              <a:rect l="l" t="t" r="r" b="b"/>
              <a:pathLst>
                <a:path w="1715012" h="802502">
                  <a:moveTo>
                    <a:pt x="0" y="0"/>
                  </a:moveTo>
                  <a:lnTo>
                    <a:pt x="1715012" y="0"/>
                  </a:lnTo>
                  <a:lnTo>
                    <a:pt x="1715012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036" r="-1003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0" y="-38100"/>
              <a:ext cx="1715008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directional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1431353" y="7510615"/>
            <a:ext cx="6133976" cy="684295"/>
            <a:chOff x="0" y="0"/>
            <a:chExt cx="8178635" cy="912393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8178673" cy="912368"/>
            </a:xfrm>
            <a:custGeom>
              <a:avLst/>
              <a:gdLst/>
              <a:ahLst/>
              <a:cxnLst/>
              <a:rect l="l" t="t" r="r" b="b"/>
              <a:pathLst>
                <a:path w="8178673" h="912368">
                  <a:moveTo>
                    <a:pt x="0" y="0"/>
                  </a:moveTo>
                  <a:lnTo>
                    <a:pt x="8178673" y="0"/>
                  </a:lnTo>
                  <a:lnTo>
                    <a:pt x="8178673" y="912368"/>
                  </a:lnTo>
                  <a:lnTo>
                    <a:pt x="0" y="912368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1485759" y="7565031"/>
            <a:ext cx="1692450" cy="575434"/>
            <a:chOff x="0" y="0"/>
            <a:chExt cx="2256600" cy="767245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2256536" cy="767207"/>
            </a:xfrm>
            <a:custGeom>
              <a:avLst/>
              <a:gdLst/>
              <a:ahLst/>
              <a:cxnLst/>
              <a:rect l="l" t="t" r="r" b="b"/>
              <a:pathLst>
                <a:path w="2256536" h="767207">
                  <a:moveTo>
                    <a:pt x="0" y="0"/>
                  </a:moveTo>
                  <a:lnTo>
                    <a:pt x="2256536" y="0"/>
                  </a:lnTo>
                  <a:lnTo>
                    <a:pt x="2256536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68" r="-2" b="-727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11485759" y="7538580"/>
            <a:ext cx="1692450" cy="601875"/>
            <a:chOff x="0" y="0"/>
            <a:chExt cx="2256600" cy="802500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2256596" cy="802502"/>
            </a:xfrm>
            <a:custGeom>
              <a:avLst/>
              <a:gdLst/>
              <a:ahLst/>
              <a:cxnLst/>
              <a:rect l="l" t="t" r="r" b="b"/>
              <a:pathLst>
                <a:path w="2256596" h="802502">
                  <a:moveTo>
                    <a:pt x="0" y="0"/>
                  </a:moveTo>
                  <a:lnTo>
                    <a:pt x="2256596" y="0"/>
                  </a:lnTo>
                  <a:lnTo>
                    <a:pt x="2256596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91" b="-47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0" y="-38100"/>
              <a:ext cx="2256600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Sector Bench.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13228987" y="7565031"/>
            <a:ext cx="2911011" cy="575434"/>
            <a:chOff x="0" y="0"/>
            <a:chExt cx="3881349" cy="767245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3881374" cy="767207"/>
            </a:xfrm>
            <a:custGeom>
              <a:avLst/>
              <a:gdLst/>
              <a:ahLst/>
              <a:cxnLst/>
              <a:rect l="l" t="t" r="r" b="b"/>
              <a:pathLst>
                <a:path w="3881374" h="767207">
                  <a:moveTo>
                    <a:pt x="0" y="0"/>
                  </a:moveTo>
                  <a:lnTo>
                    <a:pt x="3881374" y="0"/>
                  </a:lnTo>
                  <a:lnTo>
                    <a:pt x="3881374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05" b="-4851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13228987" y="7545191"/>
            <a:ext cx="2911011" cy="595265"/>
            <a:chOff x="0" y="0"/>
            <a:chExt cx="3881349" cy="793686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3881344" cy="793687"/>
            </a:xfrm>
            <a:custGeom>
              <a:avLst/>
              <a:gdLst/>
              <a:ahLst/>
              <a:cxnLst/>
              <a:rect l="l" t="t" r="r" b="b"/>
              <a:pathLst>
                <a:path w="3881344" h="793687">
                  <a:moveTo>
                    <a:pt x="0" y="0"/>
                  </a:moveTo>
                  <a:lnTo>
                    <a:pt x="3881344" y="0"/>
                  </a:lnTo>
                  <a:lnTo>
                    <a:pt x="3881344" y="793687"/>
                  </a:lnTo>
                  <a:lnTo>
                    <a:pt x="0" y="793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287" b="-4528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0" y="-28575"/>
              <a:ext cx="3881349" cy="822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Ratio minus industry median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6190766" y="7565031"/>
            <a:ext cx="1286256" cy="575434"/>
            <a:chOff x="0" y="0"/>
            <a:chExt cx="1715008" cy="767245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1715008" cy="767207"/>
            </a:xfrm>
            <a:custGeom>
              <a:avLst/>
              <a:gdLst/>
              <a:ahLst/>
              <a:cxnLst/>
              <a:rect l="l" t="t" r="r" b="b"/>
              <a:pathLst>
                <a:path w="1715008" h="767207">
                  <a:moveTo>
                    <a:pt x="0" y="0"/>
                  </a:moveTo>
                  <a:lnTo>
                    <a:pt x="1715008" y="0"/>
                  </a:lnTo>
                  <a:lnTo>
                    <a:pt x="1715008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9" r="-7438" b="-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6190766" y="7538580"/>
            <a:ext cx="1286256" cy="601875"/>
            <a:chOff x="0" y="0"/>
            <a:chExt cx="1715008" cy="802500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1715012" cy="802502"/>
            </a:xfrm>
            <a:custGeom>
              <a:avLst/>
              <a:gdLst/>
              <a:ahLst/>
              <a:cxnLst/>
              <a:rect l="l" t="t" r="r" b="b"/>
              <a:pathLst>
                <a:path w="1715012" h="802502">
                  <a:moveTo>
                    <a:pt x="0" y="0"/>
                  </a:moveTo>
                  <a:lnTo>
                    <a:pt x="1715012" y="0"/>
                  </a:lnTo>
                  <a:lnTo>
                    <a:pt x="1715012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036" r="-1003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0" y="-38100"/>
              <a:ext cx="1715008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relative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11431353" y="8153743"/>
            <a:ext cx="6133976" cy="684295"/>
            <a:chOff x="0" y="0"/>
            <a:chExt cx="8178635" cy="912393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8178673" cy="912368"/>
            </a:xfrm>
            <a:custGeom>
              <a:avLst/>
              <a:gdLst/>
              <a:ahLst/>
              <a:cxnLst/>
              <a:rect l="l" t="t" r="r" b="b"/>
              <a:pathLst>
                <a:path w="8178673" h="912368">
                  <a:moveTo>
                    <a:pt x="0" y="0"/>
                  </a:moveTo>
                  <a:lnTo>
                    <a:pt x="8178673" y="0"/>
                  </a:lnTo>
                  <a:lnTo>
                    <a:pt x="8178673" y="912368"/>
                  </a:lnTo>
                  <a:lnTo>
                    <a:pt x="0" y="912368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11485759" y="8208159"/>
            <a:ext cx="1692450" cy="575434"/>
            <a:chOff x="0" y="0"/>
            <a:chExt cx="2256600" cy="767245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2256536" cy="767207"/>
            </a:xfrm>
            <a:custGeom>
              <a:avLst/>
              <a:gdLst/>
              <a:ahLst/>
              <a:cxnLst/>
              <a:rect l="l" t="t" r="r" b="b"/>
              <a:pathLst>
                <a:path w="2256536" h="767207">
                  <a:moveTo>
                    <a:pt x="0" y="0"/>
                  </a:moveTo>
                  <a:lnTo>
                    <a:pt x="2256536" y="0"/>
                  </a:lnTo>
                  <a:lnTo>
                    <a:pt x="2256536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68" r="-2" b="-727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1485759" y="8181708"/>
            <a:ext cx="1692450" cy="601875"/>
            <a:chOff x="0" y="0"/>
            <a:chExt cx="2256600" cy="802500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2256596" cy="802502"/>
            </a:xfrm>
            <a:custGeom>
              <a:avLst/>
              <a:gdLst/>
              <a:ahLst/>
              <a:cxnLst/>
              <a:rect l="l" t="t" r="r" b="b"/>
              <a:pathLst>
                <a:path w="2256596" h="802502">
                  <a:moveTo>
                    <a:pt x="0" y="0"/>
                  </a:moveTo>
                  <a:lnTo>
                    <a:pt x="2256596" y="0"/>
                  </a:lnTo>
                  <a:lnTo>
                    <a:pt x="2256596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91" b="-47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0" y="-38100"/>
              <a:ext cx="2256600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Crash Flags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13228987" y="8208159"/>
            <a:ext cx="2911011" cy="575434"/>
            <a:chOff x="0" y="0"/>
            <a:chExt cx="3881349" cy="767245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3881374" cy="767207"/>
            </a:xfrm>
            <a:custGeom>
              <a:avLst/>
              <a:gdLst/>
              <a:ahLst/>
              <a:cxnLst/>
              <a:rect l="l" t="t" r="r" b="b"/>
              <a:pathLst>
                <a:path w="3881374" h="767207">
                  <a:moveTo>
                    <a:pt x="0" y="0"/>
                  </a:moveTo>
                  <a:lnTo>
                    <a:pt x="3881374" y="0"/>
                  </a:lnTo>
                  <a:lnTo>
                    <a:pt x="3881374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05" b="-4851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13228987" y="8188328"/>
            <a:ext cx="2911011" cy="595265"/>
            <a:chOff x="0" y="0"/>
            <a:chExt cx="3881349" cy="793686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3881344" cy="793687"/>
            </a:xfrm>
            <a:custGeom>
              <a:avLst/>
              <a:gdLst/>
              <a:ahLst/>
              <a:cxnLst/>
              <a:rect l="l" t="t" r="r" b="b"/>
              <a:pathLst>
                <a:path w="3881344" h="793687">
                  <a:moveTo>
                    <a:pt x="0" y="0"/>
                  </a:moveTo>
                  <a:lnTo>
                    <a:pt x="3881344" y="0"/>
                  </a:lnTo>
                  <a:lnTo>
                    <a:pt x="3881344" y="793687"/>
                  </a:lnTo>
                  <a:lnTo>
                    <a:pt x="0" y="793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287" b="-4528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0" y="-28575"/>
              <a:ext cx="3881349" cy="822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EBIT crash, Solvency drop, Equity quality, Sector (NAICS)</a:t>
              </a:r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16190766" y="8208159"/>
            <a:ext cx="1286256" cy="575434"/>
            <a:chOff x="0" y="0"/>
            <a:chExt cx="1715008" cy="767245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1715008" cy="767207"/>
            </a:xfrm>
            <a:custGeom>
              <a:avLst/>
              <a:gdLst/>
              <a:ahLst/>
              <a:cxnLst/>
              <a:rect l="l" t="t" r="r" b="b"/>
              <a:pathLst>
                <a:path w="1715008" h="767207">
                  <a:moveTo>
                    <a:pt x="0" y="0"/>
                  </a:moveTo>
                  <a:lnTo>
                    <a:pt x="1715008" y="0"/>
                  </a:lnTo>
                  <a:lnTo>
                    <a:pt x="1715008" y="767207"/>
                  </a:lnTo>
                  <a:lnTo>
                    <a:pt x="0" y="76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9" r="-7438" b="-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56" name="Group 156"/>
          <p:cNvGrpSpPr/>
          <p:nvPr/>
        </p:nvGrpSpPr>
        <p:grpSpPr>
          <a:xfrm>
            <a:off x="16190766" y="8181708"/>
            <a:ext cx="1286256" cy="601875"/>
            <a:chOff x="0" y="0"/>
            <a:chExt cx="1715008" cy="802500"/>
          </a:xfrm>
        </p:grpSpPr>
        <p:sp>
          <p:nvSpPr>
            <p:cNvPr id="157" name="Freeform 157"/>
            <p:cNvSpPr/>
            <p:nvPr/>
          </p:nvSpPr>
          <p:spPr>
            <a:xfrm>
              <a:off x="0" y="0"/>
              <a:ext cx="1715012" cy="802502"/>
            </a:xfrm>
            <a:custGeom>
              <a:avLst/>
              <a:gdLst/>
              <a:ahLst/>
              <a:cxnLst/>
              <a:rect l="l" t="t" r="r" b="b"/>
              <a:pathLst>
                <a:path w="1715012" h="802502">
                  <a:moveTo>
                    <a:pt x="0" y="0"/>
                  </a:moveTo>
                  <a:lnTo>
                    <a:pt x="1715012" y="0"/>
                  </a:lnTo>
                  <a:lnTo>
                    <a:pt x="1715012" y="802502"/>
                  </a:lnTo>
                  <a:lnTo>
                    <a:pt x="0" y="802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036" r="-1003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0" y="-38100"/>
              <a:ext cx="1715008" cy="84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↑ risk</a:t>
              </a:r>
            </a:p>
          </p:txBody>
        </p:sp>
      </p:grpSp>
      <p:grpSp>
        <p:nvGrpSpPr>
          <p:cNvPr id="159" name="Group 159"/>
          <p:cNvGrpSpPr/>
          <p:nvPr/>
        </p:nvGrpSpPr>
        <p:grpSpPr>
          <a:xfrm>
            <a:off x="731520" y="9235440"/>
            <a:ext cx="16824960" cy="694944"/>
            <a:chOff x="0" y="0"/>
            <a:chExt cx="22433280" cy="926592"/>
          </a:xfrm>
        </p:grpSpPr>
        <p:sp>
          <p:nvSpPr>
            <p:cNvPr id="160" name="Freeform 160"/>
            <p:cNvSpPr/>
            <p:nvPr/>
          </p:nvSpPr>
          <p:spPr>
            <a:xfrm>
              <a:off x="0" y="0"/>
              <a:ext cx="22433280" cy="926592"/>
            </a:xfrm>
            <a:custGeom>
              <a:avLst/>
              <a:gdLst/>
              <a:ahLst/>
              <a:cxnLst/>
              <a:rect l="l" t="t" r="r" b="b"/>
              <a:pathLst>
                <a:path w="22433280" h="926592">
                  <a:moveTo>
                    <a:pt x="0" y="0"/>
                  </a:moveTo>
                  <a:lnTo>
                    <a:pt x="22433280" y="0"/>
                  </a:lnTo>
                  <a:lnTo>
                    <a:pt x="2243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414" b="-42141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731520" y="9206865"/>
            <a:ext cx="16824960" cy="888839"/>
            <a:chOff x="0" y="0"/>
            <a:chExt cx="22433280" cy="1185118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22433280" cy="1185118"/>
            </a:xfrm>
            <a:custGeom>
              <a:avLst/>
              <a:gdLst/>
              <a:ahLst/>
              <a:cxnLst/>
              <a:rect l="l" t="t" r="r" b="b"/>
              <a:pathLst>
                <a:path w="22433280" h="1185118">
                  <a:moveTo>
                    <a:pt x="0" y="0"/>
                  </a:moveTo>
                  <a:lnTo>
                    <a:pt x="22433280" y="0"/>
                  </a:lnTo>
                  <a:lnTo>
                    <a:pt x="22433280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8134" b="-309535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0" y="-38100"/>
              <a:ext cx="22433280" cy="1223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ratio maps to a causal mechanism: WC/Assets signals payment pressure; EBIT/Assets captures inability to cover cost of capital; Equity/Assets measures the loss-absorption buffer; Debt/Assets amplifies every shock; Fin.Exp/Revenue reveals the cash trap. Equity Quality detects structurally weak equity (revaluation reserves vs retained earnings). naics_2digit is the top predictor — sector encodes base distress rates. Sector benchmarks computed on training data only — no leakage.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178" y="380114"/>
            <a:ext cx="3336322" cy="629698"/>
            <a:chOff x="0" y="0"/>
            <a:chExt cx="4448429" cy="839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429" cy="839597"/>
            </a:xfrm>
            <a:custGeom>
              <a:avLst/>
              <a:gdLst/>
              <a:ahLst/>
              <a:cxnLst/>
              <a:rect l="l" t="t" r="r" b="b"/>
              <a:pathLst>
                <a:path w="4448429" h="839597">
                  <a:moveTo>
                    <a:pt x="0" y="0"/>
                  </a:moveTo>
                  <a:lnTo>
                    <a:pt x="4448429" y="0"/>
                  </a:lnTo>
                  <a:lnTo>
                    <a:pt x="4448429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402336"/>
            <a:ext cx="3291840" cy="585216"/>
            <a:chOff x="0" y="0"/>
            <a:chExt cx="438912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780288"/>
            </a:xfrm>
            <a:custGeom>
              <a:avLst/>
              <a:gdLst/>
              <a:ahLst/>
              <a:cxnLst/>
              <a:rect l="l" t="t" r="r" b="b"/>
              <a:pathLst>
                <a:path w="4389120" h="780288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26" b="-5952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80905"/>
            <a:ext cx="3291840" cy="606647"/>
            <a:chOff x="0" y="0"/>
            <a:chExt cx="4389120" cy="8088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808863"/>
            </a:xfrm>
            <a:custGeom>
              <a:avLst/>
              <a:gdLst/>
              <a:ahLst/>
              <a:cxnLst/>
              <a:rect l="l" t="t" r="r" b="b"/>
              <a:pathLst>
                <a:path w="4389120" h="808863">
                  <a:moveTo>
                    <a:pt x="0" y="0"/>
                  </a:moveTo>
                  <a:lnTo>
                    <a:pt x="4389120" y="0"/>
                  </a:lnTo>
                  <a:lnTo>
                    <a:pt x="4389120" y="808863"/>
                  </a:lnTo>
                  <a:lnTo>
                    <a:pt x="0" y="8088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731" b="-5573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3891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spc="4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SELECTION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133856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347" b="-200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048131"/>
            <a:ext cx="16459200" cy="1365885"/>
            <a:chOff x="0" y="0"/>
            <a:chExt cx="21945600" cy="18211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821180"/>
            </a:xfrm>
            <a:custGeom>
              <a:avLst/>
              <a:gdLst/>
              <a:ahLst/>
              <a:cxnLst/>
              <a:rect l="l" t="t" r="r" b="b"/>
              <a:pathLst>
                <a:path w="21945600" h="1821180">
                  <a:moveTo>
                    <a:pt x="0" y="0"/>
                  </a:moveTo>
                  <a:lnTo>
                    <a:pt x="21945600" y="0"/>
                  </a:lnTo>
                  <a:lnTo>
                    <a:pt x="21945600" y="1821180"/>
                  </a:lnTo>
                  <a:lnTo>
                    <a:pt x="0" y="1821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798" b="-18479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1945600" cy="1954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GridSearch Results &amp; Hyperparameter Tuning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2340864"/>
            <a:ext cx="16459200" cy="640080"/>
            <a:chOff x="0" y="0"/>
            <a:chExt cx="21945600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694" b="-45069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2298002"/>
            <a:ext cx="16459200" cy="682943"/>
            <a:chOff x="0" y="0"/>
            <a:chExt cx="21945600" cy="9105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45600" cy="910590"/>
            </a:xfrm>
            <a:custGeom>
              <a:avLst/>
              <a:gdLst/>
              <a:ahLst/>
              <a:cxnLst/>
              <a:rect l="l" t="t" r="r" b="b"/>
              <a:pathLst>
                <a:path w="21945600" h="910590">
                  <a:moveTo>
                    <a:pt x="0" y="0"/>
                  </a:moveTo>
                  <a:lnTo>
                    <a:pt x="21945600" y="0"/>
                  </a:lnTo>
                  <a:lnTo>
                    <a:pt x="2194560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9597" b="-41959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1945600" cy="9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dirty="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5-fold cross-validation </a:t>
              </a:r>
              <a:r>
                <a:rPr lang="en-US" sz="2600" dirty="0" err="1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optimising</a:t>
              </a:r>
              <a:r>
                <a:rPr lang="en-US" sz="2600" dirty="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ROC-AUC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2178" y="3123314"/>
            <a:ext cx="8274082" cy="5165122"/>
            <a:chOff x="0" y="0"/>
            <a:chExt cx="11032109" cy="68868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032109" cy="6886829"/>
            </a:xfrm>
            <a:custGeom>
              <a:avLst/>
              <a:gdLst/>
              <a:ahLst/>
              <a:cxnLst/>
              <a:rect l="l" t="t" r="r" b="b"/>
              <a:pathLst>
                <a:path w="11032109" h="6886829">
                  <a:moveTo>
                    <a:pt x="0" y="0"/>
                  </a:moveTo>
                  <a:lnTo>
                    <a:pt x="11032109" y="0"/>
                  </a:lnTo>
                  <a:lnTo>
                    <a:pt x="11032109" y="6886829"/>
                  </a:lnTo>
                  <a:lnTo>
                    <a:pt x="0" y="6886829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" y="3383280"/>
            <a:ext cx="8229600" cy="731520"/>
            <a:chOff x="0" y="0"/>
            <a:chExt cx="10972800" cy="975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72800" cy="975360"/>
            </a:xfrm>
            <a:custGeom>
              <a:avLst/>
              <a:gdLst/>
              <a:ahLst/>
              <a:cxnLst/>
              <a:rect l="l" t="t" r="r" b="b"/>
              <a:pathLst>
                <a:path w="10972800" h="97536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054" b="-16905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" y="3347561"/>
            <a:ext cx="8229600" cy="767239"/>
            <a:chOff x="0" y="0"/>
            <a:chExt cx="10972800" cy="102298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972800" cy="1022985"/>
            </a:xfrm>
            <a:custGeom>
              <a:avLst/>
              <a:gdLst/>
              <a:ahLst/>
              <a:cxnLst/>
              <a:rect l="l" t="t" r="r" b="b"/>
              <a:pathLst>
                <a:path w="10972800" h="1022985">
                  <a:moveTo>
                    <a:pt x="0" y="0"/>
                  </a:moveTo>
                  <a:lnTo>
                    <a:pt x="10972800" y="0"/>
                  </a:lnTo>
                  <a:lnTo>
                    <a:pt x="10972800" y="1022985"/>
                  </a:lnTo>
                  <a:lnTo>
                    <a:pt x="0" y="10229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9001" b="-15900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10972800" cy="108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8"/>
                </a:lnSpc>
              </a:pPr>
              <a:r>
                <a:rPr lang="en-US" sz="2799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Configuration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33856" y="4352544"/>
            <a:ext cx="2194560" cy="658368"/>
            <a:chOff x="0" y="0"/>
            <a:chExt cx="2926080" cy="87782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926080" cy="877824"/>
            </a:xfrm>
            <a:custGeom>
              <a:avLst/>
              <a:gdLst/>
              <a:ahLst/>
              <a:cxnLst/>
              <a:rect l="l" t="t" r="r" b="b"/>
              <a:pathLst>
                <a:path w="2926080" h="877824">
                  <a:moveTo>
                    <a:pt x="0" y="0"/>
                  </a:moveTo>
                  <a:lnTo>
                    <a:pt x="2926080" y="0"/>
                  </a:lnTo>
                  <a:lnTo>
                    <a:pt x="292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04" b="-1490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33856" y="4323969"/>
            <a:ext cx="2194560" cy="686943"/>
            <a:chOff x="0" y="0"/>
            <a:chExt cx="2926080" cy="91592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926080" cy="915924"/>
            </a:xfrm>
            <a:custGeom>
              <a:avLst/>
              <a:gdLst/>
              <a:ahLst/>
              <a:cxnLst/>
              <a:rect l="l" t="t" r="r" b="b"/>
              <a:pathLst>
                <a:path w="2926080" h="915924">
                  <a:moveTo>
                    <a:pt x="0" y="0"/>
                  </a:moveTo>
                  <a:lnTo>
                    <a:pt x="2926080" y="0"/>
                  </a:lnTo>
                  <a:lnTo>
                    <a:pt x="2926080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248" b="-1224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926080" cy="954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Penalty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61058" y="4403474"/>
            <a:ext cx="2421922" cy="556546"/>
            <a:chOff x="0" y="0"/>
            <a:chExt cx="3229229" cy="74206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229229" cy="742061"/>
            </a:xfrm>
            <a:custGeom>
              <a:avLst/>
              <a:gdLst/>
              <a:ahLst/>
              <a:cxnLst/>
              <a:rect l="l" t="t" r="r" b="b"/>
              <a:pathLst>
                <a:path w="3229229" h="742061">
                  <a:moveTo>
                    <a:pt x="0" y="0"/>
                  </a:moveTo>
                  <a:lnTo>
                    <a:pt x="3229229" y="0"/>
                  </a:lnTo>
                  <a:lnTo>
                    <a:pt x="3229229" y="742061"/>
                  </a:lnTo>
                  <a:lnTo>
                    <a:pt x="0" y="742061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383280" y="4425696"/>
            <a:ext cx="2377440" cy="512064"/>
            <a:chOff x="0" y="0"/>
            <a:chExt cx="3169920" cy="6827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169920" cy="682752"/>
            </a:xfrm>
            <a:custGeom>
              <a:avLst/>
              <a:gdLst/>
              <a:ahLst/>
              <a:cxnLst/>
              <a:rect l="l" t="t" r="r" b="b"/>
              <a:pathLst>
                <a:path w="3169920" h="682752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03" b="-4040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383280" y="4397121"/>
            <a:ext cx="2377440" cy="540639"/>
            <a:chOff x="0" y="0"/>
            <a:chExt cx="3169920" cy="7208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169920" cy="720852"/>
            </a:xfrm>
            <a:custGeom>
              <a:avLst/>
              <a:gdLst/>
              <a:ahLst/>
              <a:cxnLst/>
              <a:rect l="l" t="t" r="r" b="b"/>
              <a:pathLst>
                <a:path w="3169920" h="720852">
                  <a:moveTo>
                    <a:pt x="0" y="0"/>
                  </a:moveTo>
                  <a:lnTo>
                    <a:pt x="3169920" y="0"/>
                  </a:lnTo>
                  <a:lnTo>
                    <a:pt x="31699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684" b="-3568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16992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L1 (Lasso)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888736" y="4352544"/>
            <a:ext cx="3017520" cy="658368"/>
            <a:chOff x="0" y="0"/>
            <a:chExt cx="4023360" cy="87782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023360" cy="877824"/>
            </a:xfrm>
            <a:custGeom>
              <a:avLst/>
              <a:gdLst/>
              <a:ahLst/>
              <a:cxnLst/>
              <a:rect l="l" t="t" r="r" b="b"/>
              <a:pathLst>
                <a:path w="4023360" h="877824">
                  <a:moveTo>
                    <a:pt x="0" y="0"/>
                  </a:moveTo>
                  <a:lnTo>
                    <a:pt x="4023360" y="0"/>
                  </a:lnTo>
                  <a:lnTo>
                    <a:pt x="40233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244" b="-3924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888736" y="4331113"/>
            <a:ext cx="3017520" cy="679799"/>
            <a:chOff x="0" y="0"/>
            <a:chExt cx="4023360" cy="90639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23360" cy="906399"/>
            </a:xfrm>
            <a:custGeom>
              <a:avLst/>
              <a:gdLst/>
              <a:ahLst/>
              <a:cxnLst/>
              <a:rect l="l" t="t" r="r" b="b"/>
              <a:pathLst>
                <a:path w="4023360" h="906399">
                  <a:moveTo>
                    <a:pt x="0" y="0"/>
                  </a:moveTo>
                  <a:lnTo>
                    <a:pt x="4023360" y="0"/>
                  </a:lnTo>
                  <a:lnTo>
                    <a:pt x="4023360" y="906399"/>
                  </a:lnTo>
                  <a:lnTo>
                    <a:pt x="0" y="906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490" b="-364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402336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dirty="0">
                  <a:solidFill>
                    <a:srgbClr val="8BA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Hard zeroing (L1) preferred over L2 shrinkage: in a sparse credit problem most candidates are noise, not signal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33856" y="5138928"/>
            <a:ext cx="2194560" cy="658368"/>
            <a:chOff x="0" y="0"/>
            <a:chExt cx="2926080" cy="87782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926080" cy="877824"/>
            </a:xfrm>
            <a:custGeom>
              <a:avLst/>
              <a:gdLst/>
              <a:ahLst/>
              <a:cxnLst/>
              <a:rect l="l" t="t" r="r" b="b"/>
              <a:pathLst>
                <a:path w="2926080" h="877824">
                  <a:moveTo>
                    <a:pt x="0" y="0"/>
                  </a:moveTo>
                  <a:lnTo>
                    <a:pt x="2926080" y="0"/>
                  </a:lnTo>
                  <a:lnTo>
                    <a:pt x="292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04" b="-1490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33856" y="5110353"/>
            <a:ext cx="2194560" cy="686943"/>
            <a:chOff x="0" y="0"/>
            <a:chExt cx="2926080" cy="91592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926080" cy="915924"/>
            </a:xfrm>
            <a:custGeom>
              <a:avLst/>
              <a:gdLst/>
              <a:ahLst/>
              <a:cxnLst/>
              <a:rect l="l" t="t" r="r" b="b"/>
              <a:pathLst>
                <a:path w="2926080" h="915924">
                  <a:moveTo>
                    <a:pt x="0" y="0"/>
                  </a:moveTo>
                  <a:lnTo>
                    <a:pt x="2926080" y="0"/>
                  </a:lnTo>
                  <a:lnTo>
                    <a:pt x="2926080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248" b="-1224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2926080" cy="954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(strength)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361058" y="5189858"/>
            <a:ext cx="2421922" cy="556546"/>
            <a:chOff x="0" y="0"/>
            <a:chExt cx="3229229" cy="74206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229229" cy="742061"/>
            </a:xfrm>
            <a:custGeom>
              <a:avLst/>
              <a:gdLst/>
              <a:ahLst/>
              <a:cxnLst/>
              <a:rect l="l" t="t" r="r" b="b"/>
              <a:pathLst>
                <a:path w="3229229" h="742061">
                  <a:moveTo>
                    <a:pt x="0" y="0"/>
                  </a:moveTo>
                  <a:lnTo>
                    <a:pt x="3229229" y="0"/>
                  </a:lnTo>
                  <a:lnTo>
                    <a:pt x="3229229" y="742061"/>
                  </a:lnTo>
                  <a:lnTo>
                    <a:pt x="0" y="742061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383280" y="5212080"/>
            <a:ext cx="2377440" cy="512064"/>
            <a:chOff x="0" y="0"/>
            <a:chExt cx="3169920" cy="68275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169920" cy="682752"/>
            </a:xfrm>
            <a:custGeom>
              <a:avLst/>
              <a:gdLst/>
              <a:ahLst/>
              <a:cxnLst/>
              <a:rect l="l" t="t" r="r" b="b"/>
              <a:pathLst>
                <a:path w="3169920" h="682752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03" b="-4040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383280" y="5183505"/>
            <a:ext cx="2377440" cy="540639"/>
            <a:chOff x="0" y="0"/>
            <a:chExt cx="3169920" cy="72085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169920" cy="720852"/>
            </a:xfrm>
            <a:custGeom>
              <a:avLst/>
              <a:gdLst/>
              <a:ahLst/>
              <a:cxnLst/>
              <a:rect l="l" t="t" r="r" b="b"/>
              <a:pathLst>
                <a:path w="3169920" h="720852">
                  <a:moveTo>
                    <a:pt x="0" y="0"/>
                  </a:moveTo>
                  <a:lnTo>
                    <a:pt x="3169920" y="0"/>
                  </a:lnTo>
                  <a:lnTo>
                    <a:pt x="31699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684" b="-3568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316992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0.05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888736" y="5138928"/>
            <a:ext cx="3017520" cy="658368"/>
            <a:chOff x="0" y="0"/>
            <a:chExt cx="4023360" cy="87782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023360" cy="877824"/>
            </a:xfrm>
            <a:custGeom>
              <a:avLst/>
              <a:gdLst/>
              <a:ahLst/>
              <a:cxnLst/>
              <a:rect l="l" t="t" r="r" b="b"/>
              <a:pathLst>
                <a:path w="4023360" h="877824">
                  <a:moveTo>
                    <a:pt x="0" y="0"/>
                  </a:moveTo>
                  <a:lnTo>
                    <a:pt x="4023360" y="0"/>
                  </a:lnTo>
                  <a:lnTo>
                    <a:pt x="40233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244" b="-3924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888736" y="5117497"/>
            <a:ext cx="3017520" cy="679799"/>
            <a:chOff x="0" y="0"/>
            <a:chExt cx="4023360" cy="90639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023360" cy="906399"/>
            </a:xfrm>
            <a:custGeom>
              <a:avLst/>
              <a:gdLst/>
              <a:ahLst/>
              <a:cxnLst/>
              <a:rect l="l" t="t" r="r" b="b"/>
              <a:pathLst>
                <a:path w="4023360" h="906399">
                  <a:moveTo>
                    <a:pt x="0" y="0"/>
                  </a:moveTo>
                  <a:lnTo>
                    <a:pt x="4023360" y="0"/>
                  </a:lnTo>
                  <a:lnTo>
                    <a:pt x="4023360" y="906399"/>
                  </a:lnTo>
                  <a:lnTo>
                    <a:pt x="0" y="906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490" b="-364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28575"/>
              <a:ext cx="402336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A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Strong regularisation — avoids overfitting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33856" y="5925312"/>
            <a:ext cx="2194560" cy="658368"/>
            <a:chOff x="0" y="0"/>
            <a:chExt cx="2926080" cy="87782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926080" cy="877824"/>
            </a:xfrm>
            <a:custGeom>
              <a:avLst/>
              <a:gdLst/>
              <a:ahLst/>
              <a:cxnLst/>
              <a:rect l="l" t="t" r="r" b="b"/>
              <a:pathLst>
                <a:path w="2926080" h="877824">
                  <a:moveTo>
                    <a:pt x="0" y="0"/>
                  </a:moveTo>
                  <a:lnTo>
                    <a:pt x="2926080" y="0"/>
                  </a:lnTo>
                  <a:lnTo>
                    <a:pt x="292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04" b="-1490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33856" y="5896737"/>
            <a:ext cx="2194560" cy="686943"/>
            <a:chOff x="0" y="0"/>
            <a:chExt cx="2926080" cy="91592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926080" cy="915924"/>
            </a:xfrm>
            <a:custGeom>
              <a:avLst/>
              <a:gdLst/>
              <a:ahLst/>
              <a:cxnLst/>
              <a:rect l="l" t="t" r="r" b="b"/>
              <a:pathLst>
                <a:path w="2926080" h="915924">
                  <a:moveTo>
                    <a:pt x="0" y="0"/>
                  </a:moveTo>
                  <a:lnTo>
                    <a:pt x="2926080" y="0"/>
                  </a:lnTo>
                  <a:lnTo>
                    <a:pt x="2926080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248" b="-1224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2926080" cy="954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weight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361058" y="5976242"/>
            <a:ext cx="2421922" cy="556546"/>
            <a:chOff x="0" y="0"/>
            <a:chExt cx="3229229" cy="742061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229229" cy="742061"/>
            </a:xfrm>
            <a:custGeom>
              <a:avLst/>
              <a:gdLst/>
              <a:ahLst/>
              <a:cxnLst/>
              <a:rect l="l" t="t" r="r" b="b"/>
              <a:pathLst>
                <a:path w="3229229" h="742061">
                  <a:moveTo>
                    <a:pt x="0" y="0"/>
                  </a:moveTo>
                  <a:lnTo>
                    <a:pt x="3229229" y="0"/>
                  </a:lnTo>
                  <a:lnTo>
                    <a:pt x="3229229" y="742061"/>
                  </a:lnTo>
                  <a:lnTo>
                    <a:pt x="0" y="742061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383280" y="5998464"/>
            <a:ext cx="2377440" cy="512064"/>
            <a:chOff x="0" y="0"/>
            <a:chExt cx="3169920" cy="68275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169920" cy="682752"/>
            </a:xfrm>
            <a:custGeom>
              <a:avLst/>
              <a:gdLst/>
              <a:ahLst/>
              <a:cxnLst/>
              <a:rect l="l" t="t" r="r" b="b"/>
              <a:pathLst>
                <a:path w="3169920" h="682752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03" b="-4040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3383280" y="5969889"/>
            <a:ext cx="2377440" cy="540639"/>
            <a:chOff x="0" y="0"/>
            <a:chExt cx="3169920" cy="72085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169920" cy="720852"/>
            </a:xfrm>
            <a:custGeom>
              <a:avLst/>
              <a:gdLst/>
              <a:ahLst/>
              <a:cxnLst/>
              <a:rect l="l" t="t" r="r" b="b"/>
              <a:pathLst>
                <a:path w="3169920" h="720852">
                  <a:moveTo>
                    <a:pt x="0" y="0"/>
                  </a:moveTo>
                  <a:lnTo>
                    <a:pt x="3169920" y="0"/>
                  </a:lnTo>
                  <a:lnTo>
                    <a:pt x="31699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684" b="-3568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316992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{0:1,  1:2}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888736" y="5925312"/>
            <a:ext cx="3017520" cy="658368"/>
            <a:chOff x="0" y="0"/>
            <a:chExt cx="4023360" cy="87782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023360" cy="877824"/>
            </a:xfrm>
            <a:custGeom>
              <a:avLst/>
              <a:gdLst/>
              <a:ahLst/>
              <a:cxnLst/>
              <a:rect l="l" t="t" r="r" b="b"/>
              <a:pathLst>
                <a:path w="4023360" h="877824">
                  <a:moveTo>
                    <a:pt x="0" y="0"/>
                  </a:moveTo>
                  <a:lnTo>
                    <a:pt x="4023360" y="0"/>
                  </a:lnTo>
                  <a:lnTo>
                    <a:pt x="40233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244" b="-3924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888736" y="5903881"/>
            <a:ext cx="3017520" cy="679799"/>
            <a:chOff x="0" y="0"/>
            <a:chExt cx="4023360" cy="906399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023360" cy="906399"/>
            </a:xfrm>
            <a:custGeom>
              <a:avLst/>
              <a:gdLst/>
              <a:ahLst/>
              <a:cxnLst/>
              <a:rect l="l" t="t" r="r" b="b"/>
              <a:pathLst>
                <a:path w="4023360" h="906399">
                  <a:moveTo>
                    <a:pt x="0" y="0"/>
                  </a:moveTo>
                  <a:lnTo>
                    <a:pt x="4023360" y="0"/>
                  </a:lnTo>
                  <a:lnTo>
                    <a:pt x="4023360" y="906399"/>
                  </a:lnTo>
                  <a:lnTo>
                    <a:pt x="0" y="906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490" b="-364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28575"/>
              <a:ext cx="402336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A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Defaults cost 2× more to miss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133856" y="6711696"/>
            <a:ext cx="2194560" cy="658368"/>
            <a:chOff x="0" y="0"/>
            <a:chExt cx="2926080" cy="87782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926080" cy="877824"/>
            </a:xfrm>
            <a:custGeom>
              <a:avLst/>
              <a:gdLst/>
              <a:ahLst/>
              <a:cxnLst/>
              <a:rect l="l" t="t" r="r" b="b"/>
              <a:pathLst>
                <a:path w="2926080" h="877824">
                  <a:moveTo>
                    <a:pt x="0" y="0"/>
                  </a:moveTo>
                  <a:lnTo>
                    <a:pt x="2926080" y="0"/>
                  </a:lnTo>
                  <a:lnTo>
                    <a:pt x="292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04" b="-1490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33856" y="6683121"/>
            <a:ext cx="2194560" cy="686943"/>
            <a:chOff x="0" y="0"/>
            <a:chExt cx="2926080" cy="91592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926080" cy="915924"/>
            </a:xfrm>
            <a:custGeom>
              <a:avLst/>
              <a:gdLst/>
              <a:ahLst/>
              <a:cxnLst/>
              <a:rect l="l" t="t" r="r" b="b"/>
              <a:pathLst>
                <a:path w="2926080" h="915924">
                  <a:moveTo>
                    <a:pt x="0" y="0"/>
                  </a:moveTo>
                  <a:lnTo>
                    <a:pt x="2926080" y="0"/>
                  </a:lnTo>
                  <a:lnTo>
                    <a:pt x="2926080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248" b="-1224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2926080" cy="954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Scoring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361058" y="6762626"/>
            <a:ext cx="2421922" cy="556546"/>
            <a:chOff x="0" y="0"/>
            <a:chExt cx="3229229" cy="742061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229229" cy="742061"/>
            </a:xfrm>
            <a:custGeom>
              <a:avLst/>
              <a:gdLst/>
              <a:ahLst/>
              <a:cxnLst/>
              <a:rect l="l" t="t" r="r" b="b"/>
              <a:pathLst>
                <a:path w="3229229" h="742061">
                  <a:moveTo>
                    <a:pt x="0" y="0"/>
                  </a:moveTo>
                  <a:lnTo>
                    <a:pt x="3229229" y="0"/>
                  </a:lnTo>
                  <a:lnTo>
                    <a:pt x="3229229" y="742061"/>
                  </a:lnTo>
                  <a:lnTo>
                    <a:pt x="0" y="742061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383280" y="6784848"/>
            <a:ext cx="2377440" cy="512064"/>
            <a:chOff x="0" y="0"/>
            <a:chExt cx="3169920" cy="68275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3169920" cy="682752"/>
            </a:xfrm>
            <a:custGeom>
              <a:avLst/>
              <a:gdLst/>
              <a:ahLst/>
              <a:cxnLst/>
              <a:rect l="l" t="t" r="r" b="b"/>
              <a:pathLst>
                <a:path w="3169920" h="682752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03" b="-4040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3383280" y="6756273"/>
            <a:ext cx="2377440" cy="540639"/>
            <a:chOff x="0" y="0"/>
            <a:chExt cx="3169920" cy="72085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169920" cy="720852"/>
            </a:xfrm>
            <a:custGeom>
              <a:avLst/>
              <a:gdLst/>
              <a:ahLst/>
              <a:cxnLst/>
              <a:rect l="l" t="t" r="r" b="b"/>
              <a:pathLst>
                <a:path w="3169920" h="720852">
                  <a:moveTo>
                    <a:pt x="0" y="0"/>
                  </a:moveTo>
                  <a:lnTo>
                    <a:pt x="3169920" y="0"/>
                  </a:lnTo>
                  <a:lnTo>
                    <a:pt x="31699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684" b="-3568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316992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ROC-AUC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888736" y="6711696"/>
            <a:ext cx="3017520" cy="658368"/>
            <a:chOff x="0" y="0"/>
            <a:chExt cx="4023360" cy="87782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4023360" cy="877824"/>
            </a:xfrm>
            <a:custGeom>
              <a:avLst/>
              <a:gdLst/>
              <a:ahLst/>
              <a:cxnLst/>
              <a:rect l="l" t="t" r="r" b="b"/>
              <a:pathLst>
                <a:path w="4023360" h="877824">
                  <a:moveTo>
                    <a:pt x="0" y="0"/>
                  </a:moveTo>
                  <a:lnTo>
                    <a:pt x="4023360" y="0"/>
                  </a:lnTo>
                  <a:lnTo>
                    <a:pt x="40233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244" b="-3924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888736" y="6690265"/>
            <a:ext cx="3017520" cy="679799"/>
            <a:chOff x="0" y="0"/>
            <a:chExt cx="4023360" cy="906399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4023360" cy="906399"/>
            </a:xfrm>
            <a:custGeom>
              <a:avLst/>
              <a:gdLst/>
              <a:ahLst/>
              <a:cxnLst/>
              <a:rect l="l" t="t" r="r" b="b"/>
              <a:pathLst>
                <a:path w="4023360" h="906399">
                  <a:moveTo>
                    <a:pt x="0" y="0"/>
                  </a:moveTo>
                  <a:lnTo>
                    <a:pt x="4023360" y="0"/>
                  </a:lnTo>
                  <a:lnTo>
                    <a:pt x="4023360" y="906399"/>
                  </a:lnTo>
                  <a:lnTo>
                    <a:pt x="0" y="906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490" b="-364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28575"/>
              <a:ext cx="402336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A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Evaluates full ranking quality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33856" y="7498080"/>
            <a:ext cx="2194560" cy="658368"/>
            <a:chOff x="0" y="0"/>
            <a:chExt cx="2926080" cy="877824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926080" cy="877824"/>
            </a:xfrm>
            <a:custGeom>
              <a:avLst/>
              <a:gdLst/>
              <a:ahLst/>
              <a:cxnLst/>
              <a:rect l="l" t="t" r="r" b="b"/>
              <a:pathLst>
                <a:path w="2926080" h="877824">
                  <a:moveTo>
                    <a:pt x="0" y="0"/>
                  </a:moveTo>
                  <a:lnTo>
                    <a:pt x="2926080" y="0"/>
                  </a:lnTo>
                  <a:lnTo>
                    <a:pt x="292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04" b="-1490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133856" y="7469505"/>
            <a:ext cx="2194560" cy="686943"/>
            <a:chOff x="0" y="0"/>
            <a:chExt cx="2926080" cy="91592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926080" cy="915924"/>
            </a:xfrm>
            <a:custGeom>
              <a:avLst/>
              <a:gdLst/>
              <a:ahLst/>
              <a:cxnLst/>
              <a:rect l="l" t="t" r="r" b="b"/>
              <a:pathLst>
                <a:path w="2926080" h="915924">
                  <a:moveTo>
                    <a:pt x="0" y="0"/>
                  </a:moveTo>
                  <a:lnTo>
                    <a:pt x="2926080" y="0"/>
                  </a:lnTo>
                  <a:lnTo>
                    <a:pt x="2926080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248" b="-1224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2926080" cy="954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CV folds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3361058" y="7549010"/>
            <a:ext cx="2421922" cy="556546"/>
            <a:chOff x="0" y="0"/>
            <a:chExt cx="3229229" cy="742061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3229229" cy="742061"/>
            </a:xfrm>
            <a:custGeom>
              <a:avLst/>
              <a:gdLst/>
              <a:ahLst/>
              <a:cxnLst/>
              <a:rect l="l" t="t" r="r" b="b"/>
              <a:pathLst>
                <a:path w="3229229" h="742061">
                  <a:moveTo>
                    <a:pt x="0" y="0"/>
                  </a:moveTo>
                  <a:lnTo>
                    <a:pt x="3229229" y="0"/>
                  </a:lnTo>
                  <a:lnTo>
                    <a:pt x="3229229" y="742061"/>
                  </a:lnTo>
                  <a:lnTo>
                    <a:pt x="0" y="742061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3383280" y="7571232"/>
            <a:ext cx="2377440" cy="512064"/>
            <a:chOff x="0" y="0"/>
            <a:chExt cx="3169920" cy="68275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3169920" cy="682752"/>
            </a:xfrm>
            <a:custGeom>
              <a:avLst/>
              <a:gdLst/>
              <a:ahLst/>
              <a:cxnLst/>
              <a:rect l="l" t="t" r="r" b="b"/>
              <a:pathLst>
                <a:path w="3169920" h="682752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03" b="-4040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3383280" y="7542657"/>
            <a:ext cx="2377440" cy="540639"/>
            <a:chOff x="0" y="0"/>
            <a:chExt cx="3169920" cy="720852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3169920" cy="720852"/>
            </a:xfrm>
            <a:custGeom>
              <a:avLst/>
              <a:gdLst/>
              <a:ahLst/>
              <a:cxnLst/>
              <a:rect l="l" t="t" r="r" b="b"/>
              <a:pathLst>
                <a:path w="3169920" h="720852">
                  <a:moveTo>
                    <a:pt x="0" y="0"/>
                  </a:moveTo>
                  <a:lnTo>
                    <a:pt x="3169920" y="0"/>
                  </a:lnTo>
                  <a:lnTo>
                    <a:pt x="31699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684" b="-3568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-38100"/>
              <a:ext cx="316992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5888736" y="7498080"/>
            <a:ext cx="3017520" cy="658368"/>
            <a:chOff x="0" y="0"/>
            <a:chExt cx="4023360" cy="87782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023360" cy="877824"/>
            </a:xfrm>
            <a:custGeom>
              <a:avLst/>
              <a:gdLst/>
              <a:ahLst/>
              <a:cxnLst/>
              <a:rect l="l" t="t" r="r" b="b"/>
              <a:pathLst>
                <a:path w="4023360" h="877824">
                  <a:moveTo>
                    <a:pt x="0" y="0"/>
                  </a:moveTo>
                  <a:lnTo>
                    <a:pt x="4023360" y="0"/>
                  </a:lnTo>
                  <a:lnTo>
                    <a:pt x="40233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244" b="-3924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020500" y="7493047"/>
            <a:ext cx="3017520" cy="679799"/>
            <a:chOff x="0" y="0"/>
            <a:chExt cx="4023360" cy="906399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4023360" cy="906399"/>
            </a:xfrm>
            <a:custGeom>
              <a:avLst/>
              <a:gdLst/>
              <a:ahLst/>
              <a:cxnLst/>
              <a:rect l="l" t="t" r="r" b="b"/>
              <a:pathLst>
                <a:path w="4023360" h="906399">
                  <a:moveTo>
                    <a:pt x="0" y="0"/>
                  </a:moveTo>
                  <a:lnTo>
                    <a:pt x="4023360" y="0"/>
                  </a:lnTo>
                  <a:lnTo>
                    <a:pt x="4023360" y="906399"/>
                  </a:lnTo>
                  <a:lnTo>
                    <a:pt x="0" y="906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490" b="-3649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-28575"/>
              <a:ext cx="402336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A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Stratified — preserves 7.9% rate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509760" y="7644384"/>
            <a:ext cx="8229600" cy="640080"/>
            <a:chOff x="0" y="0"/>
            <a:chExt cx="10972800" cy="85344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0972800" cy="853440"/>
            </a:xfrm>
            <a:custGeom>
              <a:avLst/>
              <a:gdLst/>
              <a:ahLst/>
              <a:cxnLst/>
              <a:rect l="l" t="t" r="r" b="b"/>
              <a:pathLst>
                <a:path w="10972800" h="85344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348" b="-20034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509760" y="7615809"/>
            <a:ext cx="8229600" cy="668655"/>
            <a:chOff x="0" y="0"/>
            <a:chExt cx="10972800" cy="89154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10972800" cy="891540"/>
            </a:xfrm>
            <a:custGeom>
              <a:avLst/>
              <a:gdLst/>
              <a:ahLst/>
              <a:cxnLst/>
              <a:rect l="l" t="t" r="r" b="b"/>
              <a:pathLst>
                <a:path w="10972800" h="89154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9815" b="-189815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  <a:solidFill>
              <a:schemeClr val="bg1"/>
            </a:solidFill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dirty="0">
                  <a:solidFill>
                    <a:srgbClr val="00206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Threshold</a:t>
              </a:r>
              <a:r>
                <a:rPr lang="en-US" sz="1800" i="1" dirty="0">
                  <a:solidFill>
                    <a:srgbClr val="00206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0.461 selected at the F1 peak using out-of-fold cross-validated probabilities — no data leakage</a:t>
              </a:r>
              <a:r>
                <a:rPr lang="en-US" sz="1800" i="1" dirty="0">
                  <a:solidFill>
                    <a:srgbClr val="0070C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.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892178" y="8536562"/>
            <a:ext cx="8274082" cy="1032034"/>
            <a:chOff x="0" y="0"/>
            <a:chExt cx="11032109" cy="1376045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1032109" cy="1376045"/>
            </a:xfrm>
            <a:custGeom>
              <a:avLst/>
              <a:gdLst/>
              <a:ahLst/>
              <a:cxnLst/>
              <a:rect l="l" t="t" r="r" b="b"/>
              <a:pathLst>
                <a:path w="11032109" h="1376045">
                  <a:moveTo>
                    <a:pt x="0" y="0"/>
                  </a:moveTo>
                  <a:lnTo>
                    <a:pt x="11032109" y="0"/>
                  </a:lnTo>
                  <a:lnTo>
                    <a:pt x="11032109" y="1376045"/>
                  </a:lnTo>
                  <a:lnTo>
                    <a:pt x="0" y="1376045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914400" y="8558784"/>
            <a:ext cx="8229600" cy="987552"/>
            <a:chOff x="0" y="0"/>
            <a:chExt cx="10972800" cy="1316736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10972800" cy="1316736"/>
            </a:xfrm>
            <a:custGeom>
              <a:avLst/>
              <a:gdLst/>
              <a:ahLst/>
              <a:cxnLst/>
              <a:rect l="l" t="t" r="r" b="b"/>
              <a:pathLst>
                <a:path w="10972800" h="1316736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262" b="-11226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762000" y="8501634"/>
            <a:ext cx="8382000" cy="1044702"/>
            <a:chOff x="-203200" y="-38100"/>
            <a:chExt cx="11176000" cy="1392936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0972800" cy="1354836"/>
            </a:xfrm>
            <a:custGeom>
              <a:avLst/>
              <a:gdLst/>
              <a:ahLst/>
              <a:cxnLst/>
              <a:rect l="l" t="t" r="r" b="b"/>
              <a:pathLst>
                <a:path w="10972800" h="1354836">
                  <a:moveTo>
                    <a:pt x="0" y="0"/>
                  </a:moveTo>
                  <a:lnTo>
                    <a:pt x="10972800" y="0"/>
                  </a:lnTo>
                  <a:lnTo>
                    <a:pt x="10972800" y="1354836"/>
                  </a:lnTo>
                  <a:lnTo>
                    <a:pt x="0" y="13548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T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-203200" y="-38100"/>
              <a:ext cx="11176000" cy="1392936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 dirty="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Lasso retained 13 of 40 features  —  dropped 17 noisy or redundant variables. Sector medians computed on training set only — no leakage to test set.</a:t>
              </a:r>
            </a:p>
          </p:txBody>
        </p:sp>
      </p:grpSp>
      <p:sp>
        <p:nvSpPr>
          <p:cNvPr id="126" name="TextBox 125"/>
          <p:cNvSpPr txBox="1"/>
          <p:nvPr/>
        </p:nvSpPr>
        <p:spPr>
          <a:xfrm>
            <a:off x="9899504" y="8351938"/>
            <a:ext cx="7406640" cy="13234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The </a:t>
            </a:r>
            <a:r>
              <a:rPr lang="en-US" sz="2000" b="1" dirty="0">
                <a:solidFill>
                  <a:srgbClr val="FF0000"/>
                </a:solidFill>
                <a:ea typeface="Calibri (MS) Italics"/>
                <a:cs typeface="Calibri (MS) Italics"/>
                <a:sym typeface="Calibri (MS) Italics"/>
              </a:rPr>
              <a:t>0.461</a:t>
            </a:r>
            <a:r>
              <a:rPr lang="en-US" sz="2000" b="1" i="1" dirty="0">
                <a:solidFill>
                  <a:srgbClr val="002060"/>
                </a:solidFill>
                <a:ea typeface="Calibri (MS) Italics"/>
                <a:cs typeface="Calibri (MS) Italics"/>
                <a:sym typeface="Calibri (MS) Italics"/>
              </a:rPr>
              <a:t> t</a:t>
            </a:r>
            <a:r>
              <a:rPr lang="en-US" sz="2000" b="1" dirty="0"/>
              <a:t>hreshold selected using out‑of‑fold probabilities reflects real deployment conditions, ensuring the economic trade‑off between missed bankruptcies and false alarms is estimated without optimism bias</a:t>
            </a:r>
            <a:r>
              <a:rPr lang="en-US" sz="2000" dirty="0"/>
              <a:t>.</a:t>
            </a:r>
            <a:endParaRPr lang="en-GB" sz="2000" dirty="0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92529450-1131-93F9-6C80-8A5066CBBA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6370" y="3209670"/>
            <a:ext cx="7829774" cy="43447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178" y="380114"/>
            <a:ext cx="3336322" cy="629698"/>
            <a:chOff x="0" y="0"/>
            <a:chExt cx="4448429" cy="839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429" cy="839597"/>
            </a:xfrm>
            <a:custGeom>
              <a:avLst/>
              <a:gdLst/>
              <a:ahLst/>
              <a:cxnLst/>
              <a:rect l="l" t="t" r="r" b="b"/>
              <a:pathLst>
                <a:path w="4448429" h="839597">
                  <a:moveTo>
                    <a:pt x="0" y="0"/>
                  </a:moveTo>
                  <a:lnTo>
                    <a:pt x="4448429" y="0"/>
                  </a:lnTo>
                  <a:lnTo>
                    <a:pt x="4448429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402336"/>
            <a:ext cx="3291840" cy="585216"/>
            <a:chOff x="0" y="0"/>
            <a:chExt cx="438912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780288"/>
            </a:xfrm>
            <a:custGeom>
              <a:avLst/>
              <a:gdLst/>
              <a:ahLst/>
              <a:cxnLst/>
              <a:rect l="l" t="t" r="r" b="b"/>
              <a:pathLst>
                <a:path w="4389120" h="780288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26" b="-5952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80905"/>
            <a:ext cx="3291840" cy="606647"/>
            <a:chOff x="0" y="0"/>
            <a:chExt cx="4389120" cy="8088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808863"/>
            </a:xfrm>
            <a:custGeom>
              <a:avLst/>
              <a:gdLst/>
              <a:ahLst/>
              <a:cxnLst/>
              <a:rect l="l" t="t" r="r" b="b"/>
              <a:pathLst>
                <a:path w="4389120" h="808863">
                  <a:moveTo>
                    <a:pt x="0" y="0"/>
                  </a:moveTo>
                  <a:lnTo>
                    <a:pt x="4389120" y="0"/>
                  </a:lnTo>
                  <a:lnTo>
                    <a:pt x="4389120" y="808863"/>
                  </a:lnTo>
                  <a:lnTo>
                    <a:pt x="0" y="8088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731" b="-5573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3891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spc="4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133856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347" b="-200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048131"/>
            <a:ext cx="16459200" cy="1365885"/>
            <a:chOff x="0" y="0"/>
            <a:chExt cx="21945600" cy="18211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821180"/>
            </a:xfrm>
            <a:custGeom>
              <a:avLst/>
              <a:gdLst/>
              <a:ahLst/>
              <a:cxnLst/>
              <a:rect l="l" t="t" r="r" b="b"/>
              <a:pathLst>
                <a:path w="21945600" h="1821180">
                  <a:moveTo>
                    <a:pt x="0" y="0"/>
                  </a:moveTo>
                  <a:lnTo>
                    <a:pt x="21945600" y="0"/>
                  </a:lnTo>
                  <a:lnTo>
                    <a:pt x="21945600" y="1821180"/>
                  </a:lnTo>
                  <a:lnTo>
                    <a:pt x="0" y="1821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798" b="-18479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1945600" cy="1954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Performance — Validation Set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2340864"/>
            <a:ext cx="16459200" cy="640080"/>
            <a:chOff x="0" y="0"/>
            <a:chExt cx="21945600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694" b="-45069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2298002"/>
            <a:ext cx="16459200" cy="682943"/>
            <a:chOff x="0" y="0"/>
            <a:chExt cx="21945600" cy="9105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45600" cy="910590"/>
            </a:xfrm>
            <a:custGeom>
              <a:avLst/>
              <a:gdLst/>
              <a:ahLst/>
              <a:cxnLst/>
              <a:rect l="l" t="t" r="r" b="b"/>
              <a:pathLst>
                <a:path w="21945600" h="910590">
                  <a:moveTo>
                    <a:pt x="0" y="0"/>
                  </a:moveTo>
                  <a:lnTo>
                    <a:pt x="21945600" y="0"/>
                  </a:lnTo>
                  <a:lnTo>
                    <a:pt x="2194560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9597" b="-41959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1945600" cy="9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metrics on the held-out 20% test set (356 firms, 28 actual bankruptcies)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4845" y="3042285"/>
            <a:ext cx="3150870" cy="2327910"/>
            <a:chOff x="0" y="0"/>
            <a:chExt cx="4201160" cy="31038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201160" cy="3103880"/>
            </a:xfrm>
            <a:custGeom>
              <a:avLst/>
              <a:gdLst/>
              <a:ahLst/>
              <a:cxnLst/>
              <a:rect l="l" t="t" r="r" b="b"/>
              <a:pathLst>
                <a:path w="4201160" h="3103880">
                  <a:moveTo>
                    <a:pt x="0" y="0"/>
                  </a:moveTo>
                  <a:lnTo>
                    <a:pt x="4201160" y="0"/>
                  </a:lnTo>
                  <a:lnTo>
                    <a:pt x="4201160" y="3103880"/>
                  </a:lnTo>
                  <a:lnTo>
                    <a:pt x="0" y="3103880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31520" y="3255264"/>
            <a:ext cx="3017520" cy="1207008"/>
            <a:chOff x="0" y="0"/>
            <a:chExt cx="4023360" cy="16093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023360" cy="1609344"/>
            </a:xfrm>
            <a:custGeom>
              <a:avLst/>
              <a:gdLst/>
              <a:ahLst/>
              <a:cxnLst/>
              <a:rect l="l" t="t" r="r" b="b"/>
              <a:pathLst>
                <a:path w="4023360" h="1609344">
                  <a:moveTo>
                    <a:pt x="0" y="0"/>
                  </a:moveTo>
                  <a:lnTo>
                    <a:pt x="4023360" y="0"/>
                  </a:lnTo>
                  <a:lnTo>
                    <a:pt x="402336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1520" y="3162395"/>
            <a:ext cx="3017520" cy="1299877"/>
            <a:chOff x="0" y="0"/>
            <a:chExt cx="4023360" cy="17331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23360" cy="1733169"/>
            </a:xfrm>
            <a:custGeom>
              <a:avLst/>
              <a:gdLst/>
              <a:ahLst/>
              <a:cxnLst/>
              <a:rect l="l" t="t" r="r" b="b"/>
              <a:pathLst>
                <a:path w="4023360" h="1733169">
                  <a:moveTo>
                    <a:pt x="0" y="0"/>
                  </a:moveTo>
                  <a:lnTo>
                    <a:pt x="4023360" y="0"/>
                  </a:lnTo>
                  <a:lnTo>
                    <a:pt x="4023360" y="1733169"/>
                  </a:lnTo>
                  <a:lnTo>
                    <a:pt x="0" y="17331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270" r="-527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23825"/>
              <a:ext cx="4023360" cy="185699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2A3F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78.6%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66413" y="3042285"/>
            <a:ext cx="3150870" cy="2327910"/>
            <a:chOff x="0" y="0"/>
            <a:chExt cx="4201160" cy="31038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01160" cy="3103880"/>
            </a:xfrm>
            <a:custGeom>
              <a:avLst/>
              <a:gdLst/>
              <a:ahLst/>
              <a:cxnLst/>
              <a:rect l="l" t="t" r="r" b="b"/>
              <a:pathLst>
                <a:path w="4201160" h="3103880">
                  <a:moveTo>
                    <a:pt x="0" y="0"/>
                  </a:moveTo>
                  <a:lnTo>
                    <a:pt x="4201160" y="0"/>
                  </a:lnTo>
                  <a:lnTo>
                    <a:pt x="4201160" y="3103880"/>
                  </a:lnTo>
                  <a:lnTo>
                    <a:pt x="0" y="3103880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7AE6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33088" y="3255264"/>
            <a:ext cx="3017520" cy="1207008"/>
            <a:chOff x="0" y="0"/>
            <a:chExt cx="4023360" cy="160934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023360" cy="1609344"/>
            </a:xfrm>
            <a:custGeom>
              <a:avLst/>
              <a:gdLst/>
              <a:ahLst/>
              <a:cxnLst/>
              <a:rect l="l" t="t" r="r" b="b"/>
              <a:pathLst>
                <a:path w="4023360" h="1609344">
                  <a:moveTo>
                    <a:pt x="0" y="0"/>
                  </a:moveTo>
                  <a:lnTo>
                    <a:pt x="4023360" y="0"/>
                  </a:lnTo>
                  <a:lnTo>
                    <a:pt x="402336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133088" y="3162395"/>
            <a:ext cx="3017520" cy="1299877"/>
            <a:chOff x="0" y="0"/>
            <a:chExt cx="4023360" cy="173316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023360" cy="1733169"/>
            </a:xfrm>
            <a:custGeom>
              <a:avLst/>
              <a:gdLst/>
              <a:ahLst/>
              <a:cxnLst/>
              <a:rect l="l" t="t" r="r" b="b"/>
              <a:pathLst>
                <a:path w="4023360" h="1733169">
                  <a:moveTo>
                    <a:pt x="0" y="0"/>
                  </a:moveTo>
                  <a:lnTo>
                    <a:pt x="4023360" y="0"/>
                  </a:lnTo>
                  <a:lnTo>
                    <a:pt x="4023360" y="1733169"/>
                  </a:lnTo>
                  <a:lnTo>
                    <a:pt x="0" y="17331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270" r="-527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23825"/>
              <a:ext cx="4023360" cy="185699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94.6%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67981" y="3042285"/>
            <a:ext cx="3150870" cy="2327910"/>
            <a:chOff x="0" y="0"/>
            <a:chExt cx="4201160" cy="31038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201160" cy="3103880"/>
            </a:xfrm>
            <a:custGeom>
              <a:avLst/>
              <a:gdLst/>
              <a:ahLst/>
              <a:cxnLst/>
              <a:rect l="l" t="t" r="r" b="b"/>
              <a:pathLst>
                <a:path w="4201160" h="3103880">
                  <a:moveTo>
                    <a:pt x="0" y="0"/>
                  </a:moveTo>
                  <a:lnTo>
                    <a:pt x="4201160" y="0"/>
                  </a:lnTo>
                  <a:lnTo>
                    <a:pt x="4201160" y="3103880"/>
                  </a:lnTo>
                  <a:lnTo>
                    <a:pt x="0" y="3103880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F39C12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534656" y="3255264"/>
            <a:ext cx="3017520" cy="1207008"/>
            <a:chOff x="0" y="0"/>
            <a:chExt cx="4023360" cy="16093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023360" cy="1609344"/>
            </a:xfrm>
            <a:custGeom>
              <a:avLst/>
              <a:gdLst/>
              <a:ahLst/>
              <a:cxnLst/>
              <a:rect l="l" t="t" r="r" b="b"/>
              <a:pathLst>
                <a:path w="4023360" h="1609344">
                  <a:moveTo>
                    <a:pt x="0" y="0"/>
                  </a:moveTo>
                  <a:lnTo>
                    <a:pt x="4023360" y="0"/>
                  </a:lnTo>
                  <a:lnTo>
                    <a:pt x="402336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34656" y="3162395"/>
            <a:ext cx="3017520" cy="1299877"/>
            <a:chOff x="0" y="0"/>
            <a:chExt cx="4023360" cy="173316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023360" cy="1733169"/>
            </a:xfrm>
            <a:custGeom>
              <a:avLst/>
              <a:gdLst/>
              <a:ahLst/>
              <a:cxnLst/>
              <a:rect l="l" t="t" r="r" b="b"/>
              <a:pathLst>
                <a:path w="4023360" h="1733169">
                  <a:moveTo>
                    <a:pt x="0" y="0"/>
                  </a:moveTo>
                  <a:lnTo>
                    <a:pt x="4023360" y="0"/>
                  </a:lnTo>
                  <a:lnTo>
                    <a:pt x="4023360" y="1733169"/>
                  </a:lnTo>
                  <a:lnTo>
                    <a:pt x="0" y="17331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270" r="-527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23825"/>
              <a:ext cx="4023360" cy="185699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70.4%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7534656" y="4286555"/>
            <a:ext cx="3017520" cy="929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Precision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869549" y="3042285"/>
            <a:ext cx="3150870" cy="2327910"/>
            <a:chOff x="0" y="0"/>
            <a:chExt cx="4201160" cy="31038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201160" cy="3103880"/>
            </a:xfrm>
            <a:custGeom>
              <a:avLst/>
              <a:gdLst/>
              <a:ahLst/>
              <a:cxnLst/>
              <a:rect l="l" t="t" r="r" b="b"/>
              <a:pathLst>
                <a:path w="4201160" h="3103880">
                  <a:moveTo>
                    <a:pt x="0" y="0"/>
                  </a:moveTo>
                  <a:lnTo>
                    <a:pt x="4201160" y="0"/>
                  </a:lnTo>
                  <a:lnTo>
                    <a:pt x="4201160" y="3103880"/>
                  </a:lnTo>
                  <a:lnTo>
                    <a:pt x="0" y="3103880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E74C3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936224" y="3255264"/>
            <a:ext cx="3017520" cy="1207008"/>
            <a:chOff x="0" y="0"/>
            <a:chExt cx="4023360" cy="16093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023360" cy="1609344"/>
            </a:xfrm>
            <a:custGeom>
              <a:avLst/>
              <a:gdLst/>
              <a:ahLst/>
              <a:cxnLst/>
              <a:rect l="l" t="t" r="r" b="b"/>
              <a:pathLst>
                <a:path w="4023360" h="1609344">
                  <a:moveTo>
                    <a:pt x="0" y="0"/>
                  </a:moveTo>
                  <a:lnTo>
                    <a:pt x="4023360" y="0"/>
                  </a:lnTo>
                  <a:lnTo>
                    <a:pt x="402336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936224" y="3162395"/>
            <a:ext cx="3017520" cy="1299877"/>
            <a:chOff x="0" y="0"/>
            <a:chExt cx="4023360" cy="173316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023360" cy="1733169"/>
            </a:xfrm>
            <a:custGeom>
              <a:avLst/>
              <a:gdLst/>
              <a:ahLst/>
              <a:cxnLst/>
              <a:rect l="l" t="t" r="r" b="b"/>
              <a:pathLst>
                <a:path w="4023360" h="1733169">
                  <a:moveTo>
                    <a:pt x="0" y="0"/>
                  </a:moveTo>
                  <a:lnTo>
                    <a:pt x="4023360" y="0"/>
                  </a:lnTo>
                  <a:lnTo>
                    <a:pt x="4023360" y="1733169"/>
                  </a:lnTo>
                  <a:lnTo>
                    <a:pt x="0" y="17331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270" r="-527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23825"/>
              <a:ext cx="4023360" cy="185699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54.3%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936224" y="4286555"/>
            <a:ext cx="3017520" cy="929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Recall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4271117" y="3042285"/>
            <a:ext cx="3150870" cy="2327910"/>
            <a:chOff x="0" y="0"/>
            <a:chExt cx="4201160" cy="31038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201160" cy="3103880"/>
            </a:xfrm>
            <a:custGeom>
              <a:avLst/>
              <a:gdLst/>
              <a:ahLst/>
              <a:cxnLst/>
              <a:rect l="l" t="t" r="r" b="b"/>
              <a:pathLst>
                <a:path w="4201160" h="3103880">
                  <a:moveTo>
                    <a:pt x="0" y="0"/>
                  </a:moveTo>
                  <a:lnTo>
                    <a:pt x="4201160" y="0"/>
                  </a:lnTo>
                  <a:lnTo>
                    <a:pt x="4201160" y="3103880"/>
                  </a:lnTo>
                  <a:lnTo>
                    <a:pt x="0" y="3103880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337792" y="3255264"/>
            <a:ext cx="3017520" cy="1207008"/>
            <a:chOff x="0" y="0"/>
            <a:chExt cx="4023360" cy="160934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023360" cy="1609344"/>
            </a:xfrm>
            <a:custGeom>
              <a:avLst/>
              <a:gdLst/>
              <a:ahLst/>
              <a:cxnLst/>
              <a:rect l="l" t="t" r="r" b="b"/>
              <a:pathLst>
                <a:path w="4023360" h="1609344">
                  <a:moveTo>
                    <a:pt x="0" y="0"/>
                  </a:moveTo>
                  <a:lnTo>
                    <a:pt x="4023360" y="0"/>
                  </a:lnTo>
                  <a:lnTo>
                    <a:pt x="402336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337792" y="3162395"/>
            <a:ext cx="3017520" cy="1299877"/>
            <a:chOff x="0" y="0"/>
            <a:chExt cx="4023360" cy="173316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023360" cy="1733169"/>
            </a:xfrm>
            <a:custGeom>
              <a:avLst/>
              <a:gdLst/>
              <a:ahLst/>
              <a:cxnLst/>
              <a:rect l="l" t="t" r="r" b="b"/>
              <a:pathLst>
                <a:path w="4023360" h="1733169">
                  <a:moveTo>
                    <a:pt x="0" y="0"/>
                  </a:moveTo>
                  <a:lnTo>
                    <a:pt x="4023360" y="0"/>
                  </a:lnTo>
                  <a:lnTo>
                    <a:pt x="4023360" y="1733169"/>
                  </a:lnTo>
                  <a:lnTo>
                    <a:pt x="0" y="17331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270" r="-527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23825"/>
              <a:ext cx="4023360" cy="185699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2A3F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0.545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4337792" y="4286555"/>
            <a:ext cx="3017520" cy="929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F1 Score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816921" y="6129023"/>
            <a:ext cx="8639842" cy="739426"/>
            <a:chOff x="0" y="0"/>
            <a:chExt cx="11519789" cy="98590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519789" cy="985901"/>
            </a:xfrm>
            <a:custGeom>
              <a:avLst/>
              <a:gdLst/>
              <a:ahLst/>
              <a:cxnLst/>
              <a:rect l="l" t="t" r="r" b="b"/>
              <a:pathLst>
                <a:path w="11519789" h="985901">
                  <a:moveTo>
                    <a:pt x="0" y="0"/>
                  </a:moveTo>
                  <a:lnTo>
                    <a:pt x="11519789" y="0"/>
                  </a:lnTo>
                  <a:lnTo>
                    <a:pt x="11519789" y="985901"/>
                  </a:lnTo>
                  <a:lnTo>
                    <a:pt x="0" y="985901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39143" y="6151245"/>
            <a:ext cx="8595360" cy="694944"/>
            <a:chOff x="0" y="0"/>
            <a:chExt cx="11460480" cy="92659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1460480" cy="926592"/>
            </a:xfrm>
            <a:custGeom>
              <a:avLst/>
              <a:gdLst/>
              <a:ahLst/>
              <a:cxnLst/>
              <a:rect l="l" t="t" r="r" b="b"/>
              <a:pathLst>
                <a:path w="11460480" h="926592">
                  <a:moveTo>
                    <a:pt x="0" y="0"/>
                  </a:moveTo>
                  <a:lnTo>
                    <a:pt x="11460480" y="0"/>
                  </a:lnTo>
                  <a:lnTo>
                    <a:pt x="11460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831" b="-19083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839143" y="6122670"/>
            <a:ext cx="8595360" cy="723519"/>
            <a:chOff x="0" y="0"/>
            <a:chExt cx="11460480" cy="96469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460480" cy="964692"/>
            </a:xfrm>
            <a:custGeom>
              <a:avLst/>
              <a:gdLst/>
              <a:ahLst/>
              <a:cxnLst/>
              <a:rect l="l" t="t" r="r" b="b"/>
              <a:pathLst>
                <a:path w="11460480" h="964692">
                  <a:moveTo>
                    <a:pt x="0" y="0"/>
                  </a:moveTo>
                  <a:lnTo>
                    <a:pt x="11460480" y="0"/>
                  </a:lnTo>
                  <a:lnTo>
                    <a:pt x="1146048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481" b="-18148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11460480" cy="1002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             |                Accuracy    |         Precision  |            Recall             |        F1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816921" y="6823967"/>
            <a:ext cx="8639842" cy="739426"/>
            <a:chOff x="0" y="0"/>
            <a:chExt cx="11519789" cy="985901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1519789" cy="985901"/>
            </a:xfrm>
            <a:custGeom>
              <a:avLst/>
              <a:gdLst/>
              <a:ahLst/>
              <a:cxnLst/>
              <a:rect l="l" t="t" r="r" b="b"/>
              <a:pathLst>
                <a:path w="11519789" h="985901">
                  <a:moveTo>
                    <a:pt x="0" y="0"/>
                  </a:moveTo>
                  <a:lnTo>
                    <a:pt x="11519789" y="0"/>
                  </a:lnTo>
                  <a:lnTo>
                    <a:pt x="11519789" y="985901"/>
                  </a:lnTo>
                  <a:lnTo>
                    <a:pt x="0" y="985901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8096" y="6400800"/>
            <a:ext cx="2743200" cy="621792"/>
            <a:chOff x="0" y="0"/>
            <a:chExt cx="3657600" cy="82905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657600" cy="829056"/>
            </a:xfrm>
            <a:custGeom>
              <a:avLst/>
              <a:gdLst/>
              <a:ahLst/>
              <a:cxnLst/>
              <a:rect l="l" t="t" r="r" b="b"/>
              <a:pathLst>
                <a:path w="3657600" h="829056">
                  <a:moveTo>
                    <a:pt x="0" y="0"/>
                  </a:moveTo>
                  <a:lnTo>
                    <a:pt x="3657600" y="0"/>
                  </a:lnTo>
                  <a:lnTo>
                    <a:pt x="3657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903" b="-3590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925027" y="6886785"/>
            <a:ext cx="2743200" cy="650367"/>
            <a:chOff x="0" y="0"/>
            <a:chExt cx="3657600" cy="86715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657600" cy="867156"/>
            </a:xfrm>
            <a:custGeom>
              <a:avLst/>
              <a:gdLst/>
              <a:ahLst/>
              <a:cxnLst/>
              <a:rect l="l" t="t" r="r" b="b"/>
              <a:pathLst>
                <a:path w="3657600" h="867156">
                  <a:moveTo>
                    <a:pt x="0" y="0"/>
                  </a:moveTo>
                  <a:lnTo>
                    <a:pt x="3657600" y="0"/>
                  </a:lnTo>
                  <a:lnTo>
                    <a:pt x="365760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186" b="-3218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3657600" cy="90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All-Zero Baseline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618919" y="6882765"/>
            <a:ext cx="1463040" cy="621792"/>
            <a:chOff x="0" y="0"/>
            <a:chExt cx="1950720" cy="82905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950720" cy="829056"/>
            </a:xfrm>
            <a:custGeom>
              <a:avLst/>
              <a:gdLst/>
              <a:ahLst/>
              <a:cxnLst/>
              <a:rect l="l" t="t" r="r" b="b"/>
              <a:pathLst>
                <a:path w="1950720" h="829056">
                  <a:moveTo>
                    <a:pt x="0" y="0"/>
                  </a:moveTo>
                  <a:lnTo>
                    <a:pt x="1950720" y="0"/>
                  </a:lnTo>
                  <a:lnTo>
                    <a:pt x="19507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7" r="-45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7618919" y="6854190"/>
            <a:ext cx="1463040" cy="650367"/>
            <a:chOff x="0" y="0"/>
            <a:chExt cx="1950720" cy="86715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950720" cy="867156"/>
            </a:xfrm>
            <a:custGeom>
              <a:avLst/>
              <a:gdLst/>
              <a:ahLst/>
              <a:cxnLst/>
              <a:rect l="l" t="t" r="r" b="b"/>
              <a:pathLst>
                <a:path w="1950720" h="867156">
                  <a:moveTo>
                    <a:pt x="0" y="0"/>
                  </a:moveTo>
                  <a:lnTo>
                    <a:pt x="1950720" y="0"/>
                  </a:lnTo>
                  <a:lnTo>
                    <a:pt x="195072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34" r="-703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1950720" cy="90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92.1%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081959" y="6882765"/>
            <a:ext cx="1463040" cy="621792"/>
            <a:chOff x="0" y="0"/>
            <a:chExt cx="1950720" cy="82905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950720" cy="829056"/>
            </a:xfrm>
            <a:custGeom>
              <a:avLst/>
              <a:gdLst/>
              <a:ahLst/>
              <a:cxnLst/>
              <a:rect l="l" t="t" r="r" b="b"/>
              <a:pathLst>
                <a:path w="1950720" h="829056">
                  <a:moveTo>
                    <a:pt x="0" y="0"/>
                  </a:moveTo>
                  <a:lnTo>
                    <a:pt x="1950720" y="0"/>
                  </a:lnTo>
                  <a:lnTo>
                    <a:pt x="19507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7" r="-45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081959" y="6854190"/>
            <a:ext cx="1463040" cy="650367"/>
            <a:chOff x="0" y="0"/>
            <a:chExt cx="1950720" cy="867156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950720" cy="867156"/>
            </a:xfrm>
            <a:custGeom>
              <a:avLst/>
              <a:gdLst/>
              <a:ahLst/>
              <a:cxnLst/>
              <a:rect l="l" t="t" r="r" b="b"/>
              <a:pathLst>
                <a:path w="1950720" h="867156">
                  <a:moveTo>
                    <a:pt x="0" y="0"/>
                  </a:moveTo>
                  <a:lnTo>
                    <a:pt x="1950720" y="0"/>
                  </a:lnTo>
                  <a:lnTo>
                    <a:pt x="195072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34" r="-703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1950720" cy="90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n/a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0544999" y="6882765"/>
            <a:ext cx="1463040" cy="621792"/>
            <a:chOff x="0" y="0"/>
            <a:chExt cx="1950720" cy="82905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950720" cy="829056"/>
            </a:xfrm>
            <a:custGeom>
              <a:avLst/>
              <a:gdLst/>
              <a:ahLst/>
              <a:cxnLst/>
              <a:rect l="l" t="t" r="r" b="b"/>
              <a:pathLst>
                <a:path w="1950720" h="829056">
                  <a:moveTo>
                    <a:pt x="0" y="0"/>
                  </a:moveTo>
                  <a:lnTo>
                    <a:pt x="1950720" y="0"/>
                  </a:lnTo>
                  <a:lnTo>
                    <a:pt x="19507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7" r="-45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0544999" y="6854190"/>
            <a:ext cx="1463040" cy="650367"/>
            <a:chOff x="0" y="0"/>
            <a:chExt cx="1950720" cy="86715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950720" cy="867156"/>
            </a:xfrm>
            <a:custGeom>
              <a:avLst/>
              <a:gdLst/>
              <a:ahLst/>
              <a:cxnLst/>
              <a:rect l="l" t="t" r="r" b="b"/>
              <a:pathLst>
                <a:path w="1950720" h="867156">
                  <a:moveTo>
                    <a:pt x="0" y="0"/>
                  </a:moveTo>
                  <a:lnTo>
                    <a:pt x="1950720" y="0"/>
                  </a:lnTo>
                  <a:lnTo>
                    <a:pt x="195072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34" r="-703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1950720" cy="90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0.0%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008039" y="6882765"/>
            <a:ext cx="1463040" cy="621792"/>
            <a:chOff x="0" y="0"/>
            <a:chExt cx="1950720" cy="82905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950720" cy="829056"/>
            </a:xfrm>
            <a:custGeom>
              <a:avLst/>
              <a:gdLst/>
              <a:ahLst/>
              <a:cxnLst/>
              <a:rect l="l" t="t" r="r" b="b"/>
              <a:pathLst>
                <a:path w="1950720" h="829056">
                  <a:moveTo>
                    <a:pt x="0" y="0"/>
                  </a:moveTo>
                  <a:lnTo>
                    <a:pt x="1950720" y="0"/>
                  </a:lnTo>
                  <a:lnTo>
                    <a:pt x="19507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7" r="-45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2008039" y="6854190"/>
            <a:ext cx="1463040" cy="650367"/>
            <a:chOff x="0" y="0"/>
            <a:chExt cx="1950720" cy="86715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950720" cy="867156"/>
            </a:xfrm>
            <a:custGeom>
              <a:avLst/>
              <a:gdLst/>
              <a:ahLst/>
              <a:cxnLst/>
              <a:rect l="l" t="t" r="r" b="b"/>
              <a:pathLst>
                <a:path w="1950720" h="867156">
                  <a:moveTo>
                    <a:pt x="0" y="0"/>
                  </a:moveTo>
                  <a:lnTo>
                    <a:pt x="1950720" y="0"/>
                  </a:lnTo>
                  <a:lnTo>
                    <a:pt x="195072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34" r="-703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1950720" cy="90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0.000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816921" y="7555487"/>
            <a:ext cx="8639842" cy="739426"/>
            <a:chOff x="0" y="0"/>
            <a:chExt cx="11519789" cy="985901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1519789" cy="985901"/>
            </a:xfrm>
            <a:custGeom>
              <a:avLst/>
              <a:gdLst/>
              <a:ahLst/>
              <a:cxnLst/>
              <a:rect l="l" t="t" r="r" b="b"/>
              <a:pathLst>
                <a:path w="11519789" h="985901">
                  <a:moveTo>
                    <a:pt x="0" y="0"/>
                  </a:moveTo>
                  <a:lnTo>
                    <a:pt x="11519789" y="0"/>
                  </a:lnTo>
                  <a:lnTo>
                    <a:pt x="11519789" y="985901"/>
                  </a:lnTo>
                  <a:lnTo>
                    <a:pt x="0" y="985901"/>
                  </a:lnTo>
                  <a:close/>
                </a:path>
              </a:pathLst>
            </a:custGeom>
            <a:solidFill>
              <a:srgbClr val="DDEE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68096" y="7132320"/>
            <a:ext cx="2743200" cy="621792"/>
            <a:chOff x="0" y="0"/>
            <a:chExt cx="3657600" cy="829056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657600" cy="829056"/>
            </a:xfrm>
            <a:custGeom>
              <a:avLst/>
              <a:gdLst/>
              <a:ahLst/>
              <a:cxnLst/>
              <a:rect l="l" t="t" r="r" b="b"/>
              <a:pathLst>
                <a:path w="3657600" h="829056">
                  <a:moveTo>
                    <a:pt x="0" y="0"/>
                  </a:moveTo>
                  <a:lnTo>
                    <a:pt x="3657600" y="0"/>
                  </a:lnTo>
                  <a:lnTo>
                    <a:pt x="3657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903" b="-3590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4925027" y="7599997"/>
            <a:ext cx="2743200" cy="650367"/>
            <a:chOff x="0" y="0"/>
            <a:chExt cx="3657600" cy="867156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657600" cy="867156"/>
            </a:xfrm>
            <a:custGeom>
              <a:avLst/>
              <a:gdLst/>
              <a:ahLst/>
              <a:cxnLst/>
              <a:rect l="l" t="t" r="r" b="b"/>
              <a:pathLst>
                <a:path w="3657600" h="867156">
                  <a:moveTo>
                    <a:pt x="0" y="0"/>
                  </a:moveTo>
                  <a:lnTo>
                    <a:pt x="3657600" y="0"/>
                  </a:lnTo>
                  <a:lnTo>
                    <a:pt x="365760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186" b="-3218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3657600" cy="90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Our Model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7618919" y="7614285"/>
            <a:ext cx="1463040" cy="621792"/>
            <a:chOff x="0" y="0"/>
            <a:chExt cx="1950720" cy="829056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950720" cy="829056"/>
            </a:xfrm>
            <a:custGeom>
              <a:avLst/>
              <a:gdLst/>
              <a:ahLst/>
              <a:cxnLst/>
              <a:rect l="l" t="t" r="r" b="b"/>
              <a:pathLst>
                <a:path w="1950720" h="829056">
                  <a:moveTo>
                    <a:pt x="0" y="0"/>
                  </a:moveTo>
                  <a:lnTo>
                    <a:pt x="1950720" y="0"/>
                  </a:lnTo>
                  <a:lnTo>
                    <a:pt x="19507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7" r="-45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7618919" y="7585710"/>
            <a:ext cx="1463040" cy="650367"/>
            <a:chOff x="0" y="0"/>
            <a:chExt cx="1950720" cy="867156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950720" cy="867156"/>
            </a:xfrm>
            <a:custGeom>
              <a:avLst/>
              <a:gdLst/>
              <a:ahLst/>
              <a:cxnLst/>
              <a:rect l="l" t="t" r="r" b="b"/>
              <a:pathLst>
                <a:path w="1950720" h="867156">
                  <a:moveTo>
                    <a:pt x="0" y="0"/>
                  </a:moveTo>
                  <a:lnTo>
                    <a:pt x="1950720" y="0"/>
                  </a:lnTo>
                  <a:lnTo>
                    <a:pt x="195072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34" r="-703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0" y="-38100"/>
              <a:ext cx="1950720" cy="90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94.4%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081959" y="7614285"/>
            <a:ext cx="1463040" cy="621792"/>
            <a:chOff x="0" y="0"/>
            <a:chExt cx="1950720" cy="829056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1950720" cy="829056"/>
            </a:xfrm>
            <a:custGeom>
              <a:avLst/>
              <a:gdLst/>
              <a:ahLst/>
              <a:cxnLst/>
              <a:rect l="l" t="t" r="r" b="b"/>
              <a:pathLst>
                <a:path w="1950720" h="829056">
                  <a:moveTo>
                    <a:pt x="0" y="0"/>
                  </a:moveTo>
                  <a:lnTo>
                    <a:pt x="1950720" y="0"/>
                  </a:lnTo>
                  <a:lnTo>
                    <a:pt x="19507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7" r="-45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9081959" y="7585710"/>
            <a:ext cx="1463040" cy="650367"/>
            <a:chOff x="0" y="0"/>
            <a:chExt cx="1950720" cy="867156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950720" cy="867156"/>
            </a:xfrm>
            <a:custGeom>
              <a:avLst/>
              <a:gdLst/>
              <a:ahLst/>
              <a:cxnLst/>
              <a:rect l="l" t="t" r="r" b="b"/>
              <a:pathLst>
                <a:path w="1950720" h="867156">
                  <a:moveTo>
                    <a:pt x="0" y="0"/>
                  </a:moveTo>
                  <a:lnTo>
                    <a:pt x="1950720" y="0"/>
                  </a:lnTo>
                  <a:lnTo>
                    <a:pt x="195072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34" r="-7034"/>
              </a:stretch>
            </a:blipFill>
          </p:spPr>
          <p:txBody>
            <a:bodyPr/>
            <a:lstStyle/>
            <a:p>
              <a:endParaRPr lang="en-IT" dirty="0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-38100"/>
              <a:ext cx="1950720" cy="90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 dirty="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70.4%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0544999" y="7614285"/>
            <a:ext cx="1463040" cy="621792"/>
            <a:chOff x="0" y="0"/>
            <a:chExt cx="1950720" cy="829056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950720" cy="829056"/>
            </a:xfrm>
            <a:custGeom>
              <a:avLst/>
              <a:gdLst/>
              <a:ahLst/>
              <a:cxnLst/>
              <a:rect l="l" t="t" r="r" b="b"/>
              <a:pathLst>
                <a:path w="1950720" h="829056">
                  <a:moveTo>
                    <a:pt x="0" y="0"/>
                  </a:moveTo>
                  <a:lnTo>
                    <a:pt x="1950720" y="0"/>
                  </a:lnTo>
                  <a:lnTo>
                    <a:pt x="19507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7" r="-45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0544999" y="7585710"/>
            <a:ext cx="1463040" cy="650367"/>
            <a:chOff x="0" y="0"/>
            <a:chExt cx="1950720" cy="867156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950720" cy="867156"/>
            </a:xfrm>
            <a:custGeom>
              <a:avLst/>
              <a:gdLst/>
              <a:ahLst/>
              <a:cxnLst/>
              <a:rect l="l" t="t" r="r" b="b"/>
              <a:pathLst>
                <a:path w="1950720" h="867156">
                  <a:moveTo>
                    <a:pt x="0" y="0"/>
                  </a:moveTo>
                  <a:lnTo>
                    <a:pt x="1950720" y="0"/>
                  </a:lnTo>
                  <a:lnTo>
                    <a:pt x="195072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34" r="-7034"/>
              </a:stretch>
            </a:blipFill>
          </p:spPr>
          <p:txBody>
            <a:bodyPr/>
            <a:lstStyle/>
            <a:p>
              <a:endParaRPr lang="en-IT" dirty="0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1950720" cy="90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 dirty="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54.3%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2008039" y="7614285"/>
            <a:ext cx="1463040" cy="621792"/>
            <a:chOff x="0" y="0"/>
            <a:chExt cx="1950720" cy="829056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950720" cy="829056"/>
            </a:xfrm>
            <a:custGeom>
              <a:avLst/>
              <a:gdLst/>
              <a:ahLst/>
              <a:cxnLst/>
              <a:rect l="l" t="t" r="r" b="b"/>
              <a:pathLst>
                <a:path w="1950720" h="829056">
                  <a:moveTo>
                    <a:pt x="0" y="0"/>
                  </a:moveTo>
                  <a:lnTo>
                    <a:pt x="1950720" y="0"/>
                  </a:lnTo>
                  <a:lnTo>
                    <a:pt x="19507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7" r="-45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2008039" y="7585710"/>
            <a:ext cx="1463040" cy="650367"/>
            <a:chOff x="0" y="0"/>
            <a:chExt cx="1950720" cy="867156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1950720" cy="867156"/>
            </a:xfrm>
            <a:custGeom>
              <a:avLst/>
              <a:gdLst/>
              <a:ahLst/>
              <a:cxnLst/>
              <a:rect l="l" t="t" r="r" b="b"/>
              <a:pathLst>
                <a:path w="1950720" h="867156">
                  <a:moveTo>
                    <a:pt x="0" y="0"/>
                  </a:moveTo>
                  <a:lnTo>
                    <a:pt x="1950720" y="0"/>
                  </a:lnTo>
                  <a:lnTo>
                    <a:pt x="195072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34" r="-703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0" y="-38100"/>
              <a:ext cx="1950720" cy="90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0.545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731520" y="9656064"/>
            <a:ext cx="16824960" cy="402336"/>
            <a:chOff x="0" y="0"/>
            <a:chExt cx="22433280" cy="536448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22433280" cy="536448"/>
            </a:xfrm>
            <a:custGeom>
              <a:avLst/>
              <a:gdLst/>
              <a:ahLst/>
              <a:cxnLst/>
              <a:rect l="l" t="t" r="r" b="b"/>
              <a:pathLst>
                <a:path w="22433280" h="536448">
                  <a:moveTo>
                    <a:pt x="0" y="0"/>
                  </a:moveTo>
                  <a:lnTo>
                    <a:pt x="22433280" y="0"/>
                  </a:lnTo>
                  <a:lnTo>
                    <a:pt x="22433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4261" b="-76426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731520" y="8996553"/>
            <a:ext cx="16824960" cy="659511"/>
            <a:chOff x="0" y="0"/>
            <a:chExt cx="22433280" cy="879348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22433280" cy="879348"/>
            </a:xfrm>
            <a:custGeom>
              <a:avLst/>
              <a:gdLst/>
              <a:ahLst/>
              <a:cxnLst/>
              <a:rect l="l" t="t" r="r" b="b"/>
              <a:pathLst>
                <a:path w="22433280" h="879348">
                  <a:moveTo>
                    <a:pt x="0" y="0"/>
                  </a:moveTo>
                  <a:lnTo>
                    <a:pt x="22433280" y="0"/>
                  </a:lnTo>
                  <a:lnTo>
                    <a:pt x="22433280" y="879348"/>
                  </a:lnTo>
                  <a:lnTo>
                    <a:pt x="0" y="8793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4418" b="-429756"/>
              </a:stretch>
            </a:blipFill>
          </p:spPr>
          <p:txBody>
            <a:bodyPr/>
            <a:lstStyle/>
            <a:p>
              <a:endParaRPr lang="en-IT" dirty="0"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-38100"/>
              <a:ext cx="22433280" cy="9174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i="1" dirty="0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AUC = 0.7859 significantly above random (0.50). The all-zero baseline misses 100% of bankruptcies — in credit risk, a missed default (FN) is far more costly than a false alarm. Our model catches </a:t>
              </a:r>
              <a:r>
                <a:rPr lang="en-US" i="1" dirty="0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54</a:t>
              </a:r>
              <a:r>
                <a:rPr lang="en-US" sz="1800" i="1" dirty="0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% of failures with 70% precision.</a:t>
              </a:r>
            </a:p>
          </p:txBody>
        </p:sp>
      </p:grpSp>
      <p:sp>
        <p:nvSpPr>
          <p:cNvPr id="123" name="TextBox 123"/>
          <p:cNvSpPr txBox="1"/>
          <p:nvPr/>
        </p:nvSpPr>
        <p:spPr>
          <a:xfrm>
            <a:off x="731520" y="4286555"/>
            <a:ext cx="3017520" cy="929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ROC-AUC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4133088" y="4286555"/>
            <a:ext cx="3017520" cy="929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178" y="380114"/>
            <a:ext cx="3336322" cy="629698"/>
            <a:chOff x="0" y="0"/>
            <a:chExt cx="4448429" cy="839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429" cy="839597"/>
            </a:xfrm>
            <a:custGeom>
              <a:avLst/>
              <a:gdLst/>
              <a:ahLst/>
              <a:cxnLst/>
              <a:rect l="l" t="t" r="r" b="b"/>
              <a:pathLst>
                <a:path w="4448429" h="839597">
                  <a:moveTo>
                    <a:pt x="0" y="0"/>
                  </a:moveTo>
                  <a:lnTo>
                    <a:pt x="4448429" y="0"/>
                  </a:lnTo>
                  <a:lnTo>
                    <a:pt x="4448429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402336"/>
            <a:ext cx="3291840" cy="585216"/>
            <a:chOff x="0" y="0"/>
            <a:chExt cx="438912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780288"/>
            </a:xfrm>
            <a:custGeom>
              <a:avLst/>
              <a:gdLst/>
              <a:ahLst/>
              <a:cxnLst/>
              <a:rect l="l" t="t" r="r" b="b"/>
              <a:pathLst>
                <a:path w="4389120" h="780288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26" b="-5952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80905"/>
            <a:ext cx="3291840" cy="606647"/>
            <a:chOff x="0" y="0"/>
            <a:chExt cx="4389120" cy="8088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808863"/>
            </a:xfrm>
            <a:custGeom>
              <a:avLst/>
              <a:gdLst/>
              <a:ahLst/>
              <a:cxnLst/>
              <a:rect l="l" t="t" r="r" b="b"/>
              <a:pathLst>
                <a:path w="4389120" h="808863">
                  <a:moveTo>
                    <a:pt x="0" y="0"/>
                  </a:moveTo>
                  <a:lnTo>
                    <a:pt x="4389120" y="0"/>
                  </a:lnTo>
                  <a:lnTo>
                    <a:pt x="4389120" y="808863"/>
                  </a:lnTo>
                  <a:lnTo>
                    <a:pt x="0" y="8088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731" b="-5573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3891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spc="4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133856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347" b="-200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048131"/>
            <a:ext cx="16459200" cy="1365885"/>
            <a:chOff x="0" y="0"/>
            <a:chExt cx="21945600" cy="18211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821180"/>
            </a:xfrm>
            <a:custGeom>
              <a:avLst/>
              <a:gdLst/>
              <a:ahLst/>
              <a:cxnLst/>
              <a:rect l="l" t="t" r="r" b="b"/>
              <a:pathLst>
                <a:path w="21945600" h="1821180">
                  <a:moveTo>
                    <a:pt x="0" y="0"/>
                  </a:moveTo>
                  <a:lnTo>
                    <a:pt x="21945600" y="0"/>
                  </a:lnTo>
                  <a:lnTo>
                    <a:pt x="21945600" y="1821180"/>
                  </a:lnTo>
                  <a:lnTo>
                    <a:pt x="0" y="1821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798" b="-18479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1945600" cy="1954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Confusion Matrix — What the Model Caught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2340864"/>
            <a:ext cx="6005474" cy="640080"/>
            <a:chOff x="0" y="0"/>
            <a:chExt cx="8007299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007350" cy="853440"/>
            </a:xfrm>
            <a:custGeom>
              <a:avLst/>
              <a:gdLst/>
              <a:ahLst/>
              <a:cxnLst/>
              <a:rect l="l" t="t" r="r" b="b"/>
              <a:pathLst>
                <a:path w="8007350" h="853440">
                  <a:moveTo>
                    <a:pt x="0" y="0"/>
                  </a:moveTo>
                  <a:lnTo>
                    <a:pt x="8007350" y="0"/>
                  </a:lnTo>
                  <a:lnTo>
                    <a:pt x="800735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88" b="-13268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2298002"/>
            <a:ext cx="6005474" cy="682943"/>
            <a:chOff x="0" y="0"/>
            <a:chExt cx="8007299" cy="9105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007300" cy="910590"/>
            </a:xfrm>
            <a:custGeom>
              <a:avLst/>
              <a:gdLst/>
              <a:ahLst/>
              <a:cxnLst/>
              <a:rect l="l" t="t" r="r" b="b"/>
              <a:pathLst>
                <a:path w="8007300" h="910590">
                  <a:moveTo>
                    <a:pt x="0" y="0"/>
                  </a:moveTo>
                  <a:lnTo>
                    <a:pt x="8007300" y="0"/>
                  </a:lnTo>
                  <a:lnTo>
                    <a:pt x="800730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1342" b="-12134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8007299" cy="9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set: 356 firms | 28 actual bankruptcies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01703" y="3015272"/>
            <a:ext cx="9144000" cy="6403048"/>
            <a:chOff x="0" y="0"/>
            <a:chExt cx="12192000" cy="8537397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2192000" cy="8537448"/>
            </a:xfrm>
            <a:custGeom>
              <a:avLst/>
              <a:gdLst/>
              <a:ahLst/>
              <a:cxnLst/>
              <a:rect l="l" t="t" r="r" b="b"/>
              <a:pathLst>
                <a:path w="12192000" h="8537448">
                  <a:moveTo>
                    <a:pt x="0" y="0"/>
                  </a:moveTo>
                  <a:lnTo>
                    <a:pt x="12192000" y="0"/>
                  </a:lnTo>
                  <a:lnTo>
                    <a:pt x="12192000" y="8537448"/>
                  </a:lnTo>
                  <a:lnTo>
                    <a:pt x="0" y="853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176" b="-917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359171" y="2952531"/>
            <a:ext cx="7041318" cy="1588218"/>
            <a:chOff x="0" y="0"/>
            <a:chExt cx="9388424" cy="211762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388475" cy="2117598"/>
            </a:xfrm>
            <a:custGeom>
              <a:avLst/>
              <a:gdLst/>
              <a:ahLst/>
              <a:cxnLst/>
              <a:rect l="l" t="t" r="r" b="b"/>
              <a:pathLst>
                <a:path w="9388475" h="2117598">
                  <a:moveTo>
                    <a:pt x="0" y="0"/>
                  </a:moveTo>
                  <a:lnTo>
                    <a:pt x="9388475" y="0"/>
                  </a:lnTo>
                  <a:lnTo>
                    <a:pt x="9388475" y="2117598"/>
                  </a:lnTo>
                  <a:lnTo>
                    <a:pt x="0" y="2117598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7AE6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422074" y="3015272"/>
            <a:ext cx="1210208" cy="1462735"/>
            <a:chOff x="0" y="0"/>
            <a:chExt cx="1613611" cy="19503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13662" cy="1950339"/>
            </a:xfrm>
            <a:custGeom>
              <a:avLst/>
              <a:gdLst/>
              <a:ahLst/>
              <a:cxnLst/>
              <a:rect l="l" t="t" r="r" b="b"/>
              <a:pathLst>
                <a:path w="1613662" h="1950339">
                  <a:moveTo>
                    <a:pt x="0" y="0"/>
                  </a:moveTo>
                  <a:lnTo>
                    <a:pt x="1613662" y="0"/>
                  </a:lnTo>
                  <a:lnTo>
                    <a:pt x="1613662" y="1950339"/>
                  </a:lnTo>
                  <a:lnTo>
                    <a:pt x="0" y="1950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180" r="-105177" b="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422074" y="2941330"/>
            <a:ext cx="1210208" cy="1536678"/>
            <a:chOff x="0" y="0"/>
            <a:chExt cx="1613611" cy="204890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13617" cy="2048905"/>
            </a:xfrm>
            <a:custGeom>
              <a:avLst/>
              <a:gdLst/>
              <a:ahLst/>
              <a:cxnLst/>
              <a:rect l="l" t="t" r="r" b="b"/>
              <a:pathLst>
                <a:path w="1613617" h="2048905">
                  <a:moveTo>
                    <a:pt x="0" y="0"/>
                  </a:moveTo>
                  <a:lnTo>
                    <a:pt x="1613617" y="0"/>
                  </a:lnTo>
                  <a:lnTo>
                    <a:pt x="1613617" y="2048905"/>
                  </a:lnTo>
                  <a:lnTo>
                    <a:pt x="0" y="20489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2914" r="-11291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04775"/>
              <a:ext cx="1613611" cy="2153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718731" y="3118523"/>
            <a:ext cx="5445957" cy="516255"/>
            <a:chOff x="0" y="0"/>
            <a:chExt cx="7261276" cy="6883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61225" cy="688340"/>
            </a:xfrm>
            <a:custGeom>
              <a:avLst/>
              <a:gdLst/>
              <a:ahLst/>
              <a:cxnLst/>
              <a:rect l="l" t="t" r="r" b="b"/>
              <a:pathLst>
                <a:path w="7261225" h="688340">
                  <a:moveTo>
                    <a:pt x="0" y="0"/>
                  </a:moveTo>
                  <a:lnTo>
                    <a:pt x="7261225" y="0"/>
                  </a:lnTo>
                  <a:lnTo>
                    <a:pt x="7261225" y="688340"/>
                  </a:lnTo>
                  <a:lnTo>
                    <a:pt x="0" y="688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04" b="-15540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718731" y="3084909"/>
            <a:ext cx="5445957" cy="549869"/>
            <a:chOff x="0" y="0"/>
            <a:chExt cx="7261276" cy="73315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61278" cy="733159"/>
            </a:xfrm>
            <a:custGeom>
              <a:avLst/>
              <a:gdLst/>
              <a:ahLst/>
              <a:cxnLst/>
              <a:rect l="l" t="t" r="r" b="b"/>
              <a:pathLst>
                <a:path w="7261278" h="733159">
                  <a:moveTo>
                    <a:pt x="0" y="0"/>
                  </a:moveTo>
                  <a:lnTo>
                    <a:pt x="7261278" y="0"/>
                  </a:lnTo>
                  <a:lnTo>
                    <a:pt x="7261278" y="733159"/>
                  </a:lnTo>
                  <a:lnTo>
                    <a:pt x="0" y="7331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2981" b="-14298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7261276" cy="7807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True Positives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718731" y="3669201"/>
            <a:ext cx="5445957" cy="653929"/>
            <a:chOff x="0" y="0"/>
            <a:chExt cx="7261276" cy="8719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261225" cy="871855"/>
            </a:xfrm>
            <a:custGeom>
              <a:avLst/>
              <a:gdLst/>
              <a:ahLst/>
              <a:cxnLst/>
              <a:rect l="l" t="t" r="r" b="b"/>
              <a:pathLst>
                <a:path w="7261225" h="871855">
                  <a:moveTo>
                    <a:pt x="0" y="0"/>
                  </a:moveTo>
                  <a:lnTo>
                    <a:pt x="7261225" y="0"/>
                  </a:lnTo>
                  <a:lnTo>
                    <a:pt x="7261225" y="871855"/>
                  </a:lnTo>
                  <a:lnTo>
                    <a:pt x="0" y="87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166" b="-11217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718731" y="3642312"/>
            <a:ext cx="5445957" cy="680818"/>
            <a:chOff x="0" y="0"/>
            <a:chExt cx="7261276" cy="90775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261278" cy="907755"/>
            </a:xfrm>
            <a:custGeom>
              <a:avLst/>
              <a:gdLst/>
              <a:ahLst/>
              <a:cxnLst/>
              <a:rect l="l" t="t" r="r" b="b"/>
              <a:pathLst>
                <a:path w="7261278" h="907755">
                  <a:moveTo>
                    <a:pt x="0" y="0"/>
                  </a:moveTo>
                  <a:lnTo>
                    <a:pt x="7261278" y="0"/>
                  </a:lnTo>
                  <a:lnTo>
                    <a:pt x="7261278" y="907755"/>
                  </a:lnTo>
                  <a:lnTo>
                    <a:pt x="0" y="9077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5863" b="-10586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261276" cy="945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Bankruptcies correctly flagged — the model's core goal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359171" y="4587354"/>
            <a:ext cx="7041318" cy="1588218"/>
            <a:chOff x="0" y="0"/>
            <a:chExt cx="9388424" cy="211762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388475" cy="2117598"/>
            </a:xfrm>
            <a:custGeom>
              <a:avLst/>
              <a:gdLst/>
              <a:ahLst/>
              <a:cxnLst/>
              <a:rect l="l" t="t" r="r" b="b"/>
              <a:pathLst>
                <a:path w="9388475" h="2117598">
                  <a:moveTo>
                    <a:pt x="0" y="0"/>
                  </a:moveTo>
                  <a:lnTo>
                    <a:pt x="9388475" y="0"/>
                  </a:lnTo>
                  <a:lnTo>
                    <a:pt x="9388475" y="2117598"/>
                  </a:lnTo>
                  <a:lnTo>
                    <a:pt x="0" y="2117598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22074" y="4650095"/>
            <a:ext cx="1210208" cy="1462735"/>
            <a:chOff x="0" y="0"/>
            <a:chExt cx="1613611" cy="195031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613662" cy="1950339"/>
            </a:xfrm>
            <a:custGeom>
              <a:avLst/>
              <a:gdLst/>
              <a:ahLst/>
              <a:cxnLst/>
              <a:rect l="l" t="t" r="r" b="b"/>
              <a:pathLst>
                <a:path w="1613662" h="1950339">
                  <a:moveTo>
                    <a:pt x="0" y="0"/>
                  </a:moveTo>
                  <a:lnTo>
                    <a:pt x="1613662" y="0"/>
                  </a:lnTo>
                  <a:lnTo>
                    <a:pt x="1613662" y="1950339"/>
                  </a:lnTo>
                  <a:lnTo>
                    <a:pt x="0" y="1950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180" r="-105177" b="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422074" y="4576153"/>
            <a:ext cx="1210208" cy="1536678"/>
            <a:chOff x="0" y="0"/>
            <a:chExt cx="1613611" cy="204890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613617" cy="2048905"/>
            </a:xfrm>
            <a:custGeom>
              <a:avLst/>
              <a:gdLst/>
              <a:ahLst/>
              <a:cxnLst/>
              <a:rect l="l" t="t" r="r" b="b"/>
              <a:pathLst>
                <a:path w="1613617" h="2048905">
                  <a:moveTo>
                    <a:pt x="0" y="0"/>
                  </a:moveTo>
                  <a:lnTo>
                    <a:pt x="1613617" y="0"/>
                  </a:lnTo>
                  <a:lnTo>
                    <a:pt x="1613617" y="2048905"/>
                  </a:lnTo>
                  <a:lnTo>
                    <a:pt x="0" y="20489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2914" r="-11291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04775"/>
              <a:ext cx="1613611" cy="2153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2A3F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324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718731" y="4753346"/>
            <a:ext cx="5445957" cy="516255"/>
            <a:chOff x="0" y="0"/>
            <a:chExt cx="7261276" cy="6883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261225" cy="688340"/>
            </a:xfrm>
            <a:custGeom>
              <a:avLst/>
              <a:gdLst/>
              <a:ahLst/>
              <a:cxnLst/>
              <a:rect l="l" t="t" r="r" b="b"/>
              <a:pathLst>
                <a:path w="7261225" h="688340">
                  <a:moveTo>
                    <a:pt x="0" y="0"/>
                  </a:moveTo>
                  <a:lnTo>
                    <a:pt x="7261225" y="0"/>
                  </a:lnTo>
                  <a:lnTo>
                    <a:pt x="7261225" y="688340"/>
                  </a:lnTo>
                  <a:lnTo>
                    <a:pt x="0" y="688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04" b="-15540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718731" y="4719733"/>
            <a:ext cx="5445957" cy="549869"/>
            <a:chOff x="0" y="0"/>
            <a:chExt cx="7261276" cy="73315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261278" cy="733159"/>
            </a:xfrm>
            <a:custGeom>
              <a:avLst/>
              <a:gdLst/>
              <a:ahLst/>
              <a:cxnLst/>
              <a:rect l="l" t="t" r="r" b="b"/>
              <a:pathLst>
                <a:path w="7261278" h="733159">
                  <a:moveTo>
                    <a:pt x="0" y="0"/>
                  </a:moveTo>
                  <a:lnTo>
                    <a:pt x="7261278" y="0"/>
                  </a:lnTo>
                  <a:lnTo>
                    <a:pt x="7261278" y="733159"/>
                  </a:lnTo>
                  <a:lnTo>
                    <a:pt x="0" y="7331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2981" b="-14298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7261276" cy="7807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True Negatives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718731" y="5304025"/>
            <a:ext cx="5445957" cy="653929"/>
            <a:chOff x="0" y="0"/>
            <a:chExt cx="7261276" cy="87190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261225" cy="871855"/>
            </a:xfrm>
            <a:custGeom>
              <a:avLst/>
              <a:gdLst/>
              <a:ahLst/>
              <a:cxnLst/>
              <a:rect l="l" t="t" r="r" b="b"/>
              <a:pathLst>
                <a:path w="7261225" h="871855">
                  <a:moveTo>
                    <a:pt x="0" y="0"/>
                  </a:moveTo>
                  <a:lnTo>
                    <a:pt x="7261225" y="0"/>
                  </a:lnTo>
                  <a:lnTo>
                    <a:pt x="7261225" y="871855"/>
                  </a:lnTo>
                  <a:lnTo>
                    <a:pt x="0" y="87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166" b="-11217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718731" y="5277136"/>
            <a:ext cx="5445957" cy="680818"/>
            <a:chOff x="0" y="0"/>
            <a:chExt cx="7261276" cy="90775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261278" cy="907755"/>
            </a:xfrm>
            <a:custGeom>
              <a:avLst/>
              <a:gdLst/>
              <a:ahLst/>
              <a:cxnLst/>
              <a:rect l="l" t="t" r="r" b="b"/>
              <a:pathLst>
                <a:path w="7261278" h="907755">
                  <a:moveTo>
                    <a:pt x="0" y="0"/>
                  </a:moveTo>
                  <a:lnTo>
                    <a:pt x="7261278" y="0"/>
                  </a:lnTo>
                  <a:lnTo>
                    <a:pt x="7261278" y="907755"/>
                  </a:lnTo>
                  <a:lnTo>
                    <a:pt x="0" y="9077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5863" b="-10586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7261276" cy="945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Healthy firms correctly cleared — no false alarm cost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359171" y="6222178"/>
            <a:ext cx="7041318" cy="1588218"/>
            <a:chOff x="0" y="0"/>
            <a:chExt cx="9388424" cy="211762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9388475" cy="2117598"/>
            </a:xfrm>
            <a:custGeom>
              <a:avLst/>
              <a:gdLst/>
              <a:ahLst/>
              <a:cxnLst/>
              <a:rect l="l" t="t" r="r" b="b"/>
              <a:pathLst>
                <a:path w="9388475" h="2117598">
                  <a:moveTo>
                    <a:pt x="0" y="0"/>
                  </a:moveTo>
                  <a:lnTo>
                    <a:pt x="9388475" y="0"/>
                  </a:lnTo>
                  <a:lnTo>
                    <a:pt x="9388475" y="2117598"/>
                  </a:lnTo>
                  <a:lnTo>
                    <a:pt x="0" y="2117598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F39C12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422074" y="6284909"/>
            <a:ext cx="1210208" cy="1462735"/>
            <a:chOff x="0" y="0"/>
            <a:chExt cx="1613611" cy="195031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613662" cy="1950339"/>
            </a:xfrm>
            <a:custGeom>
              <a:avLst/>
              <a:gdLst/>
              <a:ahLst/>
              <a:cxnLst/>
              <a:rect l="l" t="t" r="r" b="b"/>
              <a:pathLst>
                <a:path w="1613662" h="1950339">
                  <a:moveTo>
                    <a:pt x="0" y="0"/>
                  </a:moveTo>
                  <a:lnTo>
                    <a:pt x="1613662" y="0"/>
                  </a:lnTo>
                  <a:lnTo>
                    <a:pt x="1613662" y="1950339"/>
                  </a:lnTo>
                  <a:lnTo>
                    <a:pt x="0" y="1950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180" r="-105177" b="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422074" y="6210967"/>
            <a:ext cx="1210208" cy="1536678"/>
            <a:chOff x="0" y="0"/>
            <a:chExt cx="1613611" cy="204890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613617" cy="2048905"/>
            </a:xfrm>
            <a:custGeom>
              <a:avLst/>
              <a:gdLst/>
              <a:ahLst/>
              <a:cxnLst/>
              <a:rect l="l" t="t" r="r" b="b"/>
              <a:pathLst>
                <a:path w="1613617" h="2048905">
                  <a:moveTo>
                    <a:pt x="0" y="0"/>
                  </a:moveTo>
                  <a:lnTo>
                    <a:pt x="1613617" y="0"/>
                  </a:lnTo>
                  <a:lnTo>
                    <a:pt x="1613617" y="2048905"/>
                  </a:lnTo>
                  <a:lnTo>
                    <a:pt x="0" y="20489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2914" r="-11291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104775"/>
              <a:ext cx="1613611" cy="2153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718731" y="6388160"/>
            <a:ext cx="5445957" cy="516255"/>
            <a:chOff x="0" y="0"/>
            <a:chExt cx="7261276" cy="6883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261225" cy="688340"/>
            </a:xfrm>
            <a:custGeom>
              <a:avLst/>
              <a:gdLst/>
              <a:ahLst/>
              <a:cxnLst/>
              <a:rect l="l" t="t" r="r" b="b"/>
              <a:pathLst>
                <a:path w="7261225" h="688340">
                  <a:moveTo>
                    <a:pt x="0" y="0"/>
                  </a:moveTo>
                  <a:lnTo>
                    <a:pt x="7261225" y="0"/>
                  </a:lnTo>
                  <a:lnTo>
                    <a:pt x="7261225" y="688340"/>
                  </a:lnTo>
                  <a:lnTo>
                    <a:pt x="0" y="688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04" b="-15540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718731" y="6354556"/>
            <a:ext cx="5445957" cy="549869"/>
            <a:chOff x="0" y="0"/>
            <a:chExt cx="7261276" cy="73315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261278" cy="733159"/>
            </a:xfrm>
            <a:custGeom>
              <a:avLst/>
              <a:gdLst/>
              <a:ahLst/>
              <a:cxnLst/>
              <a:rect l="l" t="t" r="r" b="b"/>
              <a:pathLst>
                <a:path w="7261278" h="733159">
                  <a:moveTo>
                    <a:pt x="0" y="0"/>
                  </a:moveTo>
                  <a:lnTo>
                    <a:pt x="7261278" y="0"/>
                  </a:lnTo>
                  <a:lnTo>
                    <a:pt x="7261278" y="733159"/>
                  </a:lnTo>
                  <a:lnTo>
                    <a:pt x="0" y="7331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2981" b="-14298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7261276" cy="7807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False Positives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718731" y="6938839"/>
            <a:ext cx="5445957" cy="653929"/>
            <a:chOff x="0" y="0"/>
            <a:chExt cx="7261276" cy="87190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261225" cy="871855"/>
            </a:xfrm>
            <a:custGeom>
              <a:avLst/>
              <a:gdLst/>
              <a:ahLst/>
              <a:cxnLst/>
              <a:rect l="l" t="t" r="r" b="b"/>
              <a:pathLst>
                <a:path w="7261225" h="871855">
                  <a:moveTo>
                    <a:pt x="0" y="0"/>
                  </a:moveTo>
                  <a:lnTo>
                    <a:pt x="7261225" y="0"/>
                  </a:lnTo>
                  <a:lnTo>
                    <a:pt x="7261225" y="871855"/>
                  </a:lnTo>
                  <a:lnTo>
                    <a:pt x="0" y="87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166" b="-11217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1718731" y="6911950"/>
            <a:ext cx="5445957" cy="680818"/>
            <a:chOff x="0" y="0"/>
            <a:chExt cx="7261276" cy="90775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261278" cy="907755"/>
            </a:xfrm>
            <a:custGeom>
              <a:avLst/>
              <a:gdLst/>
              <a:ahLst/>
              <a:cxnLst/>
              <a:rect l="l" t="t" r="r" b="b"/>
              <a:pathLst>
                <a:path w="7261278" h="907755">
                  <a:moveTo>
                    <a:pt x="0" y="0"/>
                  </a:moveTo>
                  <a:lnTo>
                    <a:pt x="7261278" y="0"/>
                  </a:lnTo>
                  <a:lnTo>
                    <a:pt x="7261278" y="907755"/>
                  </a:lnTo>
                  <a:lnTo>
                    <a:pt x="0" y="9077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5863" b="-10586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7261276" cy="945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Healthy firms wrongly flagged — manageable false alarms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0359171" y="7856992"/>
            <a:ext cx="7041318" cy="1588218"/>
            <a:chOff x="0" y="0"/>
            <a:chExt cx="9388424" cy="211762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9388475" cy="2117598"/>
            </a:xfrm>
            <a:custGeom>
              <a:avLst/>
              <a:gdLst/>
              <a:ahLst/>
              <a:cxnLst/>
              <a:rect l="l" t="t" r="r" b="b"/>
              <a:pathLst>
                <a:path w="9388475" h="2117598">
                  <a:moveTo>
                    <a:pt x="0" y="0"/>
                  </a:moveTo>
                  <a:lnTo>
                    <a:pt x="9388475" y="0"/>
                  </a:lnTo>
                  <a:lnTo>
                    <a:pt x="9388475" y="2117598"/>
                  </a:lnTo>
                  <a:lnTo>
                    <a:pt x="0" y="2117598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E74C3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422074" y="7919733"/>
            <a:ext cx="1210208" cy="1462735"/>
            <a:chOff x="0" y="0"/>
            <a:chExt cx="1613611" cy="195031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613662" cy="1950339"/>
            </a:xfrm>
            <a:custGeom>
              <a:avLst/>
              <a:gdLst/>
              <a:ahLst/>
              <a:cxnLst/>
              <a:rect l="l" t="t" r="r" b="b"/>
              <a:pathLst>
                <a:path w="1613662" h="1950339">
                  <a:moveTo>
                    <a:pt x="0" y="0"/>
                  </a:moveTo>
                  <a:lnTo>
                    <a:pt x="1613662" y="0"/>
                  </a:lnTo>
                  <a:lnTo>
                    <a:pt x="1613662" y="1950339"/>
                  </a:lnTo>
                  <a:lnTo>
                    <a:pt x="0" y="1950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180" r="-105177" b="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0422074" y="7845790"/>
            <a:ext cx="1210208" cy="1536678"/>
            <a:chOff x="0" y="0"/>
            <a:chExt cx="1613611" cy="204890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613617" cy="2048905"/>
            </a:xfrm>
            <a:custGeom>
              <a:avLst/>
              <a:gdLst/>
              <a:ahLst/>
              <a:cxnLst/>
              <a:rect l="l" t="t" r="r" b="b"/>
              <a:pathLst>
                <a:path w="1613617" h="2048905">
                  <a:moveTo>
                    <a:pt x="0" y="0"/>
                  </a:moveTo>
                  <a:lnTo>
                    <a:pt x="1613617" y="0"/>
                  </a:lnTo>
                  <a:lnTo>
                    <a:pt x="1613617" y="2048905"/>
                  </a:lnTo>
                  <a:lnTo>
                    <a:pt x="0" y="20489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2914" r="-11291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04775"/>
              <a:ext cx="1613611" cy="2153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718731" y="8022984"/>
            <a:ext cx="5445957" cy="516255"/>
            <a:chOff x="0" y="0"/>
            <a:chExt cx="7261276" cy="68834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261225" cy="688340"/>
            </a:xfrm>
            <a:custGeom>
              <a:avLst/>
              <a:gdLst/>
              <a:ahLst/>
              <a:cxnLst/>
              <a:rect l="l" t="t" r="r" b="b"/>
              <a:pathLst>
                <a:path w="7261225" h="688340">
                  <a:moveTo>
                    <a:pt x="0" y="0"/>
                  </a:moveTo>
                  <a:lnTo>
                    <a:pt x="7261225" y="0"/>
                  </a:lnTo>
                  <a:lnTo>
                    <a:pt x="7261225" y="688340"/>
                  </a:lnTo>
                  <a:lnTo>
                    <a:pt x="0" y="688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04" b="-15540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1718731" y="7989380"/>
            <a:ext cx="5445957" cy="549869"/>
            <a:chOff x="0" y="0"/>
            <a:chExt cx="7261276" cy="733158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7261278" cy="733159"/>
            </a:xfrm>
            <a:custGeom>
              <a:avLst/>
              <a:gdLst/>
              <a:ahLst/>
              <a:cxnLst/>
              <a:rect l="l" t="t" r="r" b="b"/>
              <a:pathLst>
                <a:path w="7261278" h="733159">
                  <a:moveTo>
                    <a:pt x="0" y="0"/>
                  </a:moveTo>
                  <a:lnTo>
                    <a:pt x="7261278" y="0"/>
                  </a:lnTo>
                  <a:lnTo>
                    <a:pt x="7261278" y="733159"/>
                  </a:lnTo>
                  <a:lnTo>
                    <a:pt x="0" y="7331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2981" b="-14298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47625"/>
              <a:ext cx="7261276" cy="7807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False Negatives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1718731" y="8573662"/>
            <a:ext cx="5445957" cy="653929"/>
            <a:chOff x="0" y="0"/>
            <a:chExt cx="7261276" cy="87190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261225" cy="871855"/>
            </a:xfrm>
            <a:custGeom>
              <a:avLst/>
              <a:gdLst/>
              <a:ahLst/>
              <a:cxnLst/>
              <a:rect l="l" t="t" r="r" b="b"/>
              <a:pathLst>
                <a:path w="7261225" h="871855">
                  <a:moveTo>
                    <a:pt x="0" y="0"/>
                  </a:moveTo>
                  <a:lnTo>
                    <a:pt x="7261225" y="0"/>
                  </a:lnTo>
                  <a:lnTo>
                    <a:pt x="7261225" y="871855"/>
                  </a:lnTo>
                  <a:lnTo>
                    <a:pt x="0" y="87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166" b="-11217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1718731" y="8546773"/>
            <a:ext cx="5445957" cy="680818"/>
            <a:chOff x="0" y="0"/>
            <a:chExt cx="7261276" cy="90775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7261278" cy="907755"/>
            </a:xfrm>
            <a:custGeom>
              <a:avLst/>
              <a:gdLst/>
              <a:ahLst/>
              <a:cxnLst/>
              <a:rect l="l" t="t" r="r" b="b"/>
              <a:pathLst>
                <a:path w="7261278" h="907755">
                  <a:moveTo>
                    <a:pt x="0" y="0"/>
                  </a:moveTo>
                  <a:lnTo>
                    <a:pt x="7261278" y="0"/>
                  </a:lnTo>
                  <a:lnTo>
                    <a:pt x="7261278" y="907755"/>
                  </a:lnTo>
                  <a:lnTo>
                    <a:pt x="0" y="9077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5863" b="-10586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7261276" cy="945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Bankruptcies missed — the most costly error type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31520" y="9692640"/>
            <a:ext cx="16824960" cy="402336"/>
            <a:chOff x="0" y="0"/>
            <a:chExt cx="22433280" cy="53644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2433280" cy="536448"/>
            </a:xfrm>
            <a:custGeom>
              <a:avLst/>
              <a:gdLst/>
              <a:ahLst/>
              <a:cxnLst/>
              <a:rect l="l" t="t" r="r" b="b"/>
              <a:pathLst>
                <a:path w="22433280" h="536448">
                  <a:moveTo>
                    <a:pt x="0" y="0"/>
                  </a:moveTo>
                  <a:lnTo>
                    <a:pt x="22433280" y="0"/>
                  </a:lnTo>
                  <a:lnTo>
                    <a:pt x="22433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4261" b="-76426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31520" y="9664065"/>
            <a:ext cx="16824960" cy="430911"/>
            <a:chOff x="0" y="0"/>
            <a:chExt cx="22433280" cy="574548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22433280" cy="574548"/>
            </a:xfrm>
            <a:custGeom>
              <a:avLst/>
              <a:gdLst/>
              <a:ahLst/>
              <a:cxnLst/>
              <a:rect l="l" t="t" r="r" b="b"/>
              <a:pathLst>
                <a:path w="22433280" h="574548">
                  <a:moveTo>
                    <a:pt x="0" y="0"/>
                  </a:moveTo>
                  <a:lnTo>
                    <a:pt x="22433280" y="0"/>
                  </a:lnTo>
                  <a:lnTo>
                    <a:pt x="2243328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0795" b="-710795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38100"/>
              <a:ext cx="22433280" cy="612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Precision 75%: 3 of every 4 flagged firms genuinely fail  |  Recall 43%: catches nearly half of all actual bankruptcies. The 16 missed failures are likely firms with less extreme financials or sudden late-stage deterioration not yet visible in 2018 statements.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178" y="380114"/>
            <a:ext cx="3336322" cy="629698"/>
            <a:chOff x="0" y="0"/>
            <a:chExt cx="4448429" cy="839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429" cy="839597"/>
            </a:xfrm>
            <a:custGeom>
              <a:avLst/>
              <a:gdLst/>
              <a:ahLst/>
              <a:cxnLst/>
              <a:rect l="l" t="t" r="r" b="b"/>
              <a:pathLst>
                <a:path w="4448429" h="839597">
                  <a:moveTo>
                    <a:pt x="0" y="0"/>
                  </a:moveTo>
                  <a:lnTo>
                    <a:pt x="4448429" y="0"/>
                  </a:lnTo>
                  <a:lnTo>
                    <a:pt x="4448429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402336"/>
            <a:ext cx="3291840" cy="585216"/>
            <a:chOff x="0" y="0"/>
            <a:chExt cx="438912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780288"/>
            </a:xfrm>
            <a:custGeom>
              <a:avLst/>
              <a:gdLst/>
              <a:ahLst/>
              <a:cxnLst/>
              <a:rect l="l" t="t" r="r" b="b"/>
              <a:pathLst>
                <a:path w="4389120" h="780288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26" b="-5952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80905"/>
            <a:ext cx="3291840" cy="606647"/>
            <a:chOff x="0" y="0"/>
            <a:chExt cx="4389120" cy="8088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808863"/>
            </a:xfrm>
            <a:custGeom>
              <a:avLst/>
              <a:gdLst/>
              <a:ahLst/>
              <a:cxnLst/>
              <a:rect l="l" t="t" r="r" b="b"/>
              <a:pathLst>
                <a:path w="4389120" h="808863">
                  <a:moveTo>
                    <a:pt x="0" y="0"/>
                  </a:moveTo>
                  <a:lnTo>
                    <a:pt x="4389120" y="0"/>
                  </a:lnTo>
                  <a:lnTo>
                    <a:pt x="4389120" y="808863"/>
                  </a:lnTo>
                  <a:lnTo>
                    <a:pt x="0" y="8088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731" b="-5573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3891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spc="4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DRIVER ANALYSIS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133856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347" b="-200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048131"/>
            <a:ext cx="16459200" cy="1365885"/>
            <a:chOff x="0" y="0"/>
            <a:chExt cx="21945600" cy="18211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821180"/>
            </a:xfrm>
            <a:custGeom>
              <a:avLst/>
              <a:gdLst/>
              <a:ahLst/>
              <a:cxnLst/>
              <a:rect l="l" t="t" r="r" b="b"/>
              <a:pathLst>
                <a:path w="21945600" h="1821180">
                  <a:moveTo>
                    <a:pt x="0" y="0"/>
                  </a:moveTo>
                  <a:lnTo>
                    <a:pt x="21945600" y="0"/>
                  </a:lnTo>
                  <a:lnTo>
                    <a:pt x="21945600" y="1821180"/>
                  </a:lnTo>
                  <a:lnTo>
                    <a:pt x="0" y="1821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798" b="-18479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1945600" cy="1954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Selection — Economic Reasoning &amp; Robustness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2340864"/>
            <a:ext cx="12582144" cy="640080"/>
            <a:chOff x="0" y="0"/>
            <a:chExt cx="16776192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776192" cy="853440"/>
            </a:xfrm>
            <a:custGeom>
              <a:avLst/>
              <a:gdLst/>
              <a:ahLst/>
              <a:cxnLst/>
              <a:rect l="l" t="t" r="r" b="b"/>
              <a:pathLst>
                <a:path w="16776192" h="853440">
                  <a:moveTo>
                    <a:pt x="0" y="0"/>
                  </a:moveTo>
                  <a:lnTo>
                    <a:pt x="16776192" y="0"/>
                  </a:lnTo>
                  <a:lnTo>
                    <a:pt x="167761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754" b="-33275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2298002"/>
            <a:ext cx="16344900" cy="760869"/>
            <a:chOff x="0" y="0"/>
            <a:chExt cx="21793200" cy="10144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93200" cy="1014492"/>
            </a:xfrm>
            <a:custGeom>
              <a:avLst/>
              <a:gdLst/>
              <a:ahLst/>
              <a:cxnLst/>
              <a:rect l="l" t="t" r="r" b="b"/>
              <a:pathLst>
                <a:path w="21793200" h="1014492">
                  <a:moveTo>
                    <a:pt x="0" y="0"/>
                  </a:moveTo>
                  <a:lnTo>
                    <a:pt x="21793200" y="0"/>
                  </a:lnTo>
                  <a:lnTo>
                    <a:pt x="21793200" y="1014492"/>
                  </a:lnTo>
                  <a:lnTo>
                    <a:pt x="0" y="10144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7336" r="23020" b="-26709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21793200" cy="1024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99"/>
                </a:lnSpc>
              </a:pPr>
              <a:r>
                <a:rPr lang="en-US" sz="1599" dirty="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Lasso retained 13 of 40 features. None of 4 extra ratios improved recall. Manual override: Removed 'debt_to_assets_trend_16_17' manually to maintain economic narrative consistency and not just automatically select variables, since the 17-18 trend was not selected</a:t>
              </a:r>
            </a:p>
            <a:p>
              <a:pPr algn="l">
                <a:lnSpc>
                  <a:spcPts val="1800"/>
                </a:lnSpc>
              </a:pPr>
              <a:endParaRPr lang="en-US" sz="1599" dirty="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67205" y="2828259"/>
            <a:ext cx="9993068" cy="6601835"/>
            <a:chOff x="0" y="0"/>
            <a:chExt cx="13324091" cy="8802446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3324078" cy="8802497"/>
            </a:xfrm>
            <a:custGeom>
              <a:avLst/>
              <a:gdLst/>
              <a:ahLst/>
              <a:cxnLst/>
              <a:rect l="l" t="t" r="r" b="b"/>
              <a:pathLst>
                <a:path w="13324078" h="8802497">
                  <a:moveTo>
                    <a:pt x="0" y="0"/>
                  </a:moveTo>
                  <a:lnTo>
                    <a:pt x="13324078" y="0"/>
                  </a:lnTo>
                  <a:lnTo>
                    <a:pt x="13324078" y="8802497"/>
                  </a:lnTo>
                  <a:lnTo>
                    <a:pt x="0" y="8802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9" r="-39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957103" y="2971162"/>
            <a:ext cx="6761207" cy="759085"/>
            <a:chOff x="0" y="0"/>
            <a:chExt cx="9014943" cy="101211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14968" cy="1012063"/>
            </a:xfrm>
            <a:custGeom>
              <a:avLst/>
              <a:gdLst/>
              <a:ahLst/>
              <a:cxnLst/>
              <a:rect l="l" t="t" r="r" b="b"/>
              <a:pathLst>
                <a:path w="9014968" h="1012063">
                  <a:moveTo>
                    <a:pt x="0" y="0"/>
                  </a:moveTo>
                  <a:lnTo>
                    <a:pt x="9014968" y="0"/>
                  </a:lnTo>
                  <a:lnTo>
                    <a:pt x="9014968" y="1012063"/>
                  </a:lnTo>
                  <a:lnTo>
                    <a:pt x="0" y="1012063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979839" y="2993974"/>
            <a:ext cx="6715706" cy="713422"/>
            <a:chOff x="0" y="0"/>
            <a:chExt cx="8954275" cy="95123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954262" cy="951230"/>
            </a:xfrm>
            <a:custGeom>
              <a:avLst/>
              <a:gdLst/>
              <a:ahLst/>
              <a:cxnLst/>
              <a:rect l="l" t="t" r="r" b="b"/>
              <a:pathLst>
                <a:path w="8954262" h="951230">
                  <a:moveTo>
                    <a:pt x="0" y="0"/>
                  </a:moveTo>
                  <a:lnTo>
                    <a:pt x="8954262" y="0"/>
                  </a:lnTo>
                  <a:lnTo>
                    <a:pt x="8954262" y="951230"/>
                  </a:lnTo>
                  <a:lnTo>
                    <a:pt x="0" y="951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292" b="-133292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979839" y="2964647"/>
            <a:ext cx="6715706" cy="742760"/>
            <a:chOff x="0" y="0"/>
            <a:chExt cx="8954275" cy="99034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954276" cy="990342"/>
            </a:xfrm>
            <a:custGeom>
              <a:avLst/>
              <a:gdLst/>
              <a:ahLst/>
              <a:cxnLst/>
              <a:rect l="l" t="t" r="r" b="b"/>
              <a:pathLst>
                <a:path w="8954276" h="990342">
                  <a:moveTo>
                    <a:pt x="0" y="0"/>
                  </a:moveTo>
                  <a:lnTo>
                    <a:pt x="8954276" y="0"/>
                  </a:lnTo>
                  <a:lnTo>
                    <a:pt x="8954276" y="990342"/>
                  </a:lnTo>
                  <a:lnTo>
                    <a:pt x="0" y="9903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6175" b="-12617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8954275" cy="10284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Robustness Test — Added Ratios vs Recall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957103" y="3684584"/>
            <a:ext cx="2433304" cy="608895"/>
            <a:chOff x="0" y="0"/>
            <a:chExt cx="3244406" cy="8118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244469" cy="811911"/>
            </a:xfrm>
            <a:custGeom>
              <a:avLst/>
              <a:gdLst/>
              <a:ahLst/>
              <a:cxnLst/>
              <a:rect l="l" t="t" r="r" b="b"/>
              <a:pathLst>
                <a:path w="3244469" h="811911">
                  <a:moveTo>
                    <a:pt x="0" y="0"/>
                  </a:moveTo>
                  <a:lnTo>
                    <a:pt x="3244469" y="0"/>
                  </a:lnTo>
                  <a:lnTo>
                    <a:pt x="3244469" y="811911"/>
                  </a:lnTo>
                  <a:lnTo>
                    <a:pt x="0" y="811911"/>
                  </a:lnTo>
                  <a:close/>
                </a:path>
              </a:pathLst>
            </a:custGeom>
            <a:solidFill>
              <a:srgbClr val="2A3F8F"/>
            </a:solidFill>
            <a:ln w="254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979839" y="3707397"/>
            <a:ext cx="2387803" cy="563232"/>
            <a:chOff x="0" y="0"/>
            <a:chExt cx="3183738" cy="75097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183763" cy="750951"/>
            </a:xfrm>
            <a:custGeom>
              <a:avLst/>
              <a:gdLst/>
              <a:ahLst/>
              <a:cxnLst/>
              <a:rect l="l" t="t" r="r" b="b"/>
              <a:pathLst>
                <a:path w="3183763" h="750951">
                  <a:moveTo>
                    <a:pt x="0" y="0"/>
                  </a:moveTo>
                  <a:lnTo>
                    <a:pt x="3183763" y="0"/>
                  </a:lnTo>
                  <a:lnTo>
                    <a:pt x="3183763" y="750951"/>
                  </a:lnTo>
                  <a:lnTo>
                    <a:pt x="0" y="7509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550" b="-3255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979839" y="3678069"/>
            <a:ext cx="2387803" cy="592560"/>
            <a:chOff x="0" y="0"/>
            <a:chExt cx="3183738" cy="7900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83743" cy="790084"/>
            </a:xfrm>
            <a:custGeom>
              <a:avLst/>
              <a:gdLst/>
              <a:ahLst/>
              <a:cxnLst/>
              <a:rect l="l" t="t" r="r" b="b"/>
              <a:pathLst>
                <a:path w="3183743" h="790084">
                  <a:moveTo>
                    <a:pt x="0" y="0"/>
                  </a:moveTo>
                  <a:lnTo>
                    <a:pt x="3183743" y="0"/>
                  </a:lnTo>
                  <a:lnTo>
                    <a:pt x="3183743" y="790084"/>
                  </a:lnTo>
                  <a:lnTo>
                    <a:pt x="0" y="790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517" b="-2851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183738" cy="82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382225" y="3684584"/>
            <a:ext cx="940927" cy="608895"/>
            <a:chOff x="0" y="0"/>
            <a:chExt cx="1254570" cy="8118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54506" cy="811911"/>
            </a:xfrm>
            <a:custGeom>
              <a:avLst/>
              <a:gdLst/>
              <a:ahLst/>
              <a:cxnLst/>
              <a:rect l="l" t="t" r="r" b="b"/>
              <a:pathLst>
                <a:path w="1254506" h="811911">
                  <a:moveTo>
                    <a:pt x="0" y="0"/>
                  </a:moveTo>
                  <a:lnTo>
                    <a:pt x="1254506" y="0"/>
                  </a:lnTo>
                  <a:lnTo>
                    <a:pt x="1254506" y="811911"/>
                  </a:lnTo>
                  <a:lnTo>
                    <a:pt x="0" y="811911"/>
                  </a:lnTo>
                  <a:close/>
                </a:path>
              </a:pathLst>
            </a:custGeom>
            <a:solidFill>
              <a:srgbClr val="2A3F8F"/>
            </a:solidFill>
            <a:ln w="254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404952" y="3707397"/>
            <a:ext cx="895426" cy="563232"/>
            <a:chOff x="0" y="0"/>
            <a:chExt cx="1193902" cy="75097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193927" cy="750951"/>
            </a:xfrm>
            <a:custGeom>
              <a:avLst/>
              <a:gdLst/>
              <a:ahLst/>
              <a:cxnLst/>
              <a:rect l="l" t="t" r="r" b="b"/>
              <a:pathLst>
                <a:path w="1193927" h="750951">
                  <a:moveTo>
                    <a:pt x="0" y="0"/>
                  </a:moveTo>
                  <a:lnTo>
                    <a:pt x="1193927" y="0"/>
                  </a:lnTo>
                  <a:lnTo>
                    <a:pt x="1193927" y="750951"/>
                  </a:lnTo>
                  <a:lnTo>
                    <a:pt x="0" y="7509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759" r="-30756" b="-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404952" y="3678069"/>
            <a:ext cx="895426" cy="592560"/>
            <a:chOff x="0" y="0"/>
            <a:chExt cx="1193902" cy="7900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93904" cy="790084"/>
            </a:xfrm>
            <a:custGeom>
              <a:avLst/>
              <a:gdLst/>
              <a:ahLst/>
              <a:cxnLst/>
              <a:rect l="l" t="t" r="r" b="b"/>
              <a:pathLst>
                <a:path w="1193904" h="790084">
                  <a:moveTo>
                    <a:pt x="0" y="0"/>
                  </a:moveTo>
                  <a:lnTo>
                    <a:pt x="1193904" y="0"/>
                  </a:lnTo>
                  <a:lnTo>
                    <a:pt x="1193904" y="790084"/>
                  </a:lnTo>
                  <a:lnTo>
                    <a:pt x="0" y="790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906" r="-3490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193902" cy="82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AUC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314961" y="3684584"/>
            <a:ext cx="940927" cy="608895"/>
            <a:chOff x="0" y="0"/>
            <a:chExt cx="1254570" cy="8118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54506" cy="811911"/>
            </a:xfrm>
            <a:custGeom>
              <a:avLst/>
              <a:gdLst/>
              <a:ahLst/>
              <a:cxnLst/>
              <a:rect l="l" t="t" r="r" b="b"/>
              <a:pathLst>
                <a:path w="1254506" h="811911">
                  <a:moveTo>
                    <a:pt x="0" y="0"/>
                  </a:moveTo>
                  <a:lnTo>
                    <a:pt x="1254506" y="0"/>
                  </a:lnTo>
                  <a:lnTo>
                    <a:pt x="1254506" y="811911"/>
                  </a:lnTo>
                  <a:lnTo>
                    <a:pt x="0" y="811911"/>
                  </a:lnTo>
                  <a:close/>
                </a:path>
              </a:pathLst>
            </a:custGeom>
            <a:solidFill>
              <a:srgbClr val="2A3F8F"/>
            </a:solidFill>
            <a:ln w="254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337687" y="3707397"/>
            <a:ext cx="895426" cy="563232"/>
            <a:chOff x="0" y="0"/>
            <a:chExt cx="1193902" cy="75097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93927" cy="750951"/>
            </a:xfrm>
            <a:custGeom>
              <a:avLst/>
              <a:gdLst/>
              <a:ahLst/>
              <a:cxnLst/>
              <a:rect l="l" t="t" r="r" b="b"/>
              <a:pathLst>
                <a:path w="1193927" h="750951">
                  <a:moveTo>
                    <a:pt x="0" y="0"/>
                  </a:moveTo>
                  <a:lnTo>
                    <a:pt x="1193927" y="0"/>
                  </a:lnTo>
                  <a:lnTo>
                    <a:pt x="1193927" y="750951"/>
                  </a:lnTo>
                  <a:lnTo>
                    <a:pt x="0" y="7509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759" r="-30756" b="-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337687" y="3678069"/>
            <a:ext cx="895426" cy="592560"/>
            <a:chOff x="0" y="0"/>
            <a:chExt cx="1193902" cy="7900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93904" cy="790084"/>
            </a:xfrm>
            <a:custGeom>
              <a:avLst/>
              <a:gdLst/>
              <a:ahLst/>
              <a:cxnLst/>
              <a:rect l="l" t="t" r="r" b="b"/>
              <a:pathLst>
                <a:path w="1193904" h="790084">
                  <a:moveTo>
                    <a:pt x="0" y="0"/>
                  </a:moveTo>
                  <a:lnTo>
                    <a:pt x="1193904" y="0"/>
                  </a:lnTo>
                  <a:lnTo>
                    <a:pt x="1193904" y="790084"/>
                  </a:lnTo>
                  <a:lnTo>
                    <a:pt x="0" y="790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906" r="-3490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193902" cy="82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Recall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5247696" y="3684584"/>
            <a:ext cx="940927" cy="608895"/>
            <a:chOff x="0" y="0"/>
            <a:chExt cx="1254570" cy="81186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54506" cy="811911"/>
            </a:xfrm>
            <a:custGeom>
              <a:avLst/>
              <a:gdLst/>
              <a:ahLst/>
              <a:cxnLst/>
              <a:rect l="l" t="t" r="r" b="b"/>
              <a:pathLst>
                <a:path w="1254506" h="811911">
                  <a:moveTo>
                    <a:pt x="0" y="0"/>
                  </a:moveTo>
                  <a:lnTo>
                    <a:pt x="1254506" y="0"/>
                  </a:lnTo>
                  <a:lnTo>
                    <a:pt x="1254506" y="811911"/>
                  </a:lnTo>
                  <a:lnTo>
                    <a:pt x="0" y="811911"/>
                  </a:lnTo>
                  <a:close/>
                </a:path>
              </a:pathLst>
            </a:custGeom>
            <a:solidFill>
              <a:srgbClr val="2A3F8F"/>
            </a:solidFill>
            <a:ln w="254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5270423" y="3707397"/>
            <a:ext cx="895426" cy="563232"/>
            <a:chOff x="0" y="0"/>
            <a:chExt cx="1193902" cy="75097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93927" cy="750951"/>
            </a:xfrm>
            <a:custGeom>
              <a:avLst/>
              <a:gdLst/>
              <a:ahLst/>
              <a:cxnLst/>
              <a:rect l="l" t="t" r="r" b="b"/>
              <a:pathLst>
                <a:path w="1193927" h="750951">
                  <a:moveTo>
                    <a:pt x="0" y="0"/>
                  </a:moveTo>
                  <a:lnTo>
                    <a:pt x="1193927" y="0"/>
                  </a:lnTo>
                  <a:lnTo>
                    <a:pt x="1193927" y="750951"/>
                  </a:lnTo>
                  <a:lnTo>
                    <a:pt x="0" y="7509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759" r="-30756" b="-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5270423" y="3678069"/>
            <a:ext cx="895426" cy="592560"/>
            <a:chOff x="0" y="0"/>
            <a:chExt cx="1193902" cy="7900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93904" cy="790084"/>
            </a:xfrm>
            <a:custGeom>
              <a:avLst/>
              <a:gdLst/>
              <a:ahLst/>
              <a:cxnLst/>
              <a:rect l="l" t="t" r="r" b="b"/>
              <a:pathLst>
                <a:path w="1193904" h="790084">
                  <a:moveTo>
                    <a:pt x="0" y="0"/>
                  </a:moveTo>
                  <a:lnTo>
                    <a:pt x="1193904" y="0"/>
                  </a:lnTo>
                  <a:lnTo>
                    <a:pt x="1193904" y="790084"/>
                  </a:lnTo>
                  <a:lnTo>
                    <a:pt x="0" y="790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906" r="-3490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1193902" cy="82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6178565" y="3710664"/>
            <a:ext cx="1500568" cy="608895"/>
            <a:chOff x="0" y="0"/>
            <a:chExt cx="2000758" cy="81186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000758" cy="811911"/>
            </a:xfrm>
            <a:custGeom>
              <a:avLst/>
              <a:gdLst/>
              <a:ahLst/>
              <a:cxnLst/>
              <a:rect l="l" t="t" r="r" b="b"/>
              <a:pathLst>
                <a:path w="2000758" h="811911">
                  <a:moveTo>
                    <a:pt x="0" y="0"/>
                  </a:moveTo>
                  <a:lnTo>
                    <a:pt x="2000758" y="0"/>
                  </a:lnTo>
                  <a:lnTo>
                    <a:pt x="2000758" y="811911"/>
                  </a:lnTo>
                  <a:lnTo>
                    <a:pt x="0" y="811911"/>
                  </a:lnTo>
                  <a:close/>
                </a:path>
              </a:pathLst>
            </a:custGeom>
            <a:solidFill>
              <a:srgbClr val="2A3F8F"/>
            </a:solidFill>
            <a:ln w="254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6201292" y="3733476"/>
            <a:ext cx="1455068" cy="563232"/>
            <a:chOff x="0" y="0"/>
            <a:chExt cx="1940090" cy="75097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940052" cy="750951"/>
            </a:xfrm>
            <a:custGeom>
              <a:avLst/>
              <a:gdLst/>
              <a:ahLst/>
              <a:cxnLst/>
              <a:rect l="l" t="t" r="r" b="b"/>
              <a:pathLst>
                <a:path w="1940052" h="750951">
                  <a:moveTo>
                    <a:pt x="0" y="0"/>
                  </a:moveTo>
                  <a:lnTo>
                    <a:pt x="1940052" y="0"/>
                  </a:lnTo>
                  <a:lnTo>
                    <a:pt x="1940052" y="750951"/>
                  </a:lnTo>
                  <a:lnTo>
                    <a:pt x="0" y="7509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4" r="-1" b="-30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6201292" y="3704149"/>
            <a:ext cx="1455068" cy="592560"/>
            <a:chOff x="0" y="0"/>
            <a:chExt cx="1940090" cy="79008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940093" cy="790084"/>
            </a:xfrm>
            <a:custGeom>
              <a:avLst/>
              <a:gdLst/>
              <a:ahLst/>
              <a:cxnLst/>
              <a:rect l="l" t="t" r="r" b="b"/>
              <a:pathLst>
                <a:path w="1940093" h="790084">
                  <a:moveTo>
                    <a:pt x="0" y="0"/>
                  </a:moveTo>
                  <a:lnTo>
                    <a:pt x="1940093" y="0"/>
                  </a:lnTo>
                  <a:lnTo>
                    <a:pt x="1940093" y="790084"/>
                  </a:lnTo>
                  <a:lnTo>
                    <a:pt x="0" y="790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50" r="-225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940090" cy="82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Decision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957103" y="4247817"/>
            <a:ext cx="2433304" cy="646443"/>
            <a:chOff x="0" y="0"/>
            <a:chExt cx="3244406" cy="86192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244469" cy="861949"/>
            </a:xfrm>
            <a:custGeom>
              <a:avLst/>
              <a:gdLst/>
              <a:ahLst/>
              <a:cxnLst/>
              <a:rect l="l" t="t" r="r" b="b"/>
              <a:pathLst>
                <a:path w="3244469" h="861949">
                  <a:moveTo>
                    <a:pt x="0" y="0"/>
                  </a:moveTo>
                  <a:lnTo>
                    <a:pt x="3244469" y="0"/>
                  </a:lnTo>
                  <a:lnTo>
                    <a:pt x="3244469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E8F4E8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979839" y="4308177"/>
            <a:ext cx="2387803" cy="525685"/>
            <a:chOff x="0" y="0"/>
            <a:chExt cx="3183738" cy="70091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183763" cy="700913"/>
            </a:xfrm>
            <a:custGeom>
              <a:avLst/>
              <a:gdLst/>
              <a:ahLst/>
              <a:cxnLst/>
              <a:rect l="l" t="t" r="r" b="b"/>
              <a:pathLst>
                <a:path w="3183763" h="700913">
                  <a:moveTo>
                    <a:pt x="0" y="0"/>
                  </a:moveTo>
                  <a:lnTo>
                    <a:pt x="3183763" y="0"/>
                  </a:lnTo>
                  <a:lnTo>
                    <a:pt x="3183763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445" b="-3844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979839" y="4278840"/>
            <a:ext cx="2387803" cy="555012"/>
            <a:chOff x="0" y="0"/>
            <a:chExt cx="3183738" cy="74001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183743" cy="740020"/>
            </a:xfrm>
            <a:custGeom>
              <a:avLst/>
              <a:gdLst/>
              <a:ahLst/>
              <a:cxnLst/>
              <a:rect l="l" t="t" r="r" b="b"/>
              <a:pathLst>
                <a:path w="3183743" h="740020">
                  <a:moveTo>
                    <a:pt x="0" y="0"/>
                  </a:moveTo>
                  <a:lnTo>
                    <a:pt x="3183743" y="0"/>
                  </a:lnTo>
                  <a:lnTo>
                    <a:pt x="3183743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29" b="-3382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3183738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V11 Baseline (6 ratios)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382225" y="4247817"/>
            <a:ext cx="940927" cy="646443"/>
            <a:chOff x="0" y="0"/>
            <a:chExt cx="1254570" cy="86192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E8F4E8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404952" y="4308177"/>
            <a:ext cx="895426" cy="525685"/>
            <a:chOff x="0" y="0"/>
            <a:chExt cx="1193902" cy="70091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3404952" y="4278840"/>
            <a:ext cx="895426" cy="555012"/>
            <a:chOff x="0" y="0"/>
            <a:chExt cx="1193902" cy="74001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0.786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4314961" y="4247817"/>
            <a:ext cx="940927" cy="646443"/>
            <a:chOff x="0" y="0"/>
            <a:chExt cx="1254570" cy="86192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E8F4E8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337687" y="4308177"/>
            <a:ext cx="895426" cy="525685"/>
            <a:chOff x="0" y="0"/>
            <a:chExt cx="1193902" cy="700913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4337687" y="4278840"/>
            <a:ext cx="895426" cy="555012"/>
            <a:chOff x="0" y="0"/>
            <a:chExt cx="1193902" cy="74001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0.429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5247696" y="4247817"/>
            <a:ext cx="940927" cy="646443"/>
            <a:chOff x="0" y="0"/>
            <a:chExt cx="1254570" cy="86192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E8F4E8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5270423" y="4308177"/>
            <a:ext cx="895426" cy="525685"/>
            <a:chOff x="0" y="0"/>
            <a:chExt cx="1193902" cy="700913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5270423" y="4278840"/>
            <a:ext cx="895426" cy="555012"/>
            <a:chOff x="0" y="0"/>
            <a:chExt cx="1193902" cy="74001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0.546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6178565" y="4273896"/>
            <a:ext cx="1500568" cy="646443"/>
            <a:chOff x="0" y="0"/>
            <a:chExt cx="2000758" cy="861924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2000758" cy="861949"/>
            </a:xfrm>
            <a:custGeom>
              <a:avLst/>
              <a:gdLst/>
              <a:ahLst/>
              <a:cxnLst/>
              <a:rect l="l" t="t" r="r" b="b"/>
              <a:pathLst>
                <a:path w="2000758" h="861949">
                  <a:moveTo>
                    <a:pt x="0" y="0"/>
                  </a:moveTo>
                  <a:lnTo>
                    <a:pt x="2000758" y="0"/>
                  </a:lnTo>
                  <a:lnTo>
                    <a:pt x="2000758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E8F4E8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6201292" y="4334256"/>
            <a:ext cx="1455068" cy="525685"/>
            <a:chOff x="0" y="0"/>
            <a:chExt cx="1940090" cy="700913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940052" cy="700913"/>
            </a:xfrm>
            <a:custGeom>
              <a:avLst/>
              <a:gdLst/>
              <a:ahLst/>
              <a:cxnLst/>
              <a:rect l="l" t="t" r="r" b="b"/>
              <a:pathLst>
                <a:path w="1940052" h="700913">
                  <a:moveTo>
                    <a:pt x="0" y="0"/>
                  </a:moveTo>
                  <a:lnTo>
                    <a:pt x="1940052" y="0"/>
                  </a:lnTo>
                  <a:lnTo>
                    <a:pt x="1940052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97" r="-1" b="-38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6201292" y="4304919"/>
            <a:ext cx="1455068" cy="555012"/>
            <a:chOff x="0" y="0"/>
            <a:chExt cx="1940090" cy="740016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940093" cy="740020"/>
            </a:xfrm>
            <a:custGeom>
              <a:avLst/>
              <a:gdLst/>
              <a:ahLst/>
              <a:cxnLst/>
              <a:rect l="l" t="t" r="r" b="b"/>
              <a:pathLst>
                <a:path w="1940093" h="740020">
                  <a:moveTo>
                    <a:pt x="0" y="0"/>
                  </a:moveTo>
                  <a:lnTo>
                    <a:pt x="1940093" y="0"/>
                  </a:lnTo>
                  <a:lnTo>
                    <a:pt x="1940093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83" b="-108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1940090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KEPT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0957103" y="4886144"/>
            <a:ext cx="2433304" cy="646443"/>
            <a:chOff x="0" y="0"/>
            <a:chExt cx="3244406" cy="861924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244469" cy="861949"/>
            </a:xfrm>
            <a:custGeom>
              <a:avLst/>
              <a:gdLst/>
              <a:ahLst/>
              <a:cxnLst/>
              <a:rect l="l" t="t" r="r" b="b"/>
              <a:pathLst>
                <a:path w="3244469" h="861949">
                  <a:moveTo>
                    <a:pt x="0" y="0"/>
                  </a:moveTo>
                  <a:lnTo>
                    <a:pt x="3244469" y="0"/>
                  </a:lnTo>
                  <a:lnTo>
                    <a:pt x="3244469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0979839" y="4946504"/>
            <a:ext cx="2387803" cy="525685"/>
            <a:chOff x="0" y="0"/>
            <a:chExt cx="3183738" cy="700913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3183763" cy="700913"/>
            </a:xfrm>
            <a:custGeom>
              <a:avLst/>
              <a:gdLst/>
              <a:ahLst/>
              <a:cxnLst/>
              <a:rect l="l" t="t" r="r" b="b"/>
              <a:pathLst>
                <a:path w="3183763" h="700913">
                  <a:moveTo>
                    <a:pt x="0" y="0"/>
                  </a:moveTo>
                  <a:lnTo>
                    <a:pt x="3183763" y="0"/>
                  </a:lnTo>
                  <a:lnTo>
                    <a:pt x="3183763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445" b="-3844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0979839" y="4917167"/>
            <a:ext cx="2387803" cy="555012"/>
            <a:chOff x="0" y="0"/>
            <a:chExt cx="3183738" cy="740016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3183743" cy="740020"/>
            </a:xfrm>
            <a:custGeom>
              <a:avLst/>
              <a:gdLst/>
              <a:ahLst/>
              <a:cxnLst/>
              <a:rect l="l" t="t" r="r" b="b"/>
              <a:pathLst>
                <a:path w="3183743" h="740020">
                  <a:moveTo>
                    <a:pt x="0" y="0"/>
                  </a:moveTo>
                  <a:lnTo>
                    <a:pt x="3183743" y="0"/>
                  </a:lnTo>
                  <a:lnTo>
                    <a:pt x="3183743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29" b="-3382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38100"/>
              <a:ext cx="3183738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cash_ratio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3382225" y="4886144"/>
            <a:ext cx="940927" cy="646443"/>
            <a:chOff x="0" y="0"/>
            <a:chExt cx="1254570" cy="861924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3404952" y="4946504"/>
            <a:ext cx="895426" cy="525685"/>
            <a:chOff x="0" y="0"/>
            <a:chExt cx="1193902" cy="700913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3404952" y="4917167"/>
            <a:ext cx="895426" cy="555012"/>
            <a:chOff x="0" y="0"/>
            <a:chExt cx="1193902" cy="740016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0.775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4314961" y="4886144"/>
            <a:ext cx="940927" cy="646443"/>
            <a:chOff x="0" y="0"/>
            <a:chExt cx="1254570" cy="861924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4337687" y="4946504"/>
            <a:ext cx="895426" cy="525685"/>
            <a:chOff x="0" y="0"/>
            <a:chExt cx="1193902" cy="700913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4337687" y="4917167"/>
            <a:ext cx="895426" cy="555012"/>
            <a:chOff x="0" y="0"/>
            <a:chExt cx="1193902" cy="740016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0.429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5247696" y="4886144"/>
            <a:ext cx="940927" cy="646443"/>
            <a:chOff x="0" y="0"/>
            <a:chExt cx="1254570" cy="861924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5270423" y="4946504"/>
            <a:ext cx="895426" cy="525685"/>
            <a:chOff x="0" y="0"/>
            <a:chExt cx="1193902" cy="700913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15270423" y="4917167"/>
            <a:ext cx="895426" cy="555012"/>
            <a:chOff x="0" y="0"/>
            <a:chExt cx="1193902" cy="740016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0.511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16178565" y="4912223"/>
            <a:ext cx="1500568" cy="646443"/>
            <a:chOff x="0" y="0"/>
            <a:chExt cx="2000758" cy="861924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2000758" cy="861949"/>
            </a:xfrm>
            <a:custGeom>
              <a:avLst/>
              <a:gdLst/>
              <a:ahLst/>
              <a:cxnLst/>
              <a:rect l="l" t="t" r="r" b="b"/>
              <a:pathLst>
                <a:path w="2000758" h="861949">
                  <a:moveTo>
                    <a:pt x="0" y="0"/>
                  </a:moveTo>
                  <a:lnTo>
                    <a:pt x="2000758" y="0"/>
                  </a:lnTo>
                  <a:lnTo>
                    <a:pt x="2000758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6201292" y="4972583"/>
            <a:ext cx="1455068" cy="525685"/>
            <a:chOff x="0" y="0"/>
            <a:chExt cx="1940090" cy="700913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1940052" cy="700913"/>
            </a:xfrm>
            <a:custGeom>
              <a:avLst/>
              <a:gdLst/>
              <a:ahLst/>
              <a:cxnLst/>
              <a:rect l="l" t="t" r="r" b="b"/>
              <a:pathLst>
                <a:path w="1940052" h="700913">
                  <a:moveTo>
                    <a:pt x="0" y="0"/>
                  </a:moveTo>
                  <a:lnTo>
                    <a:pt x="1940052" y="0"/>
                  </a:lnTo>
                  <a:lnTo>
                    <a:pt x="1940052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97" r="-1" b="-38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16201292" y="4943246"/>
            <a:ext cx="1455068" cy="555012"/>
            <a:chOff x="0" y="0"/>
            <a:chExt cx="1940090" cy="740016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1940093" cy="740020"/>
            </a:xfrm>
            <a:custGeom>
              <a:avLst/>
              <a:gdLst/>
              <a:ahLst/>
              <a:cxnLst/>
              <a:rect l="l" t="t" r="r" b="b"/>
              <a:pathLst>
                <a:path w="1940093" h="740020">
                  <a:moveTo>
                    <a:pt x="0" y="0"/>
                  </a:moveTo>
                  <a:lnTo>
                    <a:pt x="1940093" y="0"/>
                  </a:lnTo>
                  <a:lnTo>
                    <a:pt x="1940093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83" b="-108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0" y="-38100"/>
              <a:ext cx="1940090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worse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10957103" y="5524471"/>
            <a:ext cx="2433304" cy="646443"/>
            <a:chOff x="0" y="0"/>
            <a:chExt cx="3244406" cy="861924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3244469" cy="861949"/>
            </a:xfrm>
            <a:custGeom>
              <a:avLst/>
              <a:gdLst/>
              <a:ahLst/>
              <a:cxnLst/>
              <a:rect l="l" t="t" r="r" b="b"/>
              <a:pathLst>
                <a:path w="3244469" h="861949">
                  <a:moveTo>
                    <a:pt x="0" y="0"/>
                  </a:moveTo>
                  <a:lnTo>
                    <a:pt x="3244469" y="0"/>
                  </a:lnTo>
                  <a:lnTo>
                    <a:pt x="3244469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0979839" y="5584831"/>
            <a:ext cx="2387803" cy="525685"/>
            <a:chOff x="0" y="0"/>
            <a:chExt cx="3183738" cy="700913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3183763" cy="700913"/>
            </a:xfrm>
            <a:custGeom>
              <a:avLst/>
              <a:gdLst/>
              <a:ahLst/>
              <a:cxnLst/>
              <a:rect l="l" t="t" r="r" b="b"/>
              <a:pathLst>
                <a:path w="3183763" h="700913">
                  <a:moveTo>
                    <a:pt x="0" y="0"/>
                  </a:moveTo>
                  <a:lnTo>
                    <a:pt x="3183763" y="0"/>
                  </a:lnTo>
                  <a:lnTo>
                    <a:pt x="3183763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445" b="-3844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979839" y="5555494"/>
            <a:ext cx="2387803" cy="555012"/>
            <a:chOff x="0" y="0"/>
            <a:chExt cx="3183738" cy="740016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3183743" cy="740020"/>
            </a:xfrm>
            <a:custGeom>
              <a:avLst/>
              <a:gdLst/>
              <a:ahLst/>
              <a:cxnLst/>
              <a:rect l="l" t="t" r="r" b="b"/>
              <a:pathLst>
                <a:path w="3183743" h="740020">
                  <a:moveTo>
                    <a:pt x="0" y="0"/>
                  </a:moveTo>
                  <a:lnTo>
                    <a:pt x="3183743" y="0"/>
                  </a:lnTo>
                  <a:lnTo>
                    <a:pt x="3183743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29" b="-3382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0" y="-38100"/>
              <a:ext cx="3183738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stock/assets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13382225" y="5524471"/>
            <a:ext cx="940927" cy="646443"/>
            <a:chOff x="0" y="0"/>
            <a:chExt cx="1254570" cy="861924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13404952" y="5584831"/>
            <a:ext cx="895426" cy="525685"/>
            <a:chOff x="0" y="0"/>
            <a:chExt cx="1193902" cy="700913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13404952" y="5555494"/>
            <a:ext cx="895426" cy="555012"/>
            <a:chOff x="0" y="0"/>
            <a:chExt cx="1193902" cy="740016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0.770</a:t>
              </a: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14314961" y="5524471"/>
            <a:ext cx="940927" cy="646443"/>
            <a:chOff x="0" y="0"/>
            <a:chExt cx="1254570" cy="861924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14337687" y="5584831"/>
            <a:ext cx="895426" cy="525685"/>
            <a:chOff x="0" y="0"/>
            <a:chExt cx="1193902" cy="700913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14337687" y="5555494"/>
            <a:ext cx="895426" cy="555012"/>
            <a:chOff x="0" y="0"/>
            <a:chExt cx="1193902" cy="740016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0.429</a:t>
              </a:r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15247696" y="5524471"/>
            <a:ext cx="940927" cy="646443"/>
            <a:chOff x="0" y="0"/>
            <a:chExt cx="1254570" cy="861924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56" name="Group 156"/>
          <p:cNvGrpSpPr/>
          <p:nvPr/>
        </p:nvGrpSpPr>
        <p:grpSpPr>
          <a:xfrm>
            <a:off x="15270423" y="5584831"/>
            <a:ext cx="895426" cy="525685"/>
            <a:chOff x="0" y="0"/>
            <a:chExt cx="1193902" cy="700913"/>
          </a:xfrm>
        </p:grpSpPr>
        <p:sp>
          <p:nvSpPr>
            <p:cNvPr id="157" name="Freeform 157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15270423" y="5555494"/>
            <a:ext cx="895426" cy="555012"/>
            <a:chOff x="0" y="0"/>
            <a:chExt cx="1193902" cy="740016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0.500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16178565" y="5550541"/>
            <a:ext cx="1500568" cy="646443"/>
            <a:chOff x="0" y="0"/>
            <a:chExt cx="2000758" cy="861924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2000758" cy="861949"/>
            </a:xfrm>
            <a:custGeom>
              <a:avLst/>
              <a:gdLst/>
              <a:ahLst/>
              <a:cxnLst/>
              <a:rect l="l" t="t" r="r" b="b"/>
              <a:pathLst>
                <a:path w="2000758" h="861949">
                  <a:moveTo>
                    <a:pt x="0" y="0"/>
                  </a:moveTo>
                  <a:lnTo>
                    <a:pt x="2000758" y="0"/>
                  </a:lnTo>
                  <a:lnTo>
                    <a:pt x="2000758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16201292" y="5610901"/>
            <a:ext cx="1455068" cy="525685"/>
            <a:chOff x="0" y="0"/>
            <a:chExt cx="1940090" cy="700913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1940052" cy="700913"/>
            </a:xfrm>
            <a:custGeom>
              <a:avLst/>
              <a:gdLst/>
              <a:ahLst/>
              <a:cxnLst/>
              <a:rect l="l" t="t" r="r" b="b"/>
              <a:pathLst>
                <a:path w="1940052" h="700913">
                  <a:moveTo>
                    <a:pt x="0" y="0"/>
                  </a:moveTo>
                  <a:lnTo>
                    <a:pt x="1940052" y="0"/>
                  </a:lnTo>
                  <a:lnTo>
                    <a:pt x="1940052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97" r="-1" b="-38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16201292" y="5581574"/>
            <a:ext cx="1455068" cy="555012"/>
            <a:chOff x="0" y="0"/>
            <a:chExt cx="1940090" cy="740016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1940093" cy="740020"/>
            </a:xfrm>
            <a:custGeom>
              <a:avLst/>
              <a:gdLst/>
              <a:ahLst/>
              <a:cxnLst/>
              <a:rect l="l" t="t" r="r" b="b"/>
              <a:pathLst>
                <a:path w="1940093" h="740020">
                  <a:moveTo>
                    <a:pt x="0" y="0"/>
                  </a:moveTo>
                  <a:lnTo>
                    <a:pt x="1940093" y="0"/>
                  </a:lnTo>
                  <a:lnTo>
                    <a:pt x="1940093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83" b="-108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0" y="-38100"/>
              <a:ext cx="1940090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worse</a:t>
              </a:r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10957103" y="6162789"/>
            <a:ext cx="2433304" cy="646443"/>
            <a:chOff x="0" y="0"/>
            <a:chExt cx="3244406" cy="861924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3244469" cy="861949"/>
            </a:xfrm>
            <a:custGeom>
              <a:avLst/>
              <a:gdLst/>
              <a:ahLst/>
              <a:cxnLst/>
              <a:rect l="l" t="t" r="r" b="b"/>
              <a:pathLst>
                <a:path w="3244469" h="861949">
                  <a:moveTo>
                    <a:pt x="0" y="0"/>
                  </a:moveTo>
                  <a:lnTo>
                    <a:pt x="3244469" y="0"/>
                  </a:lnTo>
                  <a:lnTo>
                    <a:pt x="3244469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10979839" y="6223149"/>
            <a:ext cx="2387803" cy="525685"/>
            <a:chOff x="0" y="0"/>
            <a:chExt cx="3183738" cy="700913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3183763" cy="700913"/>
            </a:xfrm>
            <a:custGeom>
              <a:avLst/>
              <a:gdLst/>
              <a:ahLst/>
              <a:cxnLst/>
              <a:rect l="l" t="t" r="r" b="b"/>
              <a:pathLst>
                <a:path w="3183763" h="700913">
                  <a:moveTo>
                    <a:pt x="0" y="0"/>
                  </a:moveTo>
                  <a:lnTo>
                    <a:pt x="3183763" y="0"/>
                  </a:lnTo>
                  <a:lnTo>
                    <a:pt x="3183763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445" b="-3844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72" name="Group 172"/>
          <p:cNvGrpSpPr/>
          <p:nvPr/>
        </p:nvGrpSpPr>
        <p:grpSpPr>
          <a:xfrm>
            <a:off x="10979839" y="6193822"/>
            <a:ext cx="2387803" cy="555012"/>
            <a:chOff x="0" y="0"/>
            <a:chExt cx="3183738" cy="740016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3183743" cy="740020"/>
            </a:xfrm>
            <a:custGeom>
              <a:avLst/>
              <a:gdLst/>
              <a:ahLst/>
              <a:cxnLst/>
              <a:rect l="l" t="t" r="r" b="b"/>
              <a:pathLst>
                <a:path w="3183743" h="740020">
                  <a:moveTo>
                    <a:pt x="0" y="0"/>
                  </a:moveTo>
                  <a:lnTo>
                    <a:pt x="3183743" y="0"/>
                  </a:lnTo>
                  <a:lnTo>
                    <a:pt x="3183743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29" b="-3382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0" y="-38100"/>
              <a:ext cx="3183738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debtors/sales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13382225" y="6162789"/>
            <a:ext cx="940927" cy="646443"/>
            <a:chOff x="0" y="0"/>
            <a:chExt cx="1254570" cy="861924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13404952" y="6223149"/>
            <a:ext cx="895426" cy="525685"/>
            <a:chOff x="0" y="0"/>
            <a:chExt cx="1193902" cy="700913"/>
          </a:xfrm>
        </p:grpSpPr>
        <p:sp>
          <p:nvSpPr>
            <p:cNvPr id="178" name="Freeform 178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13404952" y="6193822"/>
            <a:ext cx="895426" cy="555012"/>
            <a:chOff x="0" y="0"/>
            <a:chExt cx="1193902" cy="740016"/>
          </a:xfrm>
        </p:grpSpPr>
        <p:sp>
          <p:nvSpPr>
            <p:cNvPr id="180" name="Freeform 180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0.770</a:t>
              </a:r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14314961" y="6162789"/>
            <a:ext cx="940927" cy="646443"/>
            <a:chOff x="0" y="0"/>
            <a:chExt cx="1254570" cy="861924"/>
          </a:xfrm>
        </p:grpSpPr>
        <p:sp>
          <p:nvSpPr>
            <p:cNvPr id="183" name="Freeform 183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14337687" y="6223149"/>
            <a:ext cx="895426" cy="525685"/>
            <a:chOff x="0" y="0"/>
            <a:chExt cx="1193902" cy="700913"/>
          </a:xfrm>
        </p:grpSpPr>
        <p:sp>
          <p:nvSpPr>
            <p:cNvPr id="185" name="Freeform 185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86" name="Group 186"/>
          <p:cNvGrpSpPr/>
          <p:nvPr/>
        </p:nvGrpSpPr>
        <p:grpSpPr>
          <a:xfrm>
            <a:off x="14337687" y="6193822"/>
            <a:ext cx="895426" cy="555012"/>
            <a:chOff x="0" y="0"/>
            <a:chExt cx="1193902" cy="740016"/>
          </a:xfrm>
        </p:grpSpPr>
        <p:sp>
          <p:nvSpPr>
            <p:cNvPr id="187" name="Freeform 187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88" name="TextBox 188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0.429</a:t>
              </a:r>
            </a:p>
          </p:txBody>
        </p:sp>
      </p:grpSp>
      <p:grpSp>
        <p:nvGrpSpPr>
          <p:cNvPr id="189" name="Group 189"/>
          <p:cNvGrpSpPr/>
          <p:nvPr/>
        </p:nvGrpSpPr>
        <p:grpSpPr>
          <a:xfrm>
            <a:off x="15247696" y="6162789"/>
            <a:ext cx="940927" cy="646443"/>
            <a:chOff x="0" y="0"/>
            <a:chExt cx="1254570" cy="861924"/>
          </a:xfrm>
        </p:grpSpPr>
        <p:sp>
          <p:nvSpPr>
            <p:cNvPr id="190" name="Freeform 190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91" name="Group 191"/>
          <p:cNvGrpSpPr/>
          <p:nvPr/>
        </p:nvGrpSpPr>
        <p:grpSpPr>
          <a:xfrm>
            <a:off x="15270423" y="6223149"/>
            <a:ext cx="895426" cy="525685"/>
            <a:chOff x="0" y="0"/>
            <a:chExt cx="1193902" cy="700913"/>
          </a:xfrm>
        </p:grpSpPr>
        <p:sp>
          <p:nvSpPr>
            <p:cNvPr id="192" name="Freeform 192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93" name="Group 193"/>
          <p:cNvGrpSpPr/>
          <p:nvPr/>
        </p:nvGrpSpPr>
        <p:grpSpPr>
          <a:xfrm>
            <a:off x="15270423" y="6193822"/>
            <a:ext cx="895426" cy="555012"/>
            <a:chOff x="0" y="0"/>
            <a:chExt cx="1193902" cy="740016"/>
          </a:xfrm>
        </p:grpSpPr>
        <p:sp>
          <p:nvSpPr>
            <p:cNvPr id="194" name="Freeform 194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0.500</a:t>
              </a:r>
            </a:p>
          </p:txBody>
        </p:sp>
      </p:grpSp>
      <p:grpSp>
        <p:nvGrpSpPr>
          <p:cNvPr id="196" name="Group 196"/>
          <p:cNvGrpSpPr/>
          <p:nvPr/>
        </p:nvGrpSpPr>
        <p:grpSpPr>
          <a:xfrm>
            <a:off x="16178565" y="6188869"/>
            <a:ext cx="1500568" cy="646443"/>
            <a:chOff x="0" y="0"/>
            <a:chExt cx="2000758" cy="861924"/>
          </a:xfrm>
        </p:grpSpPr>
        <p:sp>
          <p:nvSpPr>
            <p:cNvPr id="197" name="Freeform 197"/>
            <p:cNvSpPr/>
            <p:nvPr/>
          </p:nvSpPr>
          <p:spPr>
            <a:xfrm>
              <a:off x="0" y="0"/>
              <a:ext cx="2000758" cy="861949"/>
            </a:xfrm>
            <a:custGeom>
              <a:avLst/>
              <a:gdLst/>
              <a:ahLst/>
              <a:cxnLst/>
              <a:rect l="l" t="t" r="r" b="b"/>
              <a:pathLst>
                <a:path w="2000758" h="861949">
                  <a:moveTo>
                    <a:pt x="0" y="0"/>
                  </a:moveTo>
                  <a:lnTo>
                    <a:pt x="2000758" y="0"/>
                  </a:lnTo>
                  <a:lnTo>
                    <a:pt x="2000758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98" name="Group 198"/>
          <p:cNvGrpSpPr/>
          <p:nvPr/>
        </p:nvGrpSpPr>
        <p:grpSpPr>
          <a:xfrm>
            <a:off x="16201292" y="6249229"/>
            <a:ext cx="1455068" cy="525685"/>
            <a:chOff x="0" y="0"/>
            <a:chExt cx="1940090" cy="700913"/>
          </a:xfrm>
        </p:grpSpPr>
        <p:sp>
          <p:nvSpPr>
            <p:cNvPr id="199" name="Freeform 199"/>
            <p:cNvSpPr/>
            <p:nvPr/>
          </p:nvSpPr>
          <p:spPr>
            <a:xfrm>
              <a:off x="0" y="0"/>
              <a:ext cx="1940052" cy="700913"/>
            </a:xfrm>
            <a:custGeom>
              <a:avLst/>
              <a:gdLst/>
              <a:ahLst/>
              <a:cxnLst/>
              <a:rect l="l" t="t" r="r" b="b"/>
              <a:pathLst>
                <a:path w="1940052" h="700913">
                  <a:moveTo>
                    <a:pt x="0" y="0"/>
                  </a:moveTo>
                  <a:lnTo>
                    <a:pt x="1940052" y="0"/>
                  </a:lnTo>
                  <a:lnTo>
                    <a:pt x="1940052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97" r="-1" b="-389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00" name="Group 200"/>
          <p:cNvGrpSpPr/>
          <p:nvPr/>
        </p:nvGrpSpPr>
        <p:grpSpPr>
          <a:xfrm>
            <a:off x="16201292" y="6219892"/>
            <a:ext cx="1455068" cy="555012"/>
            <a:chOff x="0" y="0"/>
            <a:chExt cx="1940090" cy="740016"/>
          </a:xfrm>
        </p:grpSpPr>
        <p:sp>
          <p:nvSpPr>
            <p:cNvPr id="201" name="Freeform 201"/>
            <p:cNvSpPr/>
            <p:nvPr/>
          </p:nvSpPr>
          <p:spPr>
            <a:xfrm>
              <a:off x="0" y="0"/>
              <a:ext cx="1940093" cy="740020"/>
            </a:xfrm>
            <a:custGeom>
              <a:avLst/>
              <a:gdLst/>
              <a:ahLst/>
              <a:cxnLst/>
              <a:rect l="l" t="t" r="r" b="b"/>
              <a:pathLst>
                <a:path w="1940093" h="740020">
                  <a:moveTo>
                    <a:pt x="0" y="0"/>
                  </a:moveTo>
                  <a:lnTo>
                    <a:pt x="1940093" y="0"/>
                  </a:lnTo>
                  <a:lnTo>
                    <a:pt x="1940093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83" b="-1083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0" y="-38100"/>
              <a:ext cx="1940090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worse</a:t>
              </a:r>
            </a:p>
          </p:txBody>
        </p:sp>
      </p:grpSp>
      <p:grpSp>
        <p:nvGrpSpPr>
          <p:cNvPr id="203" name="Group 203"/>
          <p:cNvGrpSpPr/>
          <p:nvPr/>
        </p:nvGrpSpPr>
        <p:grpSpPr>
          <a:xfrm>
            <a:off x="10957103" y="6801117"/>
            <a:ext cx="2433304" cy="646443"/>
            <a:chOff x="0" y="0"/>
            <a:chExt cx="3244406" cy="861924"/>
          </a:xfrm>
        </p:grpSpPr>
        <p:sp>
          <p:nvSpPr>
            <p:cNvPr id="204" name="Freeform 204"/>
            <p:cNvSpPr/>
            <p:nvPr/>
          </p:nvSpPr>
          <p:spPr>
            <a:xfrm>
              <a:off x="0" y="0"/>
              <a:ext cx="3244469" cy="861949"/>
            </a:xfrm>
            <a:custGeom>
              <a:avLst/>
              <a:gdLst/>
              <a:ahLst/>
              <a:cxnLst/>
              <a:rect l="l" t="t" r="r" b="b"/>
              <a:pathLst>
                <a:path w="3244469" h="861949">
                  <a:moveTo>
                    <a:pt x="0" y="0"/>
                  </a:moveTo>
                  <a:lnTo>
                    <a:pt x="3244469" y="0"/>
                  </a:lnTo>
                  <a:lnTo>
                    <a:pt x="3244469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05" name="Group 205"/>
          <p:cNvGrpSpPr/>
          <p:nvPr/>
        </p:nvGrpSpPr>
        <p:grpSpPr>
          <a:xfrm>
            <a:off x="10979839" y="6861477"/>
            <a:ext cx="2387803" cy="525685"/>
            <a:chOff x="0" y="0"/>
            <a:chExt cx="3183738" cy="700913"/>
          </a:xfrm>
        </p:grpSpPr>
        <p:sp>
          <p:nvSpPr>
            <p:cNvPr id="206" name="Freeform 206"/>
            <p:cNvSpPr/>
            <p:nvPr/>
          </p:nvSpPr>
          <p:spPr>
            <a:xfrm>
              <a:off x="0" y="0"/>
              <a:ext cx="3183763" cy="700913"/>
            </a:xfrm>
            <a:custGeom>
              <a:avLst/>
              <a:gdLst/>
              <a:ahLst/>
              <a:cxnLst/>
              <a:rect l="l" t="t" r="r" b="b"/>
              <a:pathLst>
                <a:path w="3183763" h="700913">
                  <a:moveTo>
                    <a:pt x="0" y="0"/>
                  </a:moveTo>
                  <a:lnTo>
                    <a:pt x="3183763" y="0"/>
                  </a:lnTo>
                  <a:lnTo>
                    <a:pt x="3183763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445" b="-3844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07" name="Group 207"/>
          <p:cNvGrpSpPr/>
          <p:nvPr/>
        </p:nvGrpSpPr>
        <p:grpSpPr>
          <a:xfrm>
            <a:off x="10979839" y="6832140"/>
            <a:ext cx="2387803" cy="555012"/>
            <a:chOff x="0" y="0"/>
            <a:chExt cx="3183738" cy="740016"/>
          </a:xfrm>
        </p:grpSpPr>
        <p:sp>
          <p:nvSpPr>
            <p:cNvPr id="208" name="Freeform 208"/>
            <p:cNvSpPr/>
            <p:nvPr/>
          </p:nvSpPr>
          <p:spPr>
            <a:xfrm>
              <a:off x="0" y="0"/>
              <a:ext cx="3183743" cy="740020"/>
            </a:xfrm>
            <a:custGeom>
              <a:avLst/>
              <a:gdLst/>
              <a:ahLst/>
              <a:cxnLst/>
              <a:rect l="l" t="t" r="r" b="b"/>
              <a:pathLst>
                <a:path w="3183743" h="740020">
                  <a:moveTo>
                    <a:pt x="0" y="0"/>
                  </a:moveTo>
                  <a:lnTo>
                    <a:pt x="3183743" y="0"/>
                  </a:lnTo>
                  <a:lnTo>
                    <a:pt x="3183743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29" b="-3382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09" name="TextBox 209"/>
            <p:cNvSpPr txBox="1"/>
            <p:nvPr/>
          </p:nvSpPr>
          <p:spPr>
            <a:xfrm>
              <a:off x="0" y="-38100"/>
              <a:ext cx="3183738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net_income/assets</a:t>
              </a:r>
            </a:p>
          </p:txBody>
        </p:sp>
      </p:grpSp>
      <p:grpSp>
        <p:nvGrpSpPr>
          <p:cNvPr id="210" name="Group 210"/>
          <p:cNvGrpSpPr/>
          <p:nvPr/>
        </p:nvGrpSpPr>
        <p:grpSpPr>
          <a:xfrm>
            <a:off x="13382225" y="6801117"/>
            <a:ext cx="940927" cy="646443"/>
            <a:chOff x="0" y="0"/>
            <a:chExt cx="1254570" cy="861924"/>
          </a:xfrm>
        </p:grpSpPr>
        <p:sp>
          <p:nvSpPr>
            <p:cNvPr id="211" name="Freeform 211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12" name="Group 212"/>
          <p:cNvGrpSpPr/>
          <p:nvPr/>
        </p:nvGrpSpPr>
        <p:grpSpPr>
          <a:xfrm>
            <a:off x="13404952" y="6861477"/>
            <a:ext cx="895426" cy="525685"/>
            <a:chOff x="0" y="0"/>
            <a:chExt cx="1193902" cy="700913"/>
          </a:xfrm>
        </p:grpSpPr>
        <p:sp>
          <p:nvSpPr>
            <p:cNvPr id="213" name="Freeform 213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14" name="Group 214"/>
          <p:cNvGrpSpPr/>
          <p:nvPr/>
        </p:nvGrpSpPr>
        <p:grpSpPr>
          <a:xfrm>
            <a:off x="13404952" y="6832140"/>
            <a:ext cx="895426" cy="555012"/>
            <a:chOff x="0" y="0"/>
            <a:chExt cx="1193902" cy="740016"/>
          </a:xfrm>
        </p:grpSpPr>
        <p:sp>
          <p:nvSpPr>
            <p:cNvPr id="215" name="Freeform 215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16" name="TextBox 216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0.765</a:t>
              </a:r>
            </a:p>
          </p:txBody>
        </p:sp>
      </p:grpSp>
      <p:grpSp>
        <p:nvGrpSpPr>
          <p:cNvPr id="217" name="Group 217"/>
          <p:cNvGrpSpPr/>
          <p:nvPr/>
        </p:nvGrpSpPr>
        <p:grpSpPr>
          <a:xfrm>
            <a:off x="14314961" y="6801117"/>
            <a:ext cx="940927" cy="646443"/>
            <a:chOff x="0" y="0"/>
            <a:chExt cx="1254570" cy="861924"/>
          </a:xfrm>
        </p:grpSpPr>
        <p:sp>
          <p:nvSpPr>
            <p:cNvPr id="218" name="Freeform 218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19" name="Group 219"/>
          <p:cNvGrpSpPr/>
          <p:nvPr/>
        </p:nvGrpSpPr>
        <p:grpSpPr>
          <a:xfrm>
            <a:off x="14337687" y="6861477"/>
            <a:ext cx="895426" cy="525685"/>
            <a:chOff x="0" y="0"/>
            <a:chExt cx="1193902" cy="700913"/>
          </a:xfrm>
        </p:grpSpPr>
        <p:sp>
          <p:nvSpPr>
            <p:cNvPr id="220" name="Freeform 220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21" name="Group 221"/>
          <p:cNvGrpSpPr/>
          <p:nvPr/>
        </p:nvGrpSpPr>
        <p:grpSpPr>
          <a:xfrm>
            <a:off x="14337687" y="6832140"/>
            <a:ext cx="895426" cy="555012"/>
            <a:chOff x="0" y="0"/>
            <a:chExt cx="1193902" cy="740016"/>
          </a:xfrm>
        </p:grpSpPr>
        <p:sp>
          <p:nvSpPr>
            <p:cNvPr id="222" name="Freeform 222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0.429</a:t>
              </a:r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15247696" y="6801117"/>
            <a:ext cx="940927" cy="646443"/>
            <a:chOff x="0" y="0"/>
            <a:chExt cx="1254570" cy="861924"/>
          </a:xfrm>
        </p:grpSpPr>
        <p:sp>
          <p:nvSpPr>
            <p:cNvPr id="225" name="Freeform 225"/>
            <p:cNvSpPr/>
            <p:nvPr/>
          </p:nvSpPr>
          <p:spPr>
            <a:xfrm>
              <a:off x="0" y="0"/>
              <a:ext cx="1254506" cy="861949"/>
            </a:xfrm>
            <a:custGeom>
              <a:avLst/>
              <a:gdLst/>
              <a:ahLst/>
              <a:cxnLst/>
              <a:rect l="l" t="t" r="r" b="b"/>
              <a:pathLst>
                <a:path w="1254506" h="861949">
                  <a:moveTo>
                    <a:pt x="0" y="0"/>
                  </a:moveTo>
                  <a:lnTo>
                    <a:pt x="1254506" y="0"/>
                  </a:lnTo>
                  <a:lnTo>
                    <a:pt x="1254506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26" name="Group 226"/>
          <p:cNvGrpSpPr/>
          <p:nvPr/>
        </p:nvGrpSpPr>
        <p:grpSpPr>
          <a:xfrm>
            <a:off x="15270423" y="6861477"/>
            <a:ext cx="895426" cy="525685"/>
            <a:chOff x="0" y="0"/>
            <a:chExt cx="1193902" cy="700913"/>
          </a:xfrm>
        </p:grpSpPr>
        <p:sp>
          <p:nvSpPr>
            <p:cNvPr id="227" name="Freeform 227"/>
            <p:cNvSpPr/>
            <p:nvPr/>
          </p:nvSpPr>
          <p:spPr>
            <a:xfrm>
              <a:off x="0" y="0"/>
              <a:ext cx="1193927" cy="700913"/>
            </a:xfrm>
            <a:custGeom>
              <a:avLst/>
              <a:gdLst/>
              <a:ahLst/>
              <a:cxnLst/>
              <a:rect l="l" t="t" r="r" b="b"/>
              <a:pathLst>
                <a:path w="1193927" h="700913">
                  <a:moveTo>
                    <a:pt x="0" y="0"/>
                  </a:moveTo>
                  <a:lnTo>
                    <a:pt x="1193927" y="0"/>
                  </a:lnTo>
                  <a:lnTo>
                    <a:pt x="1193927" y="700913"/>
                  </a:lnTo>
                  <a:lnTo>
                    <a:pt x="0" y="700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74" r="-25373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28" name="Group 228"/>
          <p:cNvGrpSpPr/>
          <p:nvPr/>
        </p:nvGrpSpPr>
        <p:grpSpPr>
          <a:xfrm>
            <a:off x="15270423" y="6832140"/>
            <a:ext cx="895426" cy="555012"/>
            <a:chOff x="0" y="0"/>
            <a:chExt cx="1193902" cy="740016"/>
          </a:xfrm>
        </p:grpSpPr>
        <p:sp>
          <p:nvSpPr>
            <p:cNvPr id="229" name="Freeform 229"/>
            <p:cNvSpPr/>
            <p:nvPr/>
          </p:nvSpPr>
          <p:spPr>
            <a:xfrm>
              <a:off x="0" y="0"/>
              <a:ext cx="1193904" cy="740020"/>
            </a:xfrm>
            <a:custGeom>
              <a:avLst/>
              <a:gdLst/>
              <a:ahLst/>
              <a:cxnLst/>
              <a:rect l="l" t="t" r="r" b="b"/>
              <a:pathLst>
                <a:path w="1193904" h="740020">
                  <a:moveTo>
                    <a:pt x="0" y="0"/>
                  </a:moveTo>
                  <a:lnTo>
                    <a:pt x="1193904" y="0"/>
                  </a:lnTo>
                  <a:lnTo>
                    <a:pt x="1193904" y="740020"/>
                  </a:lnTo>
                  <a:lnTo>
                    <a:pt x="0" y="740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526" r="-29526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30" name="TextBox 230"/>
            <p:cNvSpPr txBox="1"/>
            <p:nvPr/>
          </p:nvSpPr>
          <p:spPr>
            <a:xfrm>
              <a:off x="0" y="-38100"/>
              <a:ext cx="1193902" cy="778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0.480</a:t>
              </a:r>
            </a:p>
          </p:txBody>
        </p:sp>
      </p:grpSp>
      <p:grpSp>
        <p:nvGrpSpPr>
          <p:cNvPr id="231" name="Group 231"/>
          <p:cNvGrpSpPr/>
          <p:nvPr/>
        </p:nvGrpSpPr>
        <p:grpSpPr>
          <a:xfrm>
            <a:off x="16178565" y="6827196"/>
            <a:ext cx="1500568" cy="646443"/>
            <a:chOff x="0" y="0"/>
            <a:chExt cx="2000758" cy="861924"/>
          </a:xfrm>
        </p:grpSpPr>
        <p:sp>
          <p:nvSpPr>
            <p:cNvPr id="232" name="Freeform 232"/>
            <p:cNvSpPr/>
            <p:nvPr/>
          </p:nvSpPr>
          <p:spPr>
            <a:xfrm>
              <a:off x="0" y="0"/>
              <a:ext cx="2000758" cy="861949"/>
            </a:xfrm>
            <a:custGeom>
              <a:avLst/>
              <a:gdLst/>
              <a:ahLst/>
              <a:cxnLst/>
              <a:rect l="l" t="t" r="r" b="b"/>
              <a:pathLst>
                <a:path w="2000758" h="861949">
                  <a:moveTo>
                    <a:pt x="0" y="0"/>
                  </a:moveTo>
                  <a:lnTo>
                    <a:pt x="2000758" y="0"/>
                  </a:lnTo>
                  <a:lnTo>
                    <a:pt x="2000758" y="861949"/>
                  </a:lnTo>
                  <a:lnTo>
                    <a:pt x="0" y="861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33" name="Group 233"/>
          <p:cNvGrpSpPr/>
          <p:nvPr/>
        </p:nvGrpSpPr>
        <p:grpSpPr>
          <a:xfrm>
            <a:off x="16201292" y="6851313"/>
            <a:ext cx="1455068" cy="598160"/>
            <a:chOff x="0" y="0"/>
            <a:chExt cx="1940090" cy="797547"/>
          </a:xfrm>
        </p:grpSpPr>
        <p:sp>
          <p:nvSpPr>
            <p:cNvPr id="234" name="Freeform 234"/>
            <p:cNvSpPr/>
            <p:nvPr/>
          </p:nvSpPr>
          <p:spPr>
            <a:xfrm>
              <a:off x="0" y="0"/>
              <a:ext cx="1940052" cy="797560"/>
            </a:xfrm>
            <a:custGeom>
              <a:avLst/>
              <a:gdLst/>
              <a:ahLst/>
              <a:cxnLst/>
              <a:rect l="l" t="t" r="r" b="b"/>
              <a:pathLst>
                <a:path w="1940052" h="797560">
                  <a:moveTo>
                    <a:pt x="0" y="0"/>
                  </a:moveTo>
                  <a:lnTo>
                    <a:pt x="1940052" y="0"/>
                  </a:lnTo>
                  <a:lnTo>
                    <a:pt x="1940052" y="797560"/>
                  </a:lnTo>
                  <a:lnTo>
                    <a:pt x="0" y="797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0" r="-2782" b="1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35" name="Group 235"/>
          <p:cNvGrpSpPr/>
          <p:nvPr/>
        </p:nvGrpSpPr>
        <p:grpSpPr>
          <a:xfrm>
            <a:off x="16201292" y="6821986"/>
            <a:ext cx="1455068" cy="627497"/>
            <a:chOff x="0" y="0"/>
            <a:chExt cx="1940090" cy="836663"/>
          </a:xfrm>
        </p:grpSpPr>
        <p:sp>
          <p:nvSpPr>
            <p:cNvPr id="236" name="Freeform 236"/>
            <p:cNvSpPr/>
            <p:nvPr/>
          </p:nvSpPr>
          <p:spPr>
            <a:xfrm>
              <a:off x="0" y="0"/>
              <a:ext cx="1940093" cy="836658"/>
            </a:xfrm>
            <a:custGeom>
              <a:avLst/>
              <a:gdLst/>
              <a:ahLst/>
              <a:cxnLst/>
              <a:rect l="l" t="t" r="r" b="b"/>
              <a:pathLst>
                <a:path w="1940093" h="836658">
                  <a:moveTo>
                    <a:pt x="0" y="0"/>
                  </a:moveTo>
                  <a:lnTo>
                    <a:pt x="1940093" y="0"/>
                  </a:lnTo>
                  <a:lnTo>
                    <a:pt x="1940093" y="836658"/>
                  </a:lnTo>
                  <a:lnTo>
                    <a:pt x="0" y="8366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30" r="-533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37" name="TextBox 237"/>
            <p:cNvSpPr txBox="1"/>
            <p:nvPr/>
          </p:nvSpPr>
          <p:spPr>
            <a:xfrm>
              <a:off x="0" y="-38100"/>
              <a:ext cx="1940090" cy="874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worse (r=0.99)</a:t>
              </a:r>
            </a:p>
          </p:txBody>
        </p:sp>
      </p:grpSp>
      <p:grpSp>
        <p:nvGrpSpPr>
          <p:cNvPr id="238" name="Group 238"/>
          <p:cNvGrpSpPr/>
          <p:nvPr/>
        </p:nvGrpSpPr>
        <p:grpSpPr>
          <a:xfrm>
            <a:off x="10970314" y="7568603"/>
            <a:ext cx="6708562" cy="2060305"/>
            <a:chOff x="0" y="0"/>
            <a:chExt cx="8944750" cy="2747074"/>
          </a:xfrm>
        </p:grpSpPr>
        <p:sp>
          <p:nvSpPr>
            <p:cNvPr id="239" name="Freeform 239"/>
            <p:cNvSpPr/>
            <p:nvPr/>
          </p:nvSpPr>
          <p:spPr>
            <a:xfrm>
              <a:off x="0" y="0"/>
              <a:ext cx="8944737" cy="2747137"/>
            </a:xfrm>
            <a:custGeom>
              <a:avLst/>
              <a:gdLst/>
              <a:ahLst/>
              <a:cxnLst/>
              <a:rect l="l" t="t" r="r" b="b"/>
              <a:pathLst>
                <a:path w="8944737" h="2747137">
                  <a:moveTo>
                    <a:pt x="0" y="0"/>
                  </a:moveTo>
                  <a:lnTo>
                    <a:pt x="8944737" y="0"/>
                  </a:lnTo>
                  <a:lnTo>
                    <a:pt x="8944737" y="2747137"/>
                  </a:lnTo>
                  <a:lnTo>
                    <a:pt x="0" y="2747137"/>
                  </a:lnTo>
                  <a:close/>
                </a:path>
              </a:pathLst>
            </a:custGeom>
            <a:solidFill>
              <a:srgbClr val="F0F4FF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40" name="Group 240"/>
          <p:cNvGrpSpPr/>
          <p:nvPr/>
        </p:nvGrpSpPr>
        <p:grpSpPr>
          <a:xfrm>
            <a:off x="11155680" y="7578128"/>
            <a:ext cx="6103620" cy="512064"/>
            <a:chOff x="0" y="0"/>
            <a:chExt cx="8138160" cy="682752"/>
          </a:xfrm>
        </p:grpSpPr>
        <p:sp>
          <p:nvSpPr>
            <p:cNvPr id="241" name="Freeform 241"/>
            <p:cNvSpPr/>
            <p:nvPr/>
          </p:nvSpPr>
          <p:spPr>
            <a:xfrm>
              <a:off x="0" y="0"/>
              <a:ext cx="8138160" cy="682752"/>
            </a:xfrm>
            <a:custGeom>
              <a:avLst/>
              <a:gdLst/>
              <a:ahLst/>
              <a:cxnLst/>
              <a:rect l="l" t="t" r="r" b="b"/>
              <a:pathLst>
                <a:path w="8138160" h="682752">
                  <a:moveTo>
                    <a:pt x="0" y="0"/>
                  </a:moveTo>
                  <a:lnTo>
                    <a:pt x="8138160" y="0"/>
                  </a:lnTo>
                  <a:lnTo>
                    <a:pt x="813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2092" b="-18209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42" name="Group 242"/>
          <p:cNvGrpSpPr/>
          <p:nvPr/>
        </p:nvGrpSpPr>
        <p:grpSpPr>
          <a:xfrm>
            <a:off x="11155680" y="7549553"/>
            <a:ext cx="6103620" cy="540639"/>
            <a:chOff x="0" y="0"/>
            <a:chExt cx="8138160" cy="720852"/>
          </a:xfrm>
        </p:grpSpPr>
        <p:sp>
          <p:nvSpPr>
            <p:cNvPr id="243" name="Freeform 243"/>
            <p:cNvSpPr/>
            <p:nvPr/>
          </p:nvSpPr>
          <p:spPr>
            <a:xfrm>
              <a:off x="0" y="0"/>
              <a:ext cx="8138160" cy="720852"/>
            </a:xfrm>
            <a:custGeom>
              <a:avLst/>
              <a:gdLst/>
              <a:ahLst/>
              <a:cxnLst/>
              <a:rect l="l" t="t" r="r" b="b"/>
              <a:pathLst>
                <a:path w="8138160" h="720852">
                  <a:moveTo>
                    <a:pt x="0" y="0"/>
                  </a:moveTo>
                  <a:lnTo>
                    <a:pt x="8138160" y="0"/>
                  </a:lnTo>
                  <a:lnTo>
                    <a:pt x="813816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9979" b="-16997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44" name="TextBox 244"/>
            <p:cNvSpPr txBox="1"/>
            <p:nvPr/>
          </p:nvSpPr>
          <p:spPr>
            <a:xfrm>
              <a:off x="0" y="-38100"/>
              <a:ext cx="813816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the baseline wins</a:t>
              </a:r>
            </a:p>
          </p:txBody>
        </p:sp>
      </p:grpSp>
      <p:grpSp>
        <p:nvGrpSpPr>
          <p:cNvPr id="245" name="Group 245"/>
          <p:cNvGrpSpPr/>
          <p:nvPr/>
        </p:nvGrpSpPr>
        <p:grpSpPr>
          <a:xfrm>
            <a:off x="11155680" y="7886671"/>
            <a:ext cx="6217920" cy="1424140"/>
            <a:chOff x="0" y="0"/>
            <a:chExt cx="8290560" cy="1898853"/>
          </a:xfrm>
        </p:grpSpPr>
        <p:sp>
          <p:nvSpPr>
            <p:cNvPr id="246" name="Freeform 246"/>
            <p:cNvSpPr/>
            <p:nvPr/>
          </p:nvSpPr>
          <p:spPr>
            <a:xfrm>
              <a:off x="0" y="0"/>
              <a:ext cx="8290560" cy="1898904"/>
            </a:xfrm>
            <a:custGeom>
              <a:avLst/>
              <a:gdLst/>
              <a:ahLst/>
              <a:cxnLst/>
              <a:rect l="l" t="t" r="r" b="b"/>
              <a:pathLst>
                <a:path w="8290560" h="1898904">
                  <a:moveTo>
                    <a:pt x="0" y="0"/>
                  </a:moveTo>
                  <a:lnTo>
                    <a:pt x="8290560" y="0"/>
                  </a:lnTo>
                  <a:lnTo>
                    <a:pt x="8290560" y="1898904"/>
                  </a:lnTo>
                  <a:lnTo>
                    <a:pt x="0" y="1898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013" b="-3501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47" name="Group 247"/>
          <p:cNvGrpSpPr/>
          <p:nvPr/>
        </p:nvGrpSpPr>
        <p:grpSpPr>
          <a:xfrm>
            <a:off x="11155680" y="7886671"/>
            <a:ext cx="6217920" cy="1452714"/>
            <a:chOff x="0" y="0"/>
            <a:chExt cx="8290560" cy="1936952"/>
          </a:xfrm>
        </p:grpSpPr>
        <p:sp>
          <p:nvSpPr>
            <p:cNvPr id="248" name="Freeform 248"/>
            <p:cNvSpPr/>
            <p:nvPr/>
          </p:nvSpPr>
          <p:spPr>
            <a:xfrm>
              <a:off x="0" y="0"/>
              <a:ext cx="8290560" cy="1936951"/>
            </a:xfrm>
            <a:custGeom>
              <a:avLst/>
              <a:gdLst/>
              <a:ahLst/>
              <a:cxnLst/>
              <a:rect l="l" t="t" r="r" b="b"/>
              <a:pathLst>
                <a:path w="8290560" h="1936951">
                  <a:moveTo>
                    <a:pt x="0" y="0"/>
                  </a:moveTo>
                  <a:lnTo>
                    <a:pt x="8290560" y="0"/>
                  </a:lnTo>
                  <a:lnTo>
                    <a:pt x="8290560" y="1936951"/>
                  </a:lnTo>
                  <a:lnTo>
                    <a:pt x="0" y="19369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400" b="-33400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49" name="TextBox 249"/>
            <p:cNvSpPr txBox="1"/>
            <p:nvPr/>
          </p:nvSpPr>
          <p:spPr>
            <a:xfrm>
              <a:off x="0" y="-38100"/>
              <a:ext cx="8290560" cy="1975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 dirty="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cash_ratio: </a:t>
              </a:r>
              <a:r>
                <a:rPr lang="en-US" sz="1700" dirty="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  <a:r>
                <a:rPr lang="en-US" sz="1700" dirty="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dds noise, not signal</a:t>
              </a:r>
            </a:p>
            <a:p>
              <a:pPr algn="l">
                <a:lnSpc>
                  <a:spcPts val="2039"/>
                </a:lnSpc>
              </a:pPr>
              <a:r>
                <a:rPr lang="en-US" sz="1700" b="1" dirty="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net_income/assets</a:t>
              </a:r>
              <a:r>
                <a:rPr lang="en-US" sz="1700" dirty="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correlation with EBIT/Assets — pure redundancy</a:t>
              </a:r>
            </a:p>
            <a:p>
              <a:pPr algn="l">
                <a:lnSpc>
                  <a:spcPts val="2039"/>
                </a:lnSpc>
              </a:pPr>
              <a:r>
                <a:rPr lang="en-US" sz="1700" b="1" dirty="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debtors/sales: </a:t>
              </a:r>
              <a:r>
                <a:rPr lang="en-US" sz="1700" dirty="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separating power</a:t>
              </a:r>
            </a:p>
            <a:p>
              <a:pPr algn="l">
                <a:lnSpc>
                  <a:spcPts val="2039"/>
                </a:lnSpc>
              </a:pPr>
              <a:endParaRPr lang="en-US" sz="1700" dirty="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250" name="TextBox 249"/>
          <p:cNvSpPr txBox="1"/>
          <p:nvPr/>
        </p:nvSpPr>
        <p:spPr>
          <a:xfrm>
            <a:off x="472148" y="9525282"/>
            <a:ext cx="10183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NB: Capital structure and liquidity dominate default risk while leverage and financial expenses increase it</a:t>
            </a:r>
            <a:endParaRPr lang="en-GB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178" y="380114"/>
            <a:ext cx="3336322" cy="629698"/>
            <a:chOff x="0" y="0"/>
            <a:chExt cx="4448429" cy="839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429" cy="839597"/>
            </a:xfrm>
            <a:custGeom>
              <a:avLst/>
              <a:gdLst/>
              <a:ahLst/>
              <a:cxnLst/>
              <a:rect l="l" t="t" r="r" b="b"/>
              <a:pathLst>
                <a:path w="4448429" h="839597">
                  <a:moveTo>
                    <a:pt x="0" y="0"/>
                  </a:moveTo>
                  <a:lnTo>
                    <a:pt x="4448429" y="0"/>
                  </a:lnTo>
                  <a:lnTo>
                    <a:pt x="4448429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402336"/>
            <a:ext cx="3291840" cy="585216"/>
            <a:chOff x="0" y="0"/>
            <a:chExt cx="438912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780288"/>
            </a:xfrm>
            <a:custGeom>
              <a:avLst/>
              <a:gdLst/>
              <a:ahLst/>
              <a:cxnLst/>
              <a:rect l="l" t="t" r="r" b="b"/>
              <a:pathLst>
                <a:path w="4389120" h="780288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26" b="-5952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80905"/>
            <a:ext cx="3291840" cy="606647"/>
            <a:chOff x="0" y="0"/>
            <a:chExt cx="4389120" cy="8088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808863"/>
            </a:xfrm>
            <a:custGeom>
              <a:avLst/>
              <a:gdLst/>
              <a:ahLst/>
              <a:cxnLst/>
              <a:rect l="l" t="t" r="r" b="b"/>
              <a:pathLst>
                <a:path w="4389120" h="808863">
                  <a:moveTo>
                    <a:pt x="0" y="0"/>
                  </a:moveTo>
                  <a:lnTo>
                    <a:pt x="4389120" y="0"/>
                  </a:lnTo>
                  <a:lnTo>
                    <a:pt x="4389120" y="808863"/>
                  </a:lnTo>
                  <a:lnTo>
                    <a:pt x="0" y="8088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731" b="-5573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3891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spc="4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 INTERPRETATION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133856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347" b="-200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048131"/>
            <a:ext cx="16459200" cy="1365885"/>
            <a:chOff x="0" y="0"/>
            <a:chExt cx="21945600" cy="18211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821180"/>
            </a:xfrm>
            <a:custGeom>
              <a:avLst/>
              <a:gdLst/>
              <a:ahLst/>
              <a:cxnLst/>
              <a:rect l="l" t="t" r="r" b="b"/>
              <a:pathLst>
                <a:path w="21945600" h="1821180">
                  <a:moveTo>
                    <a:pt x="0" y="0"/>
                  </a:moveTo>
                  <a:lnTo>
                    <a:pt x="21945600" y="0"/>
                  </a:lnTo>
                  <a:lnTo>
                    <a:pt x="21945600" y="1821180"/>
                  </a:lnTo>
                  <a:lnTo>
                    <a:pt x="0" y="1821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798" b="-18479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1945600" cy="1954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These Features? The Economic Logic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2340864"/>
            <a:ext cx="16459200" cy="640080"/>
            <a:chOff x="0" y="0"/>
            <a:chExt cx="21945600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694" b="-45069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2298002"/>
            <a:ext cx="16459200" cy="682943"/>
            <a:chOff x="0" y="0"/>
            <a:chExt cx="21945600" cy="9105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45600" cy="910590"/>
            </a:xfrm>
            <a:custGeom>
              <a:avLst/>
              <a:gdLst/>
              <a:ahLst/>
              <a:cxnLst/>
              <a:rect l="l" t="t" r="r" b="b"/>
              <a:pathLst>
                <a:path w="21945600" h="910590">
                  <a:moveTo>
                    <a:pt x="0" y="0"/>
                  </a:moveTo>
                  <a:lnTo>
                    <a:pt x="21945600" y="0"/>
                  </a:lnTo>
                  <a:lnTo>
                    <a:pt x="2194560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9597" b="-41959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1945600" cy="9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ratio maps to a mechanism — not just a statistical signal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7067" y="2973067"/>
            <a:ext cx="8318468" cy="2246852"/>
            <a:chOff x="0" y="0"/>
            <a:chExt cx="11091291" cy="29958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091291" cy="2995803"/>
            </a:xfrm>
            <a:custGeom>
              <a:avLst/>
              <a:gdLst/>
              <a:ahLst/>
              <a:cxnLst/>
              <a:rect l="l" t="t" r="r" b="b"/>
              <a:pathLst>
                <a:path w="11091291" h="2995803">
                  <a:moveTo>
                    <a:pt x="0" y="0"/>
                  </a:moveTo>
                  <a:lnTo>
                    <a:pt x="11091291" y="0"/>
                  </a:lnTo>
                  <a:lnTo>
                    <a:pt x="11091291" y="2995803"/>
                  </a:lnTo>
                  <a:lnTo>
                    <a:pt x="0" y="2995803"/>
                  </a:ln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9298" y="2995298"/>
            <a:ext cx="8274082" cy="593122"/>
            <a:chOff x="0" y="0"/>
            <a:chExt cx="11032109" cy="79082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032109" cy="790829"/>
            </a:xfrm>
            <a:custGeom>
              <a:avLst/>
              <a:gdLst/>
              <a:ahLst/>
              <a:cxnLst/>
              <a:rect l="l" t="t" r="r" b="b"/>
              <a:pathLst>
                <a:path w="11032109" h="790829">
                  <a:moveTo>
                    <a:pt x="0" y="0"/>
                  </a:moveTo>
                  <a:lnTo>
                    <a:pt x="11032109" y="0"/>
                  </a:lnTo>
                  <a:lnTo>
                    <a:pt x="11032109" y="790829"/>
                  </a:lnTo>
                  <a:lnTo>
                    <a:pt x="0" y="790829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" y="3017520"/>
            <a:ext cx="7863840" cy="548640"/>
            <a:chOff x="0" y="0"/>
            <a:chExt cx="1048512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485120" cy="731520"/>
            </a:xfrm>
            <a:custGeom>
              <a:avLst/>
              <a:gdLst/>
              <a:ahLst/>
              <a:cxnLst/>
              <a:rect l="l" t="t" r="r" b="b"/>
              <a:pathLst>
                <a:path w="10485120" h="7315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9092" b="-22909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" y="2988945"/>
            <a:ext cx="7863840" cy="577215"/>
            <a:chOff x="0" y="0"/>
            <a:chExt cx="10485120" cy="7696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485120" cy="769620"/>
            </a:xfrm>
            <a:custGeom>
              <a:avLst/>
              <a:gdLst/>
              <a:ahLst/>
              <a:cxnLst/>
              <a:rect l="l" t="t" r="r" b="b"/>
              <a:pathLst>
                <a:path w="10485120" h="769620">
                  <a:moveTo>
                    <a:pt x="0" y="0"/>
                  </a:moveTo>
                  <a:lnTo>
                    <a:pt x="10485120" y="0"/>
                  </a:lnTo>
                  <a:lnTo>
                    <a:pt x="104851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5459" b="-21545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48512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Liquidity — Working Capital / Assets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4400" y="3631816"/>
            <a:ext cx="7863840" cy="838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8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A firm burning through working capital can't meet short-term obligations. Checking the trends adds a forward-looking dimension: a firm whose WC/Assets fell from 0.3 to −0.1 is in a 'death spiral' even if its current ratio is not yet critical.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465307" y="2973067"/>
            <a:ext cx="8318468" cy="2246852"/>
            <a:chOff x="0" y="0"/>
            <a:chExt cx="11091291" cy="299580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091291" cy="2995803"/>
            </a:xfrm>
            <a:custGeom>
              <a:avLst/>
              <a:gdLst/>
              <a:ahLst/>
              <a:cxnLst/>
              <a:rect l="l" t="t" r="r" b="b"/>
              <a:pathLst>
                <a:path w="11091291" h="2995803">
                  <a:moveTo>
                    <a:pt x="0" y="0"/>
                  </a:moveTo>
                  <a:lnTo>
                    <a:pt x="11091291" y="0"/>
                  </a:lnTo>
                  <a:lnTo>
                    <a:pt x="11091291" y="2995803"/>
                  </a:lnTo>
                  <a:lnTo>
                    <a:pt x="0" y="2995803"/>
                  </a:ln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487538" y="2995298"/>
            <a:ext cx="8274082" cy="593122"/>
            <a:chOff x="0" y="0"/>
            <a:chExt cx="11032109" cy="7908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032109" cy="790829"/>
            </a:xfrm>
            <a:custGeom>
              <a:avLst/>
              <a:gdLst/>
              <a:ahLst/>
              <a:cxnLst/>
              <a:rect l="l" t="t" r="r" b="b"/>
              <a:pathLst>
                <a:path w="11032109" h="790829">
                  <a:moveTo>
                    <a:pt x="0" y="0"/>
                  </a:moveTo>
                  <a:lnTo>
                    <a:pt x="11032109" y="0"/>
                  </a:lnTo>
                  <a:lnTo>
                    <a:pt x="11032109" y="790829"/>
                  </a:lnTo>
                  <a:lnTo>
                    <a:pt x="0" y="790829"/>
                  </a:lnTo>
                  <a:close/>
                </a:path>
              </a:pathLst>
            </a:custGeom>
            <a:solidFill>
              <a:srgbClr val="2A3F8F"/>
            </a:solidFill>
            <a:ln w="25400" cap="sq">
              <a:solidFill>
                <a:srgbClr val="2A3F8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692640" y="3017520"/>
            <a:ext cx="7863840" cy="548640"/>
            <a:chOff x="0" y="0"/>
            <a:chExt cx="1048512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485120" cy="731520"/>
            </a:xfrm>
            <a:custGeom>
              <a:avLst/>
              <a:gdLst/>
              <a:ahLst/>
              <a:cxnLst/>
              <a:rect l="l" t="t" r="r" b="b"/>
              <a:pathLst>
                <a:path w="10485120" h="7315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9092" b="-22909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692640" y="2988945"/>
            <a:ext cx="7863840" cy="577215"/>
            <a:chOff x="0" y="0"/>
            <a:chExt cx="10485120" cy="7696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485120" cy="769620"/>
            </a:xfrm>
            <a:custGeom>
              <a:avLst/>
              <a:gdLst/>
              <a:ahLst/>
              <a:cxnLst/>
              <a:rect l="l" t="t" r="r" b="b"/>
              <a:pathLst>
                <a:path w="10485120" h="769620">
                  <a:moveTo>
                    <a:pt x="0" y="0"/>
                  </a:moveTo>
                  <a:lnTo>
                    <a:pt x="10485120" y="0"/>
                  </a:lnTo>
                  <a:lnTo>
                    <a:pt x="104851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5459" b="-21545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48512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Profitability — EBIT / Assets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692621" y="3631816"/>
            <a:ext cx="7863840" cy="838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8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Persistent negative EBIT means the firm cannot cover its cost of capital from operations. TTrend flag sudden deteriorations that static ratios miss — a firm going from +5% to −3% in one year is far riskier than a stable −2%.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87067" y="5313931"/>
            <a:ext cx="8318468" cy="2246852"/>
            <a:chOff x="0" y="0"/>
            <a:chExt cx="11091291" cy="299580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091291" cy="2995803"/>
            </a:xfrm>
            <a:custGeom>
              <a:avLst/>
              <a:gdLst/>
              <a:ahLst/>
              <a:cxnLst/>
              <a:rect l="l" t="t" r="r" b="b"/>
              <a:pathLst>
                <a:path w="11091291" h="2995803">
                  <a:moveTo>
                    <a:pt x="0" y="0"/>
                  </a:moveTo>
                  <a:lnTo>
                    <a:pt x="11091291" y="0"/>
                  </a:lnTo>
                  <a:lnTo>
                    <a:pt x="11091291" y="2995803"/>
                  </a:lnTo>
                  <a:lnTo>
                    <a:pt x="0" y="2995803"/>
                  </a:ln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0D7E6A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09298" y="5336162"/>
            <a:ext cx="8274082" cy="593122"/>
            <a:chOff x="0" y="0"/>
            <a:chExt cx="11032109" cy="79082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032109" cy="790829"/>
            </a:xfrm>
            <a:custGeom>
              <a:avLst/>
              <a:gdLst/>
              <a:ahLst/>
              <a:cxnLst/>
              <a:rect l="l" t="t" r="r" b="b"/>
              <a:pathLst>
                <a:path w="11032109" h="790829">
                  <a:moveTo>
                    <a:pt x="0" y="0"/>
                  </a:moveTo>
                  <a:lnTo>
                    <a:pt x="11032109" y="0"/>
                  </a:lnTo>
                  <a:lnTo>
                    <a:pt x="11032109" y="790829"/>
                  </a:lnTo>
                  <a:lnTo>
                    <a:pt x="0" y="790829"/>
                  </a:lnTo>
                  <a:close/>
                </a:path>
              </a:pathLst>
            </a:custGeom>
            <a:solidFill>
              <a:srgbClr val="0D7E6A"/>
            </a:solidFill>
            <a:ln w="25400" cap="sq">
              <a:solidFill>
                <a:srgbClr val="0D7E6A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14400" y="5358384"/>
            <a:ext cx="7863840" cy="548640"/>
            <a:chOff x="0" y="0"/>
            <a:chExt cx="10485120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485120" cy="731520"/>
            </a:xfrm>
            <a:custGeom>
              <a:avLst/>
              <a:gdLst/>
              <a:ahLst/>
              <a:cxnLst/>
              <a:rect l="l" t="t" r="r" b="b"/>
              <a:pathLst>
                <a:path w="10485120" h="7315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9092" b="-22909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14400" y="5329809"/>
            <a:ext cx="7863840" cy="577215"/>
            <a:chOff x="0" y="0"/>
            <a:chExt cx="10485120" cy="7696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485120" cy="769620"/>
            </a:xfrm>
            <a:custGeom>
              <a:avLst/>
              <a:gdLst/>
              <a:ahLst/>
              <a:cxnLst/>
              <a:rect l="l" t="t" r="r" b="b"/>
              <a:pathLst>
                <a:path w="10485120" h="769620">
                  <a:moveTo>
                    <a:pt x="0" y="0"/>
                  </a:moveTo>
                  <a:lnTo>
                    <a:pt x="10485120" y="0"/>
                  </a:lnTo>
                  <a:lnTo>
                    <a:pt x="104851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5459" b="-21545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048512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Leverage — Debt / Assets + Equity / Assets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892178" y="6015009"/>
            <a:ext cx="7863840" cy="838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8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High financial leverage amplifies every adverse shock. Equity/Assets (solvency buffer) and Debt/Assets work together — a firm with 95% liabilities has no room to absorb losses. 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465307" y="5313931"/>
            <a:ext cx="8318468" cy="2246852"/>
            <a:chOff x="0" y="0"/>
            <a:chExt cx="11091291" cy="299580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091291" cy="2995803"/>
            </a:xfrm>
            <a:custGeom>
              <a:avLst/>
              <a:gdLst/>
              <a:ahLst/>
              <a:cxnLst/>
              <a:rect l="l" t="t" r="r" b="b"/>
              <a:pathLst>
                <a:path w="11091291" h="2995803">
                  <a:moveTo>
                    <a:pt x="0" y="0"/>
                  </a:moveTo>
                  <a:lnTo>
                    <a:pt x="11091291" y="0"/>
                  </a:lnTo>
                  <a:lnTo>
                    <a:pt x="11091291" y="2995803"/>
                  </a:lnTo>
                  <a:lnTo>
                    <a:pt x="0" y="2995803"/>
                  </a:ln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8B4513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487538" y="5336162"/>
            <a:ext cx="8274082" cy="593122"/>
            <a:chOff x="0" y="0"/>
            <a:chExt cx="11032109" cy="79082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032109" cy="790829"/>
            </a:xfrm>
            <a:custGeom>
              <a:avLst/>
              <a:gdLst/>
              <a:ahLst/>
              <a:cxnLst/>
              <a:rect l="l" t="t" r="r" b="b"/>
              <a:pathLst>
                <a:path w="11032109" h="790829">
                  <a:moveTo>
                    <a:pt x="0" y="0"/>
                  </a:moveTo>
                  <a:lnTo>
                    <a:pt x="11032109" y="0"/>
                  </a:lnTo>
                  <a:lnTo>
                    <a:pt x="11032109" y="790829"/>
                  </a:lnTo>
                  <a:lnTo>
                    <a:pt x="0" y="790829"/>
                  </a:lnTo>
                  <a:close/>
                </a:path>
              </a:pathLst>
            </a:custGeom>
            <a:solidFill>
              <a:srgbClr val="8B4513"/>
            </a:solidFill>
            <a:ln w="25400" cap="sq">
              <a:solidFill>
                <a:srgbClr val="8B4513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692640" y="5358384"/>
            <a:ext cx="7863840" cy="548640"/>
            <a:chOff x="0" y="0"/>
            <a:chExt cx="10485120" cy="7315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485120" cy="731520"/>
            </a:xfrm>
            <a:custGeom>
              <a:avLst/>
              <a:gdLst/>
              <a:ahLst/>
              <a:cxnLst/>
              <a:rect l="l" t="t" r="r" b="b"/>
              <a:pathLst>
                <a:path w="10485120" h="7315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9092" b="-22909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692640" y="5329809"/>
            <a:ext cx="7863840" cy="577215"/>
            <a:chOff x="0" y="0"/>
            <a:chExt cx="10485120" cy="7696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485120" cy="769620"/>
            </a:xfrm>
            <a:custGeom>
              <a:avLst/>
              <a:gdLst/>
              <a:ahLst/>
              <a:cxnLst/>
              <a:rect l="l" t="t" r="r" b="b"/>
              <a:pathLst>
                <a:path w="10485120" h="769620">
                  <a:moveTo>
                    <a:pt x="0" y="0"/>
                  </a:moveTo>
                  <a:lnTo>
                    <a:pt x="10485120" y="0"/>
                  </a:lnTo>
                  <a:lnTo>
                    <a:pt x="104851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5459" b="-21545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1048512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Sector Context — Relative Benchmarks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9692659" y="6015009"/>
            <a:ext cx="7863840" cy="838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8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A debt/assets of 0.7 is normal in real estate and dangerous in manufacturing. Sector-relative features (ratio minus industry median) identify firms that underperform their own peers — more informative than absolute levels.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687067" y="7654795"/>
            <a:ext cx="8318468" cy="2246852"/>
            <a:chOff x="0" y="0"/>
            <a:chExt cx="11091291" cy="299580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1091291" cy="2995803"/>
            </a:xfrm>
            <a:custGeom>
              <a:avLst/>
              <a:gdLst/>
              <a:ahLst/>
              <a:cxnLst/>
              <a:rect l="l" t="t" r="r" b="b"/>
              <a:pathLst>
                <a:path w="11091291" h="2995803">
                  <a:moveTo>
                    <a:pt x="0" y="0"/>
                  </a:moveTo>
                  <a:lnTo>
                    <a:pt x="11091291" y="0"/>
                  </a:lnTo>
                  <a:lnTo>
                    <a:pt x="11091291" y="2995803"/>
                  </a:lnTo>
                  <a:lnTo>
                    <a:pt x="0" y="2995803"/>
                  </a:ln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7D3C98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09298" y="7677026"/>
            <a:ext cx="8274082" cy="593122"/>
            <a:chOff x="0" y="0"/>
            <a:chExt cx="11032109" cy="79082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032109" cy="790829"/>
            </a:xfrm>
            <a:custGeom>
              <a:avLst/>
              <a:gdLst/>
              <a:ahLst/>
              <a:cxnLst/>
              <a:rect l="l" t="t" r="r" b="b"/>
              <a:pathLst>
                <a:path w="11032109" h="790829">
                  <a:moveTo>
                    <a:pt x="0" y="0"/>
                  </a:moveTo>
                  <a:lnTo>
                    <a:pt x="11032109" y="0"/>
                  </a:lnTo>
                  <a:lnTo>
                    <a:pt x="11032109" y="790829"/>
                  </a:lnTo>
                  <a:lnTo>
                    <a:pt x="0" y="790829"/>
                  </a:lnTo>
                  <a:close/>
                </a:path>
              </a:pathLst>
            </a:custGeom>
            <a:solidFill>
              <a:srgbClr val="7D3C98"/>
            </a:solidFill>
            <a:ln w="25400" cap="sq">
              <a:solidFill>
                <a:srgbClr val="7D3C98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14400" y="7699248"/>
            <a:ext cx="7863840" cy="548640"/>
            <a:chOff x="0" y="0"/>
            <a:chExt cx="10485120" cy="7315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485120" cy="731520"/>
            </a:xfrm>
            <a:custGeom>
              <a:avLst/>
              <a:gdLst/>
              <a:ahLst/>
              <a:cxnLst/>
              <a:rect l="l" t="t" r="r" b="b"/>
              <a:pathLst>
                <a:path w="10485120" h="7315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9092" b="-22909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14400" y="7670673"/>
            <a:ext cx="7863840" cy="577215"/>
            <a:chOff x="0" y="0"/>
            <a:chExt cx="10485120" cy="7696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485120" cy="769620"/>
            </a:xfrm>
            <a:custGeom>
              <a:avLst/>
              <a:gdLst/>
              <a:ahLst/>
              <a:cxnLst/>
              <a:rect l="l" t="t" r="r" b="b"/>
              <a:pathLst>
                <a:path w="10485120" h="769620">
                  <a:moveTo>
                    <a:pt x="0" y="0"/>
                  </a:moveTo>
                  <a:lnTo>
                    <a:pt x="10485120" y="0"/>
                  </a:lnTo>
                  <a:lnTo>
                    <a:pt x="104851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5459" b="-21545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1048512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Financial Burden — Fin. Expenses / Revenue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914419" y="8374923"/>
            <a:ext cx="7863840" cy="57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8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High interest cost relative to revenue creates a cash trap: earnings go to servicing debt rather than operations. Trends check rising financial burden through years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9465307" y="7654795"/>
            <a:ext cx="8318468" cy="2246852"/>
            <a:chOff x="0" y="0"/>
            <a:chExt cx="11091291" cy="2995803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1091291" cy="2995803"/>
            </a:xfrm>
            <a:custGeom>
              <a:avLst/>
              <a:gdLst/>
              <a:ahLst/>
              <a:cxnLst/>
              <a:rect l="l" t="t" r="r" b="b"/>
              <a:pathLst>
                <a:path w="11091291" h="2995803">
                  <a:moveTo>
                    <a:pt x="0" y="0"/>
                  </a:moveTo>
                  <a:lnTo>
                    <a:pt x="11091291" y="0"/>
                  </a:lnTo>
                  <a:lnTo>
                    <a:pt x="11091291" y="2995803"/>
                  </a:lnTo>
                  <a:lnTo>
                    <a:pt x="0" y="2995803"/>
                  </a:ln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E74C3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487538" y="7677026"/>
            <a:ext cx="8274082" cy="593122"/>
            <a:chOff x="0" y="0"/>
            <a:chExt cx="11032109" cy="790829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1032109" cy="790829"/>
            </a:xfrm>
            <a:custGeom>
              <a:avLst/>
              <a:gdLst/>
              <a:ahLst/>
              <a:cxnLst/>
              <a:rect l="l" t="t" r="r" b="b"/>
              <a:pathLst>
                <a:path w="11032109" h="790829">
                  <a:moveTo>
                    <a:pt x="0" y="0"/>
                  </a:moveTo>
                  <a:lnTo>
                    <a:pt x="11032109" y="0"/>
                  </a:lnTo>
                  <a:lnTo>
                    <a:pt x="11032109" y="790829"/>
                  </a:lnTo>
                  <a:lnTo>
                    <a:pt x="0" y="790829"/>
                  </a:lnTo>
                  <a:close/>
                </a:path>
              </a:pathLst>
            </a:custGeom>
            <a:solidFill>
              <a:srgbClr val="E74C3C"/>
            </a:solidFill>
            <a:ln w="25400" cap="sq">
              <a:solidFill>
                <a:srgbClr val="E74C3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692640" y="7699248"/>
            <a:ext cx="7863840" cy="548640"/>
            <a:chOff x="0" y="0"/>
            <a:chExt cx="10485120" cy="73152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0485120" cy="731520"/>
            </a:xfrm>
            <a:custGeom>
              <a:avLst/>
              <a:gdLst/>
              <a:ahLst/>
              <a:cxnLst/>
              <a:rect l="l" t="t" r="r" b="b"/>
              <a:pathLst>
                <a:path w="10485120" h="7315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9092" b="-22909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692640" y="7670673"/>
            <a:ext cx="7863840" cy="577215"/>
            <a:chOff x="0" y="0"/>
            <a:chExt cx="10485120" cy="76962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485120" cy="769620"/>
            </a:xfrm>
            <a:custGeom>
              <a:avLst/>
              <a:gdLst/>
              <a:ahLst/>
              <a:cxnLst/>
              <a:rect l="l" t="t" r="r" b="b"/>
              <a:pathLst>
                <a:path w="10485120" h="769620">
                  <a:moveTo>
                    <a:pt x="0" y="0"/>
                  </a:moveTo>
                  <a:lnTo>
                    <a:pt x="10485120" y="0"/>
                  </a:lnTo>
                  <a:lnTo>
                    <a:pt x="104851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5459" b="-21545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1048512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Equity Quality &amp; Sector — Two Overlooked Drivers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9692640" y="8346348"/>
            <a:ext cx="7863840" cy="1371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8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Equity Quality = Other Shareholders Funds / Total Shareholders Funds. A low or negative value signals equity inflated by revaluation reserves rather than retained earnings, a structural fragility invisible to standard solvency ratios. naics_2digit is the strongest predictor (largest Lasso coefficient): different mean default rates characterize different sectors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640080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604" b="-21960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547211"/>
            <a:ext cx="16459200" cy="1281589"/>
            <a:chOff x="0" y="0"/>
            <a:chExt cx="21945600" cy="17087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708785"/>
            </a:xfrm>
            <a:custGeom>
              <a:avLst/>
              <a:gdLst/>
              <a:ahLst/>
              <a:cxnLst/>
              <a:rect l="l" t="t" r="r" b="b"/>
              <a:pathLst>
                <a:path w="21945600" h="1708785">
                  <a:moveTo>
                    <a:pt x="0" y="0"/>
                  </a:moveTo>
                  <a:lnTo>
                    <a:pt x="21945600" y="0"/>
                  </a:lnTo>
                  <a:lnTo>
                    <a:pt x="21945600" y="1708785"/>
                  </a:lnTo>
                  <a:lnTo>
                    <a:pt x="0" y="1708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0242" b="-20024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832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92178" y="1898018"/>
            <a:ext cx="3702082" cy="117634"/>
            <a:chOff x="0" y="0"/>
            <a:chExt cx="4936109" cy="1568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36109" cy="156845"/>
            </a:xfrm>
            <a:custGeom>
              <a:avLst/>
              <a:gdLst/>
              <a:ahLst/>
              <a:cxnLst/>
              <a:rect l="l" t="t" r="r" b="b"/>
              <a:pathLst>
                <a:path w="4936109" h="156845">
                  <a:moveTo>
                    <a:pt x="0" y="0"/>
                  </a:moveTo>
                  <a:lnTo>
                    <a:pt x="4936109" y="0"/>
                  </a:lnTo>
                  <a:lnTo>
                    <a:pt x="4936109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2178" y="2208914"/>
            <a:ext cx="16503682" cy="1416082"/>
            <a:chOff x="0" y="0"/>
            <a:chExt cx="22004909" cy="18881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04910" cy="1888109"/>
            </a:xfrm>
            <a:custGeom>
              <a:avLst/>
              <a:gdLst/>
              <a:ahLst/>
              <a:cxnLst/>
              <a:rect l="l" t="t" r="r" b="b"/>
              <a:pathLst>
                <a:path w="22004910" h="1888109">
                  <a:moveTo>
                    <a:pt x="0" y="0"/>
                  </a:moveTo>
                  <a:lnTo>
                    <a:pt x="22004910" y="0"/>
                  </a:lnTo>
                  <a:lnTo>
                    <a:pt x="22004910" y="1888109"/>
                  </a:lnTo>
                  <a:lnTo>
                    <a:pt x="0" y="18881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2178" y="2208914"/>
            <a:ext cx="958882" cy="1416082"/>
            <a:chOff x="0" y="0"/>
            <a:chExt cx="1278509" cy="18881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78509" cy="1888109"/>
            </a:xfrm>
            <a:custGeom>
              <a:avLst/>
              <a:gdLst/>
              <a:ahLst/>
              <a:cxnLst/>
              <a:rect l="l" t="t" r="r" b="b"/>
              <a:pathLst>
                <a:path w="1278509" h="1888109">
                  <a:moveTo>
                    <a:pt x="0" y="0"/>
                  </a:moveTo>
                  <a:lnTo>
                    <a:pt x="1278509" y="0"/>
                  </a:lnTo>
                  <a:lnTo>
                    <a:pt x="1278509" y="1888109"/>
                  </a:lnTo>
                  <a:lnTo>
                    <a:pt x="0" y="1888109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2231136"/>
            <a:ext cx="914400" cy="1371600"/>
            <a:chOff x="0" y="0"/>
            <a:chExt cx="1219200" cy="1828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19200" cy="1828800"/>
            </a:xfrm>
            <a:custGeom>
              <a:avLst/>
              <a:gdLst/>
              <a:ahLst/>
              <a:cxnLst/>
              <a:rect l="l" t="t" r="r" b="b"/>
              <a:pathLst>
                <a:path w="1219200" h="1828800">
                  <a:moveTo>
                    <a:pt x="0" y="0"/>
                  </a:moveTo>
                  <a:lnTo>
                    <a:pt x="1219200" y="0"/>
                  </a:lnTo>
                  <a:lnTo>
                    <a:pt x="121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589" r="-14258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" y="2195417"/>
            <a:ext cx="914400" cy="1407319"/>
            <a:chOff x="0" y="0"/>
            <a:chExt cx="1219200" cy="18764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19200" cy="1876425"/>
            </a:xfrm>
            <a:custGeom>
              <a:avLst/>
              <a:gdLst/>
              <a:ahLst/>
              <a:cxnLst/>
              <a:rect l="l" t="t" r="r" b="b"/>
              <a:pathLst>
                <a:path w="1219200" h="1876425">
                  <a:moveTo>
                    <a:pt x="0" y="0"/>
                  </a:moveTo>
                  <a:lnTo>
                    <a:pt x="1219200" y="0"/>
                  </a:lnTo>
                  <a:lnTo>
                    <a:pt x="1219200" y="1876425"/>
                  </a:lnTo>
                  <a:lnTo>
                    <a:pt x="0" y="18764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7467" r="-1474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219200" cy="1924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048256" y="2340864"/>
            <a:ext cx="14996160" cy="512064"/>
            <a:chOff x="0" y="0"/>
            <a:chExt cx="19994880" cy="6827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994880" cy="682752"/>
            </a:xfrm>
            <a:custGeom>
              <a:avLst/>
              <a:gdLst/>
              <a:ahLst/>
              <a:cxnLst/>
              <a:rect l="l" t="t" r="r" b="b"/>
              <a:pathLst>
                <a:path w="19994880" h="682752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0236" b="-52023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048256" y="2312289"/>
            <a:ext cx="14996160" cy="540639"/>
            <a:chOff x="0" y="0"/>
            <a:chExt cx="19994880" cy="7208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994880" cy="720852"/>
            </a:xfrm>
            <a:custGeom>
              <a:avLst/>
              <a:gdLst/>
              <a:ahLst/>
              <a:cxnLst/>
              <a:rect l="l" t="t" r="r" b="b"/>
              <a:pathLst>
                <a:path w="19994880" h="720852">
                  <a:moveTo>
                    <a:pt x="0" y="0"/>
                  </a:moveTo>
                  <a:lnTo>
                    <a:pt x="19994880" y="0"/>
                  </a:lnTo>
                  <a:lnTo>
                    <a:pt x="199948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0472" b="-49047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999488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 beats raw data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048256" y="2907792"/>
            <a:ext cx="14996160" cy="548640"/>
            <a:chOff x="0" y="0"/>
            <a:chExt cx="1999488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994880" cy="731520"/>
            </a:xfrm>
            <a:custGeom>
              <a:avLst/>
              <a:gdLst/>
              <a:ahLst/>
              <a:cxnLst/>
              <a:rect l="l" t="t" r="r" b="b"/>
              <a:pathLst>
                <a:path w="19994880" h="73152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2220" b="-48222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048256" y="2748791"/>
            <a:ext cx="14996160" cy="577215"/>
            <a:chOff x="0" y="0"/>
            <a:chExt cx="19994880" cy="7696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994880" cy="769620"/>
            </a:xfrm>
            <a:custGeom>
              <a:avLst/>
              <a:gdLst/>
              <a:ahLst/>
              <a:cxnLst/>
              <a:rect l="l" t="t" r="r" b="b"/>
              <a:pathLst>
                <a:path w="19994880" h="769620">
                  <a:moveTo>
                    <a:pt x="0" y="0"/>
                  </a:moveTo>
                  <a:lnTo>
                    <a:pt x="19994880" y="0"/>
                  </a:lnTo>
                  <a:lnTo>
                    <a:pt x="199948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6225" b="-456225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99948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40 engineered features from 90 raw variables — Altman logic gives each ratio an economic justification, not just a statistical one.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92178" y="3745106"/>
            <a:ext cx="16503682" cy="1416082"/>
            <a:chOff x="0" y="0"/>
            <a:chExt cx="22004909" cy="188810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004910" cy="1888109"/>
            </a:xfrm>
            <a:custGeom>
              <a:avLst/>
              <a:gdLst/>
              <a:ahLst/>
              <a:cxnLst/>
              <a:rect l="l" t="t" r="r" b="b"/>
              <a:pathLst>
                <a:path w="22004910" h="1888109">
                  <a:moveTo>
                    <a:pt x="0" y="0"/>
                  </a:moveTo>
                  <a:lnTo>
                    <a:pt x="22004910" y="0"/>
                  </a:lnTo>
                  <a:lnTo>
                    <a:pt x="22004910" y="1888109"/>
                  </a:lnTo>
                  <a:lnTo>
                    <a:pt x="0" y="18881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92178" y="3745106"/>
            <a:ext cx="958882" cy="1416082"/>
            <a:chOff x="0" y="0"/>
            <a:chExt cx="1278509" cy="188810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78509" cy="1888109"/>
            </a:xfrm>
            <a:custGeom>
              <a:avLst/>
              <a:gdLst/>
              <a:ahLst/>
              <a:cxnLst/>
              <a:rect l="l" t="t" r="r" b="b"/>
              <a:pathLst>
                <a:path w="1278509" h="1888109">
                  <a:moveTo>
                    <a:pt x="0" y="0"/>
                  </a:moveTo>
                  <a:lnTo>
                    <a:pt x="1278509" y="0"/>
                  </a:lnTo>
                  <a:lnTo>
                    <a:pt x="1278509" y="1888109"/>
                  </a:lnTo>
                  <a:lnTo>
                    <a:pt x="0" y="1888109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4400" y="3767328"/>
            <a:ext cx="914400" cy="1371600"/>
            <a:chOff x="0" y="0"/>
            <a:chExt cx="1219200" cy="1828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19200" cy="1828800"/>
            </a:xfrm>
            <a:custGeom>
              <a:avLst/>
              <a:gdLst/>
              <a:ahLst/>
              <a:cxnLst/>
              <a:rect l="l" t="t" r="r" b="b"/>
              <a:pathLst>
                <a:path w="1219200" h="1828800">
                  <a:moveTo>
                    <a:pt x="0" y="0"/>
                  </a:moveTo>
                  <a:lnTo>
                    <a:pt x="1219200" y="0"/>
                  </a:lnTo>
                  <a:lnTo>
                    <a:pt x="121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589" r="-14258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14400" y="3731609"/>
            <a:ext cx="914400" cy="1407319"/>
            <a:chOff x="0" y="0"/>
            <a:chExt cx="1219200" cy="187642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0" cy="1876425"/>
            </a:xfrm>
            <a:custGeom>
              <a:avLst/>
              <a:gdLst/>
              <a:ahLst/>
              <a:cxnLst/>
              <a:rect l="l" t="t" r="r" b="b"/>
              <a:pathLst>
                <a:path w="1219200" h="1876425">
                  <a:moveTo>
                    <a:pt x="0" y="0"/>
                  </a:moveTo>
                  <a:lnTo>
                    <a:pt x="1219200" y="0"/>
                  </a:lnTo>
                  <a:lnTo>
                    <a:pt x="1219200" y="1876425"/>
                  </a:lnTo>
                  <a:lnTo>
                    <a:pt x="0" y="18764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7467" r="-1474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1219200" cy="1924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048256" y="3877056"/>
            <a:ext cx="14996160" cy="512064"/>
            <a:chOff x="0" y="0"/>
            <a:chExt cx="19994880" cy="68275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994880" cy="682752"/>
            </a:xfrm>
            <a:custGeom>
              <a:avLst/>
              <a:gdLst/>
              <a:ahLst/>
              <a:cxnLst/>
              <a:rect l="l" t="t" r="r" b="b"/>
              <a:pathLst>
                <a:path w="19994880" h="682752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0236" b="-52023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048256" y="3848481"/>
            <a:ext cx="14996160" cy="540639"/>
            <a:chOff x="0" y="0"/>
            <a:chExt cx="19994880" cy="72085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994880" cy="720852"/>
            </a:xfrm>
            <a:custGeom>
              <a:avLst/>
              <a:gdLst/>
              <a:ahLst/>
              <a:cxnLst/>
              <a:rect l="l" t="t" r="r" b="b"/>
              <a:pathLst>
                <a:path w="19994880" h="720852">
                  <a:moveTo>
                    <a:pt x="0" y="0"/>
                  </a:moveTo>
                  <a:lnTo>
                    <a:pt x="19994880" y="0"/>
                  </a:lnTo>
                  <a:lnTo>
                    <a:pt x="199948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0472" b="-49047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999488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Lasso provides principled parsimony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048256" y="4443984"/>
            <a:ext cx="14996160" cy="548640"/>
            <a:chOff x="0" y="0"/>
            <a:chExt cx="1999488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9994880" cy="731520"/>
            </a:xfrm>
            <a:custGeom>
              <a:avLst/>
              <a:gdLst/>
              <a:ahLst/>
              <a:cxnLst/>
              <a:rect l="l" t="t" r="r" b="b"/>
              <a:pathLst>
                <a:path w="19994880" h="73152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2220" b="-48222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048256" y="4313558"/>
            <a:ext cx="14996160" cy="577215"/>
            <a:chOff x="0" y="0"/>
            <a:chExt cx="19994880" cy="7696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994880" cy="769620"/>
            </a:xfrm>
            <a:custGeom>
              <a:avLst/>
              <a:gdLst/>
              <a:ahLst/>
              <a:cxnLst/>
              <a:rect l="l" t="t" r="r" b="b"/>
              <a:pathLst>
                <a:path w="19994880" h="769620">
                  <a:moveTo>
                    <a:pt x="0" y="0"/>
                  </a:moveTo>
                  <a:lnTo>
                    <a:pt x="19994880" y="0"/>
                  </a:lnTo>
                  <a:lnTo>
                    <a:pt x="199948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6225" b="-456225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99948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30 features, Lasso retained 13 — automatic selection confirmed by ablation: adding 4 extra ratios degraded F1 by 3.5pp with zero recall gain.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92178" y="5281298"/>
            <a:ext cx="16503682" cy="1416082"/>
            <a:chOff x="0" y="0"/>
            <a:chExt cx="22004909" cy="188810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2004910" cy="1888109"/>
            </a:xfrm>
            <a:custGeom>
              <a:avLst/>
              <a:gdLst/>
              <a:ahLst/>
              <a:cxnLst/>
              <a:rect l="l" t="t" r="r" b="b"/>
              <a:pathLst>
                <a:path w="22004910" h="1888109">
                  <a:moveTo>
                    <a:pt x="0" y="0"/>
                  </a:moveTo>
                  <a:lnTo>
                    <a:pt x="22004910" y="0"/>
                  </a:lnTo>
                  <a:lnTo>
                    <a:pt x="22004910" y="1888109"/>
                  </a:lnTo>
                  <a:lnTo>
                    <a:pt x="0" y="18881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92178" y="5281298"/>
            <a:ext cx="958882" cy="1416082"/>
            <a:chOff x="0" y="0"/>
            <a:chExt cx="1278509" cy="188810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78509" cy="1888109"/>
            </a:xfrm>
            <a:custGeom>
              <a:avLst/>
              <a:gdLst/>
              <a:ahLst/>
              <a:cxnLst/>
              <a:rect l="l" t="t" r="r" b="b"/>
              <a:pathLst>
                <a:path w="1278509" h="1888109">
                  <a:moveTo>
                    <a:pt x="0" y="0"/>
                  </a:moveTo>
                  <a:lnTo>
                    <a:pt x="1278509" y="0"/>
                  </a:lnTo>
                  <a:lnTo>
                    <a:pt x="1278509" y="1888109"/>
                  </a:lnTo>
                  <a:lnTo>
                    <a:pt x="0" y="1888109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14400" y="5303520"/>
            <a:ext cx="914400" cy="1371600"/>
            <a:chOff x="0" y="0"/>
            <a:chExt cx="1219200" cy="1828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219200" cy="1828800"/>
            </a:xfrm>
            <a:custGeom>
              <a:avLst/>
              <a:gdLst/>
              <a:ahLst/>
              <a:cxnLst/>
              <a:rect l="l" t="t" r="r" b="b"/>
              <a:pathLst>
                <a:path w="1219200" h="1828800">
                  <a:moveTo>
                    <a:pt x="0" y="0"/>
                  </a:moveTo>
                  <a:lnTo>
                    <a:pt x="1219200" y="0"/>
                  </a:lnTo>
                  <a:lnTo>
                    <a:pt x="121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589" r="-14258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14400" y="5267801"/>
            <a:ext cx="914400" cy="1407319"/>
            <a:chOff x="0" y="0"/>
            <a:chExt cx="1219200" cy="187642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19200" cy="1876425"/>
            </a:xfrm>
            <a:custGeom>
              <a:avLst/>
              <a:gdLst/>
              <a:ahLst/>
              <a:cxnLst/>
              <a:rect l="l" t="t" r="r" b="b"/>
              <a:pathLst>
                <a:path w="1219200" h="1876425">
                  <a:moveTo>
                    <a:pt x="0" y="0"/>
                  </a:moveTo>
                  <a:lnTo>
                    <a:pt x="1219200" y="0"/>
                  </a:lnTo>
                  <a:lnTo>
                    <a:pt x="1219200" y="1876425"/>
                  </a:lnTo>
                  <a:lnTo>
                    <a:pt x="0" y="18764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7467" r="-1474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1219200" cy="1924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048256" y="5413248"/>
            <a:ext cx="14996160" cy="512064"/>
            <a:chOff x="0" y="0"/>
            <a:chExt cx="19994880" cy="68275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9994880" cy="682752"/>
            </a:xfrm>
            <a:custGeom>
              <a:avLst/>
              <a:gdLst/>
              <a:ahLst/>
              <a:cxnLst/>
              <a:rect l="l" t="t" r="r" b="b"/>
              <a:pathLst>
                <a:path w="19994880" h="682752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0236" b="-52023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048256" y="5384673"/>
            <a:ext cx="14996160" cy="540639"/>
            <a:chOff x="0" y="0"/>
            <a:chExt cx="19994880" cy="72085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9994880" cy="720852"/>
            </a:xfrm>
            <a:custGeom>
              <a:avLst/>
              <a:gdLst/>
              <a:ahLst/>
              <a:cxnLst/>
              <a:rect l="l" t="t" r="r" b="b"/>
              <a:pathLst>
                <a:path w="19994880" h="720852">
                  <a:moveTo>
                    <a:pt x="0" y="0"/>
                  </a:moveTo>
                  <a:lnTo>
                    <a:pt x="19994880" y="0"/>
                  </a:lnTo>
                  <a:lnTo>
                    <a:pt x="199948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0472" b="-49047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1999488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weighting reflects real credit economics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2048256" y="5980176"/>
            <a:ext cx="14996160" cy="548640"/>
            <a:chOff x="0" y="0"/>
            <a:chExt cx="19994880" cy="7315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9994880" cy="731520"/>
            </a:xfrm>
            <a:custGeom>
              <a:avLst/>
              <a:gdLst/>
              <a:ahLst/>
              <a:cxnLst/>
              <a:rect l="l" t="t" r="r" b="b"/>
              <a:pathLst>
                <a:path w="19994880" h="73152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2220" b="-48222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048256" y="5821175"/>
            <a:ext cx="14996160" cy="577215"/>
            <a:chOff x="0" y="0"/>
            <a:chExt cx="19994880" cy="7696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9994880" cy="769620"/>
            </a:xfrm>
            <a:custGeom>
              <a:avLst/>
              <a:gdLst/>
              <a:ahLst/>
              <a:cxnLst/>
              <a:rect l="l" t="t" r="r" b="b"/>
              <a:pathLst>
                <a:path w="19994880" h="769620">
                  <a:moveTo>
                    <a:pt x="0" y="0"/>
                  </a:moveTo>
                  <a:lnTo>
                    <a:pt x="19994880" y="0"/>
                  </a:lnTo>
                  <a:lnTo>
                    <a:pt x="199948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6225" b="-456225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199948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a bankruptcy is more costly than a false alarm. Weight {0:1, 1:2} encodes this asymmetry — confirmed as optimal by GridSearch across 5 configurations.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92178" y="6817490"/>
            <a:ext cx="16503682" cy="1416082"/>
            <a:chOff x="0" y="0"/>
            <a:chExt cx="22004909" cy="188810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004910" cy="1888109"/>
            </a:xfrm>
            <a:custGeom>
              <a:avLst/>
              <a:gdLst/>
              <a:ahLst/>
              <a:cxnLst/>
              <a:rect l="l" t="t" r="r" b="b"/>
              <a:pathLst>
                <a:path w="22004910" h="1888109">
                  <a:moveTo>
                    <a:pt x="0" y="0"/>
                  </a:moveTo>
                  <a:lnTo>
                    <a:pt x="22004910" y="0"/>
                  </a:lnTo>
                  <a:lnTo>
                    <a:pt x="22004910" y="1888109"/>
                  </a:lnTo>
                  <a:lnTo>
                    <a:pt x="0" y="18881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92178" y="6817490"/>
            <a:ext cx="958882" cy="1416082"/>
            <a:chOff x="0" y="0"/>
            <a:chExt cx="1278509" cy="1888109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278509" cy="1888109"/>
            </a:xfrm>
            <a:custGeom>
              <a:avLst/>
              <a:gdLst/>
              <a:ahLst/>
              <a:cxnLst/>
              <a:rect l="l" t="t" r="r" b="b"/>
              <a:pathLst>
                <a:path w="1278509" h="1888109">
                  <a:moveTo>
                    <a:pt x="0" y="0"/>
                  </a:moveTo>
                  <a:lnTo>
                    <a:pt x="1278509" y="0"/>
                  </a:lnTo>
                  <a:lnTo>
                    <a:pt x="1278509" y="1888109"/>
                  </a:lnTo>
                  <a:lnTo>
                    <a:pt x="0" y="1888109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14400" y="6839712"/>
            <a:ext cx="914400" cy="1371600"/>
            <a:chOff x="0" y="0"/>
            <a:chExt cx="1219200" cy="18288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219200" cy="1828800"/>
            </a:xfrm>
            <a:custGeom>
              <a:avLst/>
              <a:gdLst/>
              <a:ahLst/>
              <a:cxnLst/>
              <a:rect l="l" t="t" r="r" b="b"/>
              <a:pathLst>
                <a:path w="1219200" h="1828800">
                  <a:moveTo>
                    <a:pt x="0" y="0"/>
                  </a:moveTo>
                  <a:lnTo>
                    <a:pt x="1219200" y="0"/>
                  </a:lnTo>
                  <a:lnTo>
                    <a:pt x="121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589" r="-14258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14400" y="6803993"/>
            <a:ext cx="914400" cy="1407319"/>
            <a:chOff x="0" y="0"/>
            <a:chExt cx="1219200" cy="187642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19200" cy="1876425"/>
            </a:xfrm>
            <a:custGeom>
              <a:avLst/>
              <a:gdLst/>
              <a:ahLst/>
              <a:cxnLst/>
              <a:rect l="l" t="t" r="r" b="b"/>
              <a:pathLst>
                <a:path w="1219200" h="1876425">
                  <a:moveTo>
                    <a:pt x="0" y="0"/>
                  </a:moveTo>
                  <a:lnTo>
                    <a:pt x="1219200" y="0"/>
                  </a:lnTo>
                  <a:lnTo>
                    <a:pt x="1219200" y="1876425"/>
                  </a:lnTo>
                  <a:lnTo>
                    <a:pt x="0" y="18764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7467" r="-1474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47625"/>
              <a:ext cx="1219200" cy="1924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2048256" y="6949440"/>
            <a:ext cx="14996160" cy="512064"/>
            <a:chOff x="0" y="0"/>
            <a:chExt cx="19994880" cy="68275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9994880" cy="682752"/>
            </a:xfrm>
            <a:custGeom>
              <a:avLst/>
              <a:gdLst/>
              <a:ahLst/>
              <a:cxnLst/>
              <a:rect l="l" t="t" r="r" b="b"/>
              <a:pathLst>
                <a:path w="19994880" h="682752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0236" b="-52023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2048256" y="6920865"/>
            <a:ext cx="14996160" cy="540639"/>
            <a:chOff x="0" y="0"/>
            <a:chExt cx="19994880" cy="72085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9994880" cy="720852"/>
            </a:xfrm>
            <a:custGeom>
              <a:avLst/>
              <a:gdLst/>
              <a:ahLst/>
              <a:cxnLst/>
              <a:rect l="l" t="t" r="r" b="b"/>
              <a:pathLst>
                <a:path w="19994880" h="720852">
                  <a:moveTo>
                    <a:pt x="0" y="0"/>
                  </a:moveTo>
                  <a:lnTo>
                    <a:pt x="19994880" y="0"/>
                  </a:lnTo>
                  <a:lnTo>
                    <a:pt x="199948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0472" b="-49047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1999488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AUC 0.786 — genuine discriminatory power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2048256" y="7516368"/>
            <a:ext cx="14996160" cy="548640"/>
            <a:chOff x="0" y="0"/>
            <a:chExt cx="19994880" cy="73152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9994880" cy="731520"/>
            </a:xfrm>
            <a:custGeom>
              <a:avLst/>
              <a:gdLst/>
              <a:ahLst/>
              <a:cxnLst/>
              <a:rect l="l" t="t" r="r" b="b"/>
              <a:pathLst>
                <a:path w="19994880" h="73152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2220" b="-48222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2048256" y="7236924"/>
            <a:ext cx="14996160" cy="577215"/>
            <a:chOff x="0" y="0"/>
            <a:chExt cx="19994880" cy="76962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9994880" cy="769620"/>
            </a:xfrm>
            <a:custGeom>
              <a:avLst/>
              <a:gdLst/>
              <a:ahLst/>
              <a:cxnLst/>
              <a:rect l="l" t="t" r="r" b="b"/>
              <a:pathLst>
                <a:path w="19994880" h="769620">
                  <a:moveTo>
                    <a:pt x="0" y="0"/>
                  </a:moveTo>
                  <a:lnTo>
                    <a:pt x="19994880" y="0"/>
                  </a:lnTo>
                  <a:lnTo>
                    <a:pt x="199948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6225" b="-456225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199948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ranks a bankrupt firm above a healthy one 78.6% of the time vs. 50% random. Precision 75%: 3 in 4 alarms are real.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92178" y="8353682"/>
            <a:ext cx="16503682" cy="1416082"/>
            <a:chOff x="0" y="0"/>
            <a:chExt cx="22004909" cy="1888109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2004910" cy="1888109"/>
            </a:xfrm>
            <a:custGeom>
              <a:avLst/>
              <a:gdLst/>
              <a:ahLst/>
              <a:cxnLst/>
              <a:rect l="l" t="t" r="r" b="b"/>
              <a:pathLst>
                <a:path w="22004910" h="1888109">
                  <a:moveTo>
                    <a:pt x="0" y="0"/>
                  </a:moveTo>
                  <a:lnTo>
                    <a:pt x="22004910" y="0"/>
                  </a:lnTo>
                  <a:lnTo>
                    <a:pt x="22004910" y="1888109"/>
                  </a:lnTo>
                  <a:lnTo>
                    <a:pt x="0" y="18881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92178" y="8353682"/>
            <a:ext cx="958882" cy="1416082"/>
            <a:chOff x="0" y="0"/>
            <a:chExt cx="1278509" cy="1888109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278509" cy="1888109"/>
            </a:xfrm>
            <a:custGeom>
              <a:avLst/>
              <a:gdLst/>
              <a:ahLst/>
              <a:cxnLst/>
              <a:rect l="l" t="t" r="r" b="b"/>
              <a:pathLst>
                <a:path w="1278509" h="1888109">
                  <a:moveTo>
                    <a:pt x="0" y="0"/>
                  </a:moveTo>
                  <a:lnTo>
                    <a:pt x="1278509" y="0"/>
                  </a:lnTo>
                  <a:lnTo>
                    <a:pt x="1278509" y="1888109"/>
                  </a:lnTo>
                  <a:lnTo>
                    <a:pt x="0" y="1888109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14400" y="8375904"/>
            <a:ext cx="914400" cy="1371600"/>
            <a:chOff x="0" y="0"/>
            <a:chExt cx="1219200" cy="18288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219200" cy="1828800"/>
            </a:xfrm>
            <a:custGeom>
              <a:avLst/>
              <a:gdLst/>
              <a:ahLst/>
              <a:cxnLst/>
              <a:rect l="l" t="t" r="r" b="b"/>
              <a:pathLst>
                <a:path w="1219200" h="1828800">
                  <a:moveTo>
                    <a:pt x="0" y="0"/>
                  </a:moveTo>
                  <a:lnTo>
                    <a:pt x="1219200" y="0"/>
                  </a:lnTo>
                  <a:lnTo>
                    <a:pt x="121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589" r="-14258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14400" y="8340185"/>
            <a:ext cx="914400" cy="1407319"/>
            <a:chOff x="0" y="0"/>
            <a:chExt cx="1219200" cy="1876425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219200" cy="1876425"/>
            </a:xfrm>
            <a:custGeom>
              <a:avLst/>
              <a:gdLst/>
              <a:ahLst/>
              <a:cxnLst/>
              <a:rect l="l" t="t" r="r" b="b"/>
              <a:pathLst>
                <a:path w="1219200" h="1876425">
                  <a:moveTo>
                    <a:pt x="0" y="0"/>
                  </a:moveTo>
                  <a:lnTo>
                    <a:pt x="1219200" y="0"/>
                  </a:lnTo>
                  <a:lnTo>
                    <a:pt x="1219200" y="1876425"/>
                  </a:lnTo>
                  <a:lnTo>
                    <a:pt x="0" y="18764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7467" r="-147467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47625"/>
              <a:ext cx="1219200" cy="1924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2048256" y="8485632"/>
            <a:ext cx="14996160" cy="512064"/>
            <a:chOff x="0" y="0"/>
            <a:chExt cx="19994880" cy="68275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9994880" cy="682752"/>
            </a:xfrm>
            <a:custGeom>
              <a:avLst/>
              <a:gdLst/>
              <a:ahLst/>
              <a:cxnLst/>
              <a:rect l="l" t="t" r="r" b="b"/>
              <a:pathLst>
                <a:path w="19994880" h="682752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0236" b="-520236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2048256" y="8457057"/>
            <a:ext cx="14996160" cy="540639"/>
            <a:chOff x="0" y="0"/>
            <a:chExt cx="19994880" cy="720852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9994880" cy="720852"/>
            </a:xfrm>
            <a:custGeom>
              <a:avLst/>
              <a:gdLst/>
              <a:ahLst/>
              <a:cxnLst/>
              <a:rect l="l" t="t" r="r" b="b"/>
              <a:pathLst>
                <a:path w="19994880" h="720852">
                  <a:moveTo>
                    <a:pt x="0" y="0"/>
                  </a:moveTo>
                  <a:lnTo>
                    <a:pt x="19994880" y="0"/>
                  </a:lnTo>
                  <a:lnTo>
                    <a:pt x="199948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0472" b="-490472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1999488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— honest assessment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2048256" y="9052560"/>
            <a:ext cx="14996160" cy="548640"/>
            <a:chOff x="0" y="0"/>
            <a:chExt cx="19994880" cy="73152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9994880" cy="731520"/>
            </a:xfrm>
            <a:custGeom>
              <a:avLst/>
              <a:gdLst/>
              <a:ahLst/>
              <a:cxnLst/>
              <a:rect l="l" t="t" r="r" b="b"/>
              <a:pathLst>
                <a:path w="19994880" h="73152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2220" b="-482220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2048256" y="8882461"/>
            <a:ext cx="14996160" cy="888839"/>
            <a:chOff x="0" y="0"/>
            <a:chExt cx="19994880" cy="1185118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9994880" cy="1185118"/>
            </a:xfrm>
            <a:custGeom>
              <a:avLst/>
              <a:gdLst/>
              <a:ahLst/>
              <a:cxnLst/>
              <a:rect l="l" t="t" r="r" b="b"/>
              <a:pathLst>
                <a:path w="19994880" h="1185118">
                  <a:moveTo>
                    <a:pt x="0" y="0"/>
                  </a:moveTo>
                  <a:lnTo>
                    <a:pt x="19994880" y="0"/>
                  </a:lnTo>
                  <a:lnTo>
                    <a:pt x="19994880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6274" b="-261214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19994880" cy="1223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Recall 43%: over half of failures still missed — likely firms with sudden late-stage deterioration or less extreme financials. Improvement would require non-financial signals (payment history, sector distress indices) outside this dataset’s scope. Sample covers 2016–2018 Italian/Lithuanian SMEs; more companies and more year of data are needed to improve.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178" y="380114"/>
            <a:ext cx="3336322" cy="629698"/>
            <a:chOff x="0" y="0"/>
            <a:chExt cx="4448429" cy="839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429" cy="839597"/>
            </a:xfrm>
            <a:custGeom>
              <a:avLst/>
              <a:gdLst/>
              <a:ahLst/>
              <a:cxnLst/>
              <a:rect l="l" t="t" r="r" b="b"/>
              <a:pathLst>
                <a:path w="4448429" h="839597">
                  <a:moveTo>
                    <a:pt x="0" y="0"/>
                  </a:moveTo>
                  <a:lnTo>
                    <a:pt x="4448429" y="0"/>
                  </a:lnTo>
                  <a:lnTo>
                    <a:pt x="4448429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CADCFC"/>
            </a:solidFill>
            <a:ln w="25400" cap="sq">
              <a:solidFill>
                <a:srgbClr val="CADCFC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402336"/>
            <a:ext cx="3291840" cy="585216"/>
            <a:chOff x="0" y="0"/>
            <a:chExt cx="438912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780288"/>
            </a:xfrm>
            <a:custGeom>
              <a:avLst/>
              <a:gdLst/>
              <a:ahLst/>
              <a:cxnLst/>
              <a:rect l="l" t="t" r="r" b="b"/>
              <a:pathLst>
                <a:path w="4389120" h="780288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26" b="-5952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80905"/>
            <a:ext cx="3291840" cy="606647"/>
            <a:chOff x="0" y="0"/>
            <a:chExt cx="4389120" cy="8088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808863"/>
            </a:xfrm>
            <a:custGeom>
              <a:avLst/>
              <a:gdLst/>
              <a:ahLst/>
              <a:cxnLst/>
              <a:rect l="l" t="t" r="r" b="b"/>
              <a:pathLst>
                <a:path w="4389120" h="808863">
                  <a:moveTo>
                    <a:pt x="0" y="0"/>
                  </a:moveTo>
                  <a:lnTo>
                    <a:pt x="4389120" y="0"/>
                  </a:lnTo>
                  <a:lnTo>
                    <a:pt x="4389120" y="808863"/>
                  </a:lnTo>
                  <a:lnTo>
                    <a:pt x="0" y="8088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731" b="-55731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3891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spc="40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133856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347" b="-20034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048131"/>
            <a:ext cx="16459200" cy="1365885"/>
            <a:chOff x="0" y="0"/>
            <a:chExt cx="21945600" cy="18211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821180"/>
            </a:xfrm>
            <a:custGeom>
              <a:avLst/>
              <a:gdLst/>
              <a:ahLst/>
              <a:cxnLst/>
              <a:rect l="l" t="t" r="r" b="b"/>
              <a:pathLst>
                <a:path w="21945600" h="1821180">
                  <a:moveTo>
                    <a:pt x="0" y="0"/>
                  </a:moveTo>
                  <a:lnTo>
                    <a:pt x="21945600" y="0"/>
                  </a:lnTo>
                  <a:lnTo>
                    <a:pt x="21945600" y="1821180"/>
                  </a:lnTo>
                  <a:lnTo>
                    <a:pt x="0" y="1821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798" b="-18479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1945600" cy="1954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2178" y="2995298"/>
            <a:ext cx="16503682" cy="1251490"/>
            <a:chOff x="0" y="0"/>
            <a:chExt cx="22004909" cy="16686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004910" cy="1668653"/>
            </a:xfrm>
            <a:custGeom>
              <a:avLst/>
              <a:gdLst/>
              <a:ahLst/>
              <a:cxnLst/>
              <a:rect l="l" t="t" r="r" b="b"/>
              <a:pathLst>
                <a:path w="22004910" h="1668653">
                  <a:moveTo>
                    <a:pt x="0" y="0"/>
                  </a:moveTo>
                  <a:lnTo>
                    <a:pt x="22004910" y="0"/>
                  </a:lnTo>
                  <a:lnTo>
                    <a:pt x="22004910" y="1668653"/>
                  </a:lnTo>
                  <a:lnTo>
                    <a:pt x="0" y="166865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2178" y="2995298"/>
            <a:ext cx="739426" cy="1251490"/>
            <a:chOff x="0" y="0"/>
            <a:chExt cx="985901" cy="16686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85901" cy="1668653"/>
            </a:xfrm>
            <a:custGeom>
              <a:avLst/>
              <a:gdLst/>
              <a:ahLst/>
              <a:cxnLst/>
              <a:rect l="l" t="t" r="r" b="b"/>
              <a:pathLst>
                <a:path w="985901" h="1668653">
                  <a:moveTo>
                    <a:pt x="0" y="0"/>
                  </a:moveTo>
                  <a:lnTo>
                    <a:pt x="985901" y="0"/>
                  </a:lnTo>
                  <a:lnTo>
                    <a:pt x="985901" y="1668653"/>
                  </a:lnTo>
                  <a:lnTo>
                    <a:pt x="0" y="1668653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3017520"/>
            <a:ext cx="694944" cy="1207008"/>
            <a:chOff x="0" y="0"/>
            <a:chExt cx="926592" cy="16093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6592" cy="1609344"/>
            </a:xfrm>
            <a:custGeom>
              <a:avLst/>
              <a:gdLst/>
              <a:ahLst/>
              <a:cxnLst/>
              <a:rect l="l" t="t" r="r" b="b"/>
              <a:pathLst>
                <a:path w="926592" h="1609344">
                  <a:moveTo>
                    <a:pt x="0" y="0"/>
                  </a:moveTo>
                  <a:lnTo>
                    <a:pt x="926592" y="0"/>
                  </a:lnTo>
                  <a:lnTo>
                    <a:pt x="926592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997" r="-17299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2988945"/>
            <a:ext cx="694944" cy="1235583"/>
            <a:chOff x="0" y="0"/>
            <a:chExt cx="926592" cy="16474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6592" cy="1647444"/>
            </a:xfrm>
            <a:custGeom>
              <a:avLst/>
              <a:gdLst/>
              <a:ahLst/>
              <a:cxnLst/>
              <a:rect l="l" t="t" r="r" b="b"/>
              <a:pathLst>
                <a:path w="926592" h="1647444">
                  <a:moveTo>
                    <a:pt x="0" y="0"/>
                  </a:moveTo>
                  <a:lnTo>
                    <a:pt x="926592" y="0"/>
                  </a:lnTo>
                  <a:lnTo>
                    <a:pt x="926592" y="1647444"/>
                  </a:lnTo>
                  <a:lnTo>
                    <a:pt x="0" y="16474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8118" r="-17811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26592" cy="16855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828800" y="3090672"/>
            <a:ext cx="15270480" cy="512064"/>
            <a:chOff x="0" y="0"/>
            <a:chExt cx="20360640" cy="6827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360639" cy="682752"/>
            </a:xfrm>
            <a:custGeom>
              <a:avLst/>
              <a:gdLst/>
              <a:ahLst/>
              <a:cxnLst/>
              <a:rect l="l" t="t" r="r" b="b"/>
              <a:pathLst>
                <a:path w="20360639" h="682752">
                  <a:moveTo>
                    <a:pt x="0" y="0"/>
                  </a:moveTo>
                  <a:lnTo>
                    <a:pt x="20360639" y="0"/>
                  </a:lnTo>
                  <a:lnTo>
                    <a:pt x="203606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0667" b="-5306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828800" y="3062097"/>
            <a:ext cx="15270480" cy="540639"/>
            <a:chOff x="0" y="0"/>
            <a:chExt cx="20360640" cy="72085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360639" cy="720852"/>
            </a:xfrm>
            <a:custGeom>
              <a:avLst/>
              <a:gdLst/>
              <a:ahLst/>
              <a:cxnLst/>
              <a:rect l="l" t="t" r="r" b="b"/>
              <a:pathLst>
                <a:path w="20360639" h="720852">
                  <a:moveTo>
                    <a:pt x="0" y="0"/>
                  </a:moveTo>
                  <a:lnTo>
                    <a:pt x="20360639" y="0"/>
                  </a:lnTo>
                  <a:lnTo>
                    <a:pt x="20360639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0359" b="-50035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036064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Altman, E. I. (1968). Financial Ratios, Discriminant Analysis and the Prediction of Corporate Bankruptcy.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828800" y="3639312"/>
            <a:ext cx="15270480" cy="475488"/>
            <a:chOff x="0" y="0"/>
            <a:chExt cx="20360640" cy="63398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360639" cy="633984"/>
            </a:xfrm>
            <a:custGeom>
              <a:avLst/>
              <a:gdLst/>
              <a:ahLst/>
              <a:cxnLst/>
              <a:rect l="l" t="t" r="r" b="b"/>
              <a:pathLst>
                <a:path w="20360639" h="633984">
                  <a:moveTo>
                    <a:pt x="0" y="0"/>
                  </a:moveTo>
                  <a:lnTo>
                    <a:pt x="20360639" y="0"/>
                  </a:lnTo>
                  <a:lnTo>
                    <a:pt x="203606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5334" b="-57533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828800" y="3610737"/>
            <a:ext cx="15270480" cy="504063"/>
            <a:chOff x="0" y="0"/>
            <a:chExt cx="20360640" cy="67208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360639" cy="672084"/>
            </a:xfrm>
            <a:custGeom>
              <a:avLst/>
              <a:gdLst/>
              <a:ahLst/>
              <a:cxnLst/>
              <a:rect l="l" t="t" r="r" b="b"/>
              <a:pathLst>
                <a:path w="20360639" h="672084">
                  <a:moveTo>
                    <a:pt x="0" y="0"/>
                  </a:moveTo>
                  <a:lnTo>
                    <a:pt x="20360639" y="0"/>
                  </a:lnTo>
                  <a:lnTo>
                    <a:pt x="20360639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0295" b="-540295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036064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i="1" dirty="0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Journal of Finance, 23(4), 589–609.  |  Original Z-score model — foundation for all ratio-based distress prediction.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92178" y="4385186"/>
            <a:ext cx="16503682" cy="1251490"/>
            <a:chOff x="0" y="0"/>
            <a:chExt cx="22004909" cy="166865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004910" cy="1668653"/>
            </a:xfrm>
            <a:custGeom>
              <a:avLst/>
              <a:gdLst/>
              <a:ahLst/>
              <a:cxnLst/>
              <a:rect l="l" t="t" r="r" b="b"/>
              <a:pathLst>
                <a:path w="22004910" h="1668653">
                  <a:moveTo>
                    <a:pt x="0" y="0"/>
                  </a:moveTo>
                  <a:lnTo>
                    <a:pt x="22004910" y="0"/>
                  </a:lnTo>
                  <a:lnTo>
                    <a:pt x="22004910" y="1668653"/>
                  </a:lnTo>
                  <a:lnTo>
                    <a:pt x="0" y="166865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92178" y="4385186"/>
            <a:ext cx="739426" cy="1251490"/>
            <a:chOff x="0" y="0"/>
            <a:chExt cx="985901" cy="166865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85901" cy="1668653"/>
            </a:xfrm>
            <a:custGeom>
              <a:avLst/>
              <a:gdLst/>
              <a:ahLst/>
              <a:cxnLst/>
              <a:rect l="l" t="t" r="r" b="b"/>
              <a:pathLst>
                <a:path w="985901" h="1668653">
                  <a:moveTo>
                    <a:pt x="0" y="0"/>
                  </a:moveTo>
                  <a:lnTo>
                    <a:pt x="985901" y="0"/>
                  </a:lnTo>
                  <a:lnTo>
                    <a:pt x="985901" y="1668653"/>
                  </a:lnTo>
                  <a:lnTo>
                    <a:pt x="0" y="1668653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" y="4407408"/>
            <a:ext cx="694944" cy="1207008"/>
            <a:chOff x="0" y="0"/>
            <a:chExt cx="926592" cy="160934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26592" cy="1609344"/>
            </a:xfrm>
            <a:custGeom>
              <a:avLst/>
              <a:gdLst/>
              <a:ahLst/>
              <a:cxnLst/>
              <a:rect l="l" t="t" r="r" b="b"/>
              <a:pathLst>
                <a:path w="926592" h="1609344">
                  <a:moveTo>
                    <a:pt x="0" y="0"/>
                  </a:moveTo>
                  <a:lnTo>
                    <a:pt x="926592" y="0"/>
                  </a:lnTo>
                  <a:lnTo>
                    <a:pt x="926592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997" r="-17299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14400" y="4378833"/>
            <a:ext cx="694944" cy="1235583"/>
            <a:chOff x="0" y="0"/>
            <a:chExt cx="926592" cy="164744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26592" cy="1647444"/>
            </a:xfrm>
            <a:custGeom>
              <a:avLst/>
              <a:gdLst/>
              <a:ahLst/>
              <a:cxnLst/>
              <a:rect l="l" t="t" r="r" b="b"/>
              <a:pathLst>
                <a:path w="926592" h="1647444">
                  <a:moveTo>
                    <a:pt x="0" y="0"/>
                  </a:moveTo>
                  <a:lnTo>
                    <a:pt x="926592" y="0"/>
                  </a:lnTo>
                  <a:lnTo>
                    <a:pt x="926592" y="1647444"/>
                  </a:lnTo>
                  <a:lnTo>
                    <a:pt x="0" y="16474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8118" r="-17811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926592" cy="16855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828800" y="4480560"/>
            <a:ext cx="15270480" cy="512064"/>
            <a:chOff x="0" y="0"/>
            <a:chExt cx="20360640" cy="68275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0360639" cy="682752"/>
            </a:xfrm>
            <a:custGeom>
              <a:avLst/>
              <a:gdLst/>
              <a:ahLst/>
              <a:cxnLst/>
              <a:rect l="l" t="t" r="r" b="b"/>
              <a:pathLst>
                <a:path w="20360639" h="682752">
                  <a:moveTo>
                    <a:pt x="0" y="0"/>
                  </a:moveTo>
                  <a:lnTo>
                    <a:pt x="20360639" y="0"/>
                  </a:lnTo>
                  <a:lnTo>
                    <a:pt x="203606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0667" b="-5306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828800" y="4451985"/>
            <a:ext cx="15270480" cy="540639"/>
            <a:chOff x="0" y="0"/>
            <a:chExt cx="20360640" cy="72085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0360639" cy="720852"/>
            </a:xfrm>
            <a:custGeom>
              <a:avLst/>
              <a:gdLst/>
              <a:ahLst/>
              <a:cxnLst/>
              <a:rect l="l" t="t" r="r" b="b"/>
              <a:pathLst>
                <a:path w="20360639" h="720852">
                  <a:moveTo>
                    <a:pt x="0" y="0"/>
                  </a:moveTo>
                  <a:lnTo>
                    <a:pt x="20360639" y="0"/>
                  </a:lnTo>
                  <a:lnTo>
                    <a:pt x="20360639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0359" b="-50035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2036064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Altman, E. I. (1993, 2000). Corporate Financial Distress and Bankruptcy (2nd &amp; 3rd ed.).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828800" y="5029200"/>
            <a:ext cx="15270480" cy="475488"/>
            <a:chOff x="0" y="0"/>
            <a:chExt cx="20360640" cy="63398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0360639" cy="633984"/>
            </a:xfrm>
            <a:custGeom>
              <a:avLst/>
              <a:gdLst/>
              <a:ahLst/>
              <a:cxnLst/>
              <a:rect l="l" t="t" r="r" b="b"/>
              <a:pathLst>
                <a:path w="20360639" h="633984">
                  <a:moveTo>
                    <a:pt x="0" y="0"/>
                  </a:moveTo>
                  <a:lnTo>
                    <a:pt x="20360639" y="0"/>
                  </a:lnTo>
                  <a:lnTo>
                    <a:pt x="203606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5334" b="-57533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828800" y="5000625"/>
            <a:ext cx="15270480" cy="504063"/>
            <a:chOff x="0" y="0"/>
            <a:chExt cx="20360640" cy="6720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0360639" cy="672084"/>
            </a:xfrm>
            <a:custGeom>
              <a:avLst/>
              <a:gdLst/>
              <a:ahLst/>
              <a:cxnLst/>
              <a:rect l="l" t="t" r="r" b="b"/>
              <a:pathLst>
                <a:path w="20360639" h="672084">
                  <a:moveTo>
                    <a:pt x="0" y="0"/>
                  </a:moveTo>
                  <a:lnTo>
                    <a:pt x="20360639" y="0"/>
                  </a:lnTo>
                  <a:lnTo>
                    <a:pt x="20360639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0295" b="-540295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2036064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i="1" dirty="0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Wiley Finance.  |  Z' and Z'' adaptations for private firms and non-manufacturing sectors — basis for our variable selection.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92178" y="5775074"/>
            <a:ext cx="16503682" cy="1251490"/>
            <a:chOff x="0" y="0"/>
            <a:chExt cx="22004909" cy="166865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2004910" cy="1668653"/>
            </a:xfrm>
            <a:custGeom>
              <a:avLst/>
              <a:gdLst/>
              <a:ahLst/>
              <a:cxnLst/>
              <a:rect l="l" t="t" r="r" b="b"/>
              <a:pathLst>
                <a:path w="22004910" h="1668653">
                  <a:moveTo>
                    <a:pt x="0" y="0"/>
                  </a:moveTo>
                  <a:lnTo>
                    <a:pt x="22004910" y="0"/>
                  </a:lnTo>
                  <a:lnTo>
                    <a:pt x="22004910" y="1668653"/>
                  </a:lnTo>
                  <a:lnTo>
                    <a:pt x="0" y="166865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92178" y="5775074"/>
            <a:ext cx="739426" cy="1251490"/>
            <a:chOff x="0" y="0"/>
            <a:chExt cx="985901" cy="166865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85901" cy="1668653"/>
            </a:xfrm>
            <a:custGeom>
              <a:avLst/>
              <a:gdLst/>
              <a:ahLst/>
              <a:cxnLst/>
              <a:rect l="l" t="t" r="r" b="b"/>
              <a:pathLst>
                <a:path w="985901" h="1668653">
                  <a:moveTo>
                    <a:pt x="0" y="0"/>
                  </a:moveTo>
                  <a:lnTo>
                    <a:pt x="985901" y="0"/>
                  </a:lnTo>
                  <a:lnTo>
                    <a:pt x="985901" y="1668653"/>
                  </a:lnTo>
                  <a:lnTo>
                    <a:pt x="0" y="1668653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14400" y="5797296"/>
            <a:ext cx="694944" cy="1207008"/>
            <a:chOff x="0" y="0"/>
            <a:chExt cx="926592" cy="160934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26592" cy="1609344"/>
            </a:xfrm>
            <a:custGeom>
              <a:avLst/>
              <a:gdLst/>
              <a:ahLst/>
              <a:cxnLst/>
              <a:rect l="l" t="t" r="r" b="b"/>
              <a:pathLst>
                <a:path w="926592" h="1609344">
                  <a:moveTo>
                    <a:pt x="0" y="0"/>
                  </a:moveTo>
                  <a:lnTo>
                    <a:pt x="926592" y="0"/>
                  </a:lnTo>
                  <a:lnTo>
                    <a:pt x="926592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997" r="-17299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14400" y="5768721"/>
            <a:ext cx="694944" cy="1235583"/>
            <a:chOff x="0" y="0"/>
            <a:chExt cx="926592" cy="164744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26592" cy="1647444"/>
            </a:xfrm>
            <a:custGeom>
              <a:avLst/>
              <a:gdLst/>
              <a:ahLst/>
              <a:cxnLst/>
              <a:rect l="l" t="t" r="r" b="b"/>
              <a:pathLst>
                <a:path w="926592" h="1647444">
                  <a:moveTo>
                    <a:pt x="0" y="0"/>
                  </a:moveTo>
                  <a:lnTo>
                    <a:pt x="926592" y="0"/>
                  </a:lnTo>
                  <a:lnTo>
                    <a:pt x="926592" y="1647444"/>
                  </a:lnTo>
                  <a:lnTo>
                    <a:pt x="0" y="16474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8118" r="-17811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926592" cy="16855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828800" y="5870448"/>
            <a:ext cx="15270480" cy="512064"/>
            <a:chOff x="0" y="0"/>
            <a:chExt cx="20360640" cy="68275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360639" cy="682752"/>
            </a:xfrm>
            <a:custGeom>
              <a:avLst/>
              <a:gdLst/>
              <a:ahLst/>
              <a:cxnLst/>
              <a:rect l="l" t="t" r="r" b="b"/>
              <a:pathLst>
                <a:path w="20360639" h="682752">
                  <a:moveTo>
                    <a:pt x="0" y="0"/>
                  </a:moveTo>
                  <a:lnTo>
                    <a:pt x="20360639" y="0"/>
                  </a:lnTo>
                  <a:lnTo>
                    <a:pt x="203606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0667" b="-5306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828800" y="5841873"/>
            <a:ext cx="15270480" cy="540639"/>
            <a:chOff x="0" y="0"/>
            <a:chExt cx="20360640" cy="72085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0360639" cy="720852"/>
            </a:xfrm>
            <a:custGeom>
              <a:avLst/>
              <a:gdLst/>
              <a:ahLst/>
              <a:cxnLst/>
              <a:rect l="l" t="t" r="r" b="b"/>
              <a:pathLst>
                <a:path w="20360639" h="720852">
                  <a:moveTo>
                    <a:pt x="0" y="0"/>
                  </a:moveTo>
                  <a:lnTo>
                    <a:pt x="20360639" y="0"/>
                  </a:lnTo>
                  <a:lnTo>
                    <a:pt x="20360639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0359" b="-50035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2036064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Pedregosa et al. (2011). Scikit-learn: Machine Learning in Python.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828800" y="6419088"/>
            <a:ext cx="15270480" cy="475488"/>
            <a:chOff x="0" y="0"/>
            <a:chExt cx="20360640" cy="63398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0360639" cy="633984"/>
            </a:xfrm>
            <a:custGeom>
              <a:avLst/>
              <a:gdLst/>
              <a:ahLst/>
              <a:cxnLst/>
              <a:rect l="l" t="t" r="r" b="b"/>
              <a:pathLst>
                <a:path w="20360639" h="633984">
                  <a:moveTo>
                    <a:pt x="0" y="0"/>
                  </a:moveTo>
                  <a:lnTo>
                    <a:pt x="20360639" y="0"/>
                  </a:lnTo>
                  <a:lnTo>
                    <a:pt x="203606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5334" b="-57533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806540" y="6315694"/>
            <a:ext cx="15270480" cy="532638"/>
            <a:chOff x="0" y="-38100"/>
            <a:chExt cx="20360640" cy="71018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0360638" cy="672084"/>
            </a:xfrm>
            <a:custGeom>
              <a:avLst/>
              <a:gdLst/>
              <a:ahLst/>
              <a:cxnLst/>
              <a:rect l="l" t="t" r="r" b="b"/>
              <a:pathLst>
                <a:path w="20360639" h="672084">
                  <a:moveTo>
                    <a:pt x="0" y="0"/>
                  </a:moveTo>
                  <a:lnTo>
                    <a:pt x="20360639" y="0"/>
                  </a:lnTo>
                  <a:lnTo>
                    <a:pt x="20360639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0295" b="-540295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2036064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i="1" dirty="0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Journal of Machine Learning Research, 12, 2825–2830.  |  Logistic Regression, </a:t>
              </a:r>
              <a:r>
                <a:rPr lang="en-US" sz="1700" i="1" dirty="0" err="1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GridSearchCV</a:t>
              </a:r>
              <a:r>
                <a:rPr lang="en-US" sz="1700" i="1" dirty="0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, Pipeline, </a:t>
              </a:r>
              <a:r>
                <a:rPr lang="en-US" sz="1700" i="1" dirty="0" err="1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cross_val_predict</a:t>
              </a:r>
              <a:r>
                <a:rPr lang="en-US" sz="1700" i="1" dirty="0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implementations used.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92178" y="7164962"/>
            <a:ext cx="16503682" cy="1251490"/>
            <a:chOff x="0" y="0"/>
            <a:chExt cx="22004909" cy="166865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2004910" cy="1668653"/>
            </a:xfrm>
            <a:custGeom>
              <a:avLst/>
              <a:gdLst/>
              <a:ahLst/>
              <a:cxnLst/>
              <a:rect l="l" t="t" r="r" b="b"/>
              <a:pathLst>
                <a:path w="22004910" h="1668653">
                  <a:moveTo>
                    <a:pt x="0" y="0"/>
                  </a:moveTo>
                  <a:lnTo>
                    <a:pt x="22004910" y="0"/>
                  </a:lnTo>
                  <a:lnTo>
                    <a:pt x="22004910" y="1668653"/>
                  </a:lnTo>
                  <a:lnTo>
                    <a:pt x="0" y="166865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92178" y="7164962"/>
            <a:ext cx="739426" cy="1251490"/>
            <a:chOff x="0" y="0"/>
            <a:chExt cx="985901" cy="1668653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85901" cy="1668653"/>
            </a:xfrm>
            <a:custGeom>
              <a:avLst/>
              <a:gdLst/>
              <a:ahLst/>
              <a:cxnLst/>
              <a:rect l="l" t="t" r="r" b="b"/>
              <a:pathLst>
                <a:path w="985901" h="1668653">
                  <a:moveTo>
                    <a:pt x="0" y="0"/>
                  </a:moveTo>
                  <a:lnTo>
                    <a:pt x="985901" y="0"/>
                  </a:lnTo>
                  <a:lnTo>
                    <a:pt x="985901" y="1668653"/>
                  </a:lnTo>
                  <a:lnTo>
                    <a:pt x="0" y="1668653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14400" y="7187184"/>
            <a:ext cx="694944" cy="1207008"/>
            <a:chOff x="0" y="0"/>
            <a:chExt cx="926592" cy="1609344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26592" cy="1609344"/>
            </a:xfrm>
            <a:custGeom>
              <a:avLst/>
              <a:gdLst/>
              <a:ahLst/>
              <a:cxnLst/>
              <a:rect l="l" t="t" r="r" b="b"/>
              <a:pathLst>
                <a:path w="926592" h="1609344">
                  <a:moveTo>
                    <a:pt x="0" y="0"/>
                  </a:moveTo>
                  <a:lnTo>
                    <a:pt x="926592" y="0"/>
                  </a:lnTo>
                  <a:lnTo>
                    <a:pt x="926592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997" r="-17299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14400" y="7158609"/>
            <a:ext cx="694944" cy="1235583"/>
            <a:chOff x="0" y="0"/>
            <a:chExt cx="926592" cy="164744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926592" cy="1647444"/>
            </a:xfrm>
            <a:custGeom>
              <a:avLst/>
              <a:gdLst/>
              <a:ahLst/>
              <a:cxnLst/>
              <a:rect l="l" t="t" r="r" b="b"/>
              <a:pathLst>
                <a:path w="926592" h="1647444">
                  <a:moveTo>
                    <a:pt x="0" y="0"/>
                  </a:moveTo>
                  <a:lnTo>
                    <a:pt x="926592" y="0"/>
                  </a:lnTo>
                  <a:lnTo>
                    <a:pt x="926592" y="1647444"/>
                  </a:lnTo>
                  <a:lnTo>
                    <a:pt x="0" y="16474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8118" r="-17811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926592" cy="16855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828800" y="7260336"/>
            <a:ext cx="15270480" cy="512064"/>
            <a:chOff x="0" y="0"/>
            <a:chExt cx="20360640" cy="68275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0360639" cy="682752"/>
            </a:xfrm>
            <a:custGeom>
              <a:avLst/>
              <a:gdLst/>
              <a:ahLst/>
              <a:cxnLst/>
              <a:rect l="l" t="t" r="r" b="b"/>
              <a:pathLst>
                <a:path w="20360639" h="682752">
                  <a:moveTo>
                    <a:pt x="0" y="0"/>
                  </a:moveTo>
                  <a:lnTo>
                    <a:pt x="20360639" y="0"/>
                  </a:lnTo>
                  <a:lnTo>
                    <a:pt x="203606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0667" b="-5306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828800" y="7231761"/>
            <a:ext cx="15270480" cy="540639"/>
            <a:chOff x="0" y="0"/>
            <a:chExt cx="20360640" cy="72085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0360639" cy="720852"/>
            </a:xfrm>
            <a:custGeom>
              <a:avLst/>
              <a:gdLst/>
              <a:ahLst/>
              <a:cxnLst/>
              <a:rect l="l" t="t" r="r" b="b"/>
              <a:pathLst>
                <a:path w="20360639" h="720852">
                  <a:moveTo>
                    <a:pt x="0" y="0"/>
                  </a:moveTo>
                  <a:lnTo>
                    <a:pt x="20360639" y="0"/>
                  </a:lnTo>
                  <a:lnTo>
                    <a:pt x="20360639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0359" b="-50035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2036064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Moody's Analytics (2024). Moody's Global Standard Financial Data Format.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828800" y="7808976"/>
            <a:ext cx="15270480" cy="475488"/>
            <a:chOff x="0" y="0"/>
            <a:chExt cx="20360640" cy="633984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0360639" cy="633984"/>
            </a:xfrm>
            <a:custGeom>
              <a:avLst/>
              <a:gdLst/>
              <a:ahLst/>
              <a:cxnLst/>
              <a:rect l="l" t="t" r="r" b="b"/>
              <a:pathLst>
                <a:path w="20360639" h="633984">
                  <a:moveTo>
                    <a:pt x="0" y="0"/>
                  </a:moveTo>
                  <a:lnTo>
                    <a:pt x="20360639" y="0"/>
                  </a:lnTo>
                  <a:lnTo>
                    <a:pt x="203606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5334" b="-57533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828800" y="7780401"/>
            <a:ext cx="15270480" cy="504063"/>
            <a:chOff x="0" y="0"/>
            <a:chExt cx="20360640" cy="672084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0360639" cy="672084"/>
            </a:xfrm>
            <a:custGeom>
              <a:avLst/>
              <a:gdLst/>
              <a:ahLst/>
              <a:cxnLst/>
              <a:rect l="l" t="t" r="r" b="b"/>
              <a:pathLst>
                <a:path w="20360639" h="672084">
                  <a:moveTo>
                    <a:pt x="0" y="0"/>
                  </a:moveTo>
                  <a:lnTo>
                    <a:pt x="20360639" y="0"/>
                  </a:lnTo>
                  <a:lnTo>
                    <a:pt x="20360639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0295" b="-540295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2036064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i="1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Dataset provider — financial variables based on this standardised format.  |  Source of the 30 financial variables per firm per year used in the challenge.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92178" y="8554850"/>
            <a:ext cx="16503682" cy="1251490"/>
            <a:chOff x="0" y="0"/>
            <a:chExt cx="22004909" cy="1668653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2004910" cy="1668653"/>
            </a:xfrm>
            <a:custGeom>
              <a:avLst/>
              <a:gdLst/>
              <a:ahLst/>
              <a:cxnLst/>
              <a:rect l="l" t="t" r="r" b="b"/>
              <a:pathLst>
                <a:path w="22004910" h="1668653">
                  <a:moveTo>
                    <a:pt x="0" y="0"/>
                  </a:moveTo>
                  <a:lnTo>
                    <a:pt x="22004910" y="0"/>
                  </a:lnTo>
                  <a:lnTo>
                    <a:pt x="22004910" y="1668653"/>
                  </a:lnTo>
                  <a:lnTo>
                    <a:pt x="0" y="166865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92178" y="8554850"/>
            <a:ext cx="739426" cy="1251490"/>
            <a:chOff x="0" y="0"/>
            <a:chExt cx="985901" cy="1668653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985901" cy="1668653"/>
            </a:xfrm>
            <a:custGeom>
              <a:avLst/>
              <a:gdLst/>
              <a:ahLst/>
              <a:cxnLst/>
              <a:rect l="l" t="t" r="r" b="b"/>
              <a:pathLst>
                <a:path w="985901" h="1668653">
                  <a:moveTo>
                    <a:pt x="0" y="0"/>
                  </a:moveTo>
                  <a:lnTo>
                    <a:pt x="985901" y="0"/>
                  </a:lnTo>
                  <a:lnTo>
                    <a:pt x="985901" y="1668653"/>
                  </a:lnTo>
                  <a:lnTo>
                    <a:pt x="0" y="1668653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14400" y="8577072"/>
            <a:ext cx="694944" cy="1207008"/>
            <a:chOff x="0" y="0"/>
            <a:chExt cx="926592" cy="1609344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926592" cy="1609344"/>
            </a:xfrm>
            <a:custGeom>
              <a:avLst/>
              <a:gdLst/>
              <a:ahLst/>
              <a:cxnLst/>
              <a:rect l="l" t="t" r="r" b="b"/>
              <a:pathLst>
                <a:path w="926592" h="1609344">
                  <a:moveTo>
                    <a:pt x="0" y="0"/>
                  </a:moveTo>
                  <a:lnTo>
                    <a:pt x="926592" y="0"/>
                  </a:lnTo>
                  <a:lnTo>
                    <a:pt x="926592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997" r="-172998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14400" y="8548497"/>
            <a:ext cx="694944" cy="1235583"/>
            <a:chOff x="0" y="0"/>
            <a:chExt cx="926592" cy="164744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926592" cy="1647444"/>
            </a:xfrm>
            <a:custGeom>
              <a:avLst/>
              <a:gdLst/>
              <a:ahLst/>
              <a:cxnLst/>
              <a:rect l="l" t="t" r="r" b="b"/>
              <a:pathLst>
                <a:path w="926592" h="1647444">
                  <a:moveTo>
                    <a:pt x="0" y="0"/>
                  </a:moveTo>
                  <a:lnTo>
                    <a:pt x="926592" y="0"/>
                  </a:lnTo>
                  <a:lnTo>
                    <a:pt x="926592" y="1647444"/>
                  </a:lnTo>
                  <a:lnTo>
                    <a:pt x="0" y="16474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8118" r="-178118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926592" cy="16855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828800" y="8650224"/>
            <a:ext cx="15270480" cy="512064"/>
            <a:chOff x="0" y="0"/>
            <a:chExt cx="20360640" cy="682752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0360639" cy="682752"/>
            </a:xfrm>
            <a:custGeom>
              <a:avLst/>
              <a:gdLst/>
              <a:ahLst/>
              <a:cxnLst/>
              <a:rect l="l" t="t" r="r" b="b"/>
              <a:pathLst>
                <a:path w="20360639" h="682752">
                  <a:moveTo>
                    <a:pt x="0" y="0"/>
                  </a:moveTo>
                  <a:lnTo>
                    <a:pt x="20360639" y="0"/>
                  </a:lnTo>
                  <a:lnTo>
                    <a:pt x="203606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0667" b="-530667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828800" y="8621649"/>
            <a:ext cx="15270480" cy="540639"/>
            <a:chOff x="0" y="0"/>
            <a:chExt cx="20360640" cy="72085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0360639" cy="720852"/>
            </a:xfrm>
            <a:custGeom>
              <a:avLst/>
              <a:gdLst/>
              <a:ahLst/>
              <a:cxnLst/>
              <a:rect l="l" t="t" r="r" b="b"/>
              <a:pathLst>
                <a:path w="20360639" h="720852">
                  <a:moveTo>
                    <a:pt x="0" y="0"/>
                  </a:moveTo>
                  <a:lnTo>
                    <a:pt x="20360639" y="0"/>
                  </a:lnTo>
                  <a:lnTo>
                    <a:pt x="20360639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0359" b="-500359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20360640" cy="75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 err="1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Ambrosini</a:t>
              </a:r>
              <a:r>
                <a:rPr lang="en-US" sz="1900" dirty="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F. (2026). Lecture 5: Prediction Models — Altman Z-Score and Scoring Models.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828800" y="9198864"/>
            <a:ext cx="15270480" cy="475488"/>
            <a:chOff x="0" y="0"/>
            <a:chExt cx="20360640" cy="63398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0360639" cy="633984"/>
            </a:xfrm>
            <a:custGeom>
              <a:avLst/>
              <a:gdLst/>
              <a:ahLst/>
              <a:cxnLst/>
              <a:rect l="l" t="t" r="r" b="b"/>
              <a:pathLst>
                <a:path w="20360639" h="633984">
                  <a:moveTo>
                    <a:pt x="0" y="0"/>
                  </a:moveTo>
                  <a:lnTo>
                    <a:pt x="20360639" y="0"/>
                  </a:lnTo>
                  <a:lnTo>
                    <a:pt x="203606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5334" b="-575334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828800" y="9170289"/>
            <a:ext cx="15270480" cy="504063"/>
            <a:chOff x="0" y="0"/>
            <a:chExt cx="20360640" cy="67208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20360639" cy="672084"/>
            </a:xfrm>
            <a:custGeom>
              <a:avLst/>
              <a:gdLst/>
              <a:ahLst/>
              <a:cxnLst/>
              <a:rect l="l" t="t" r="r" b="b"/>
              <a:pathLst>
                <a:path w="20360639" h="672084">
                  <a:moveTo>
                    <a:pt x="0" y="0"/>
                  </a:moveTo>
                  <a:lnTo>
                    <a:pt x="20360639" y="0"/>
                  </a:lnTo>
                  <a:lnTo>
                    <a:pt x="20360639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0295" b="-540295"/>
              </a:stretch>
            </a:blipFill>
          </p:spPr>
          <p:txBody>
            <a:bodyPr/>
            <a:lstStyle/>
            <a:p>
              <a:endParaRPr lang="en-IT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38100"/>
              <a:ext cx="20360640" cy="710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i="1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Financial Reporting &amp; Financial Statement Analysis, University of Padova.  |  Course lecture guiding the scoring model approach, variable families, and cutoff logic.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1896</Words>
  <Application>Microsoft Office PowerPoint</Application>
  <PresentationFormat>Custom</PresentationFormat>
  <Paragraphs>367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BankruptcyPrediction_Final (3).pptx</dc:title>
  <cp:lastModifiedBy>Riccardo De Leonardis</cp:lastModifiedBy>
  <cp:revision>15</cp:revision>
  <dcterms:created xsi:type="dcterms:W3CDTF">2006-08-16T00:00:00Z</dcterms:created>
  <dcterms:modified xsi:type="dcterms:W3CDTF">2026-06-02T12:26:20Z</dcterms:modified>
  <dc:identifier>DAHJ7LY-a5Y</dc:identifier>
</cp:coreProperties>
</file>